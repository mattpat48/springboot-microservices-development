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5.svg" ContentType="image/svg+xml"/>
  <Override PartName="/ppt/media/image2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4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31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3231BA-DCCB-A610-CFDA-D7861B5F8F77}" v="294" dt="2026-07-22T11:13:40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 varScale="1">
        <p:scale>
          <a:sx n="106" d="100"/>
          <a:sy n="106" d="100"/>
        </p:scale>
        <p:origin x="13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Relationship Id="rId79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spring.io/tool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gianlucafilippone/springboot-microservices-development/mobolithic-application/openjob" TargetMode="Externa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svg"/><Relationship Id="rId3" Type="http://schemas.openxmlformats.org/officeDocument/2006/relationships/image" Target="../media/image26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0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Relationship Id="rId4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20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8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85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9.png"/><Relationship Id="rId4" Type="http://schemas.openxmlformats.org/officeDocument/2006/relationships/image" Target="../media/image86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/>
              <a:t>Java Development Kit (25 or later)</a:t>
            </a:r>
            <a:endParaRPr lang="en-US" sz="2400">
              <a:ea typeface="Calibri"/>
              <a:cs typeface="Calibri"/>
            </a:endParaRP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/>
              <a:t>Initializer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5C40E-AF82-2626-577A-502DFEF9AE88}"/>
              </a:ext>
            </a:extLst>
          </p:cNvPr>
          <p:cNvSpPr txBox="1"/>
          <p:nvPr/>
        </p:nvSpPr>
        <p:spPr>
          <a:xfrm>
            <a:off x="3048000" y="342900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q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407259" y="1478552"/>
            <a:ext cx="3036793" cy="83099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  <a:p>
            <a:r>
              <a:rPr lang="en-US" sz="1600">
                <a:ea typeface="Calibri" panose="020F0502020204030204"/>
                <a:cs typeface="Calibri" panose="020F0502020204030204"/>
              </a:rPr>
              <a:t>(use "...temurin-25-…"!)</a:t>
            </a:r>
            <a:endParaRPr lang="en-US" sz="1600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8FD48-9BDD-C9C0-3628-CA7F7735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Regarding remote repository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AA771-A3B8-5D07-7952-77D5C5F7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libri"/>
                <a:cs typeface="Calibri"/>
              </a:rPr>
              <a:t>In the development approach, we can also use local repos to update services properties.</a:t>
            </a:r>
            <a:endParaRPr lang="en-US"/>
          </a:p>
          <a:p>
            <a:r>
              <a:rPr lang="en-US" dirty="0">
                <a:ea typeface="Calibri"/>
                <a:cs typeface="Calibri"/>
              </a:rPr>
              <a:t>It's more </a:t>
            </a:r>
            <a:r>
              <a:rPr lang="en-US">
                <a:ea typeface="Calibri"/>
                <a:cs typeface="Calibri"/>
              </a:rPr>
              <a:t>convenient, because the ".yaml" and ".properties" files in the folder differ from step to step</a:t>
            </a:r>
          </a:p>
          <a:p>
            <a:r>
              <a:rPr lang="en-US">
                <a:ea typeface="Calibri"/>
                <a:cs typeface="Calibri"/>
              </a:rPr>
              <a:t>To effectively use the remote repo, it's possible to setup different branches to have different configuration repos to use</a:t>
            </a: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22310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400" dirty="0"/>
              <a:t>Create a </a:t>
            </a:r>
            <a:r>
              <a:rPr lang="en-US" sz="2400" err="1"/>
              <a:t>Dockerfile</a:t>
            </a:r>
            <a:r>
              <a:rPr lang="en-US" sz="2400" dirty="0"/>
              <a:t> for each maven project (using the right Java version, i.e. 25 </a:t>
            </a:r>
            <a:r>
              <a:rPr lang="en-US" sz="2400"/>
              <a:t>"…temurin-25...")</a:t>
            </a:r>
          </a:p>
          <a:p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</a:t>
            </a:r>
            <a:r>
              <a:rPr lang="en-US" sz="2000" dirty="0" err="1">
                <a:latin typeface="+mj-lt"/>
              </a:rPr>
              <a:t>user_db</a:t>
            </a:r>
            <a:r>
              <a:rPr lang="en-US" sz="2000" dirty="0">
                <a:latin typeface="+mj-lt"/>
              </a:rPr>
              <a:t> </a:t>
            </a:r>
            <a:endParaRPr lang="en-US" sz="2000" dirty="0">
              <a:latin typeface="+mj-lt"/>
              <a:ea typeface="Calibri Light"/>
              <a:cs typeface="Calibri Light"/>
            </a:endParaRP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>
                <a:latin typeface="+mj-lt"/>
              </a:rPr>
              <a:t>docker compose up --scale &lt;SERVICE-NAME&gt;=&lt;NUMBER&gt; -d</a:t>
            </a:r>
            <a:endParaRPr lang="en-US" sz="2000">
              <a:latin typeface="+mj-lt"/>
              <a:ea typeface="Calibri Light"/>
              <a:cs typeface="Calibri Light"/>
            </a:endParaRP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30660"/>
            <a:ext cx="11353800" cy="778117"/>
          </a:xfrm>
        </p:spPr>
        <p:txBody>
          <a:bodyPr>
            <a:normAutofit fontScale="90000"/>
          </a:bodyPr>
          <a:lstStyle/>
          <a:p>
            <a:r>
              <a:rPr dirty="0"/>
              <a:t>Beyond Basic </a:t>
            </a:r>
            <a:r>
              <a:rPr dirty="0" err="1"/>
              <a:t>Dockerization</a:t>
            </a:r>
            <a:r>
              <a:rPr dirty="0"/>
              <a:t> - Full-Stack &amp;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dirty="0"/>
              <a:t>Until </a:t>
            </a:r>
            <a:r>
              <a:rPr lang="it-IT" sz="1800" dirty="0"/>
              <a:t>last slide</a:t>
            </a:r>
            <a:r>
              <a:rPr sz="1800" dirty="0"/>
              <a:t>: The system ran core backend microservices via Docker Compose.</a:t>
            </a:r>
          </a:p>
          <a:p>
            <a:pPr>
              <a:defRPr sz="1800"/>
            </a:pPr>
            <a:r>
              <a:rPr sz="1800" b="1" dirty="0"/>
              <a:t>New Architectural Challenges &amp; Evolutionary Steps:</a:t>
            </a:r>
          </a:p>
          <a:p>
            <a:pPr>
              <a:defRPr sz="1600"/>
            </a:pPr>
            <a:r>
              <a:rPr sz="1800" dirty="0"/>
              <a:t>User Experience &amp; Interactivity: </a:t>
            </a:r>
            <a:r>
              <a:rPr lang="it-IT" sz="1800" dirty="0" err="1"/>
              <a:t>Added</a:t>
            </a:r>
            <a:r>
              <a:rPr lang="it-IT" sz="1800" dirty="0"/>
              <a:t> </a:t>
            </a:r>
            <a:r>
              <a:rPr sz="1800" dirty="0"/>
              <a:t>a reactive Single-Page Application (SPA)</a:t>
            </a:r>
            <a:r>
              <a:rPr lang="it-IT" sz="1800" dirty="0"/>
              <a:t> </a:t>
            </a:r>
            <a:r>
              <a:rPr lang="it-IT" sz="1800" dirty="0" err="1"/>
              <a:t>as</a:t>
            </a:r>
            <a:r>
              <a:rPr lang="it-IT" sz="1800" dirty="0"/>
              <a:t> a </a:t>
            </a:r>
            <a:r>
              <a:rPr lang="it-IT" sz="1800" dirty="0" err="1"/>
              <a:t>frontend</a:t>
            </a:r>
            <a:r>
              <a:rPr sz="1800" dirty="0"/>
              <a:t>.</a:t>
            </a:r>
          </a:p>
          <a:p>
            <a:pPr>
              <a:defRPr sz="1600"/>
            </a:pPr>
            <a:r>
              <a:rPr sz="1800" dirty="0"/>
              <a:t>Domain Business Intelligence: Clear separation between Business/Domain metrics and Infrastructure metrics.</a:t>
            </a:r>
          </a:p>
          <a:p>
            <a:pPr>
              <a:defRPr sz="1600"/>
            </a:pPr>
            <a:r>
              <a:rPr sz="1800" dirty="0"/>
              <a:t>Data Integrity &amp; Persistence: Upgrade MySQL schema from VARCHAR(255) to TEXT (4096 chars) for rich job descriptions.</a:t>
            </a:r>
          </a:p>
          <a:p>
            <a:pPr>
              <a:defRPr sz="1600"/>
            </a:pPr>
            <a:r>
              <a:rPr sz="1800" dirty="0"/>
              <a:t>Automated Load Testing: Introduce Python Locust to simulate realistic multi-user concurrent traffic.</a:t>
            </a:r>
          </a:p>
          <a:p>
            <a:pPr>
              <a:defRPr sz="1600"/>
            </a:pPr>
            <a:r>
              <a:rPr sz="1800" dirty="0"/>
              <a:t>Enterprise Full-Stack Telemetry: Real-time Prometheus TSDB scraping &amp; Grafana dashboards (JVM, </a:t>
            </a:r>
            <a:r>
              <a:rPr sz="1800" dirty="0" err="1"/>
              <a:t>HikariCP</a:t>
            </a:r>
            <a:r>
              <a:rPr sz="1800" dirty="0"/>
              <a:t>, Gateway HTTP).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755" y="163715"/>
            <a:ext cx="11057556" cy="778117"/>
          </a:xfrm>
        </p:spPr>
        <p:txBody>
          <a:bodyPr>
            <a:noAutofit/>
          </a:bodyPr>
          <a:lstStyle/>
          <a:p>
            <a:r>
              <a:rPr sz="3000" dirty="0"/>
              <a:t>Modern SPA Frontend Re-Architecture (React + Vite +</a:t>
            </a:r>
            <a:r>
              <a:rPr lang="it-IT" sz="3000" dirty="0"/>
              <a:t> </a:t>
            </a:r>
            <a:r>
              <a:rPr sz="3000" dirty="0"/>
              <a:t>Tailwind)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State-of-the-Art Frontend Tech Stack:</a:t>
            </a:r>
          </a:p>
          <a:p>
            <a:pPr lvl="1">
              <a:defRPr sz="1500"/>
            </a:pPr>
            <a:r>
              <a:rPr dirty="0"/>
              <a:t>Core Logic: React 18 with strict TypeScript typing across all entities (User, Job, </a:t>
            </a:r>
            <a:r>
              <a:rPr dirty="0" err="1"/>
              <a:t>ApplicationRow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Build Engine: Vite with ultra-fast Hot Module Replacement (HMR) and optimized static production builds.</a:t>
            </a:r>
          </a:p>
          <a:p>
            <a:pPr lvl="1">
              <a:defRPr sz="1500"/>
            </a:pPr>
            <a:r>
              <a:rPr dirty="0"/>
              <a:t>Design System: Tailwind CSS + Radix UI Primitives + </a:t>
            </a:r>
            <a:r>
              <a:rPr dirty="0" err="1"/>
              <a:t>Lucide</a:t>
            </a:r>
            <a:r>
              <a:rPr dirty="0"/>
              <a:t> Icons for premium enterprise-grade aesthetics.</a:t>
            </a:r>
          </a:p>
          <a:p>
            <a:pPr>
              <a:defRPr sz="1800"/>
            </a:pPr>
            <a:r>
              <a:rPr dirty="0"/>
              <a:t>Decoupled &amp; Secure API Gateway Integration:</a:t>
            </a:r>
          </a:p>
          <a:p>
            <a:pPr>
              <a:defRPr sz="1600"/>
            </a:pPr>
            <a:r>
              <a:rPr dirty="0"/>
              <a:t>All client-side API requests are cleanly routed via Spring Cloud Gateway (:9000/</a:t>
            </a:r>
            <a:r>
              <a:rPr dirty="0" err="1"/>
              <a:t>api</a:t>
            </a:r>
            <a:r>
              <a:rPr dirty="0"/>
              <a:t>/*).</a:t>
            </a:r>
          </a:p>
          <a:p>
            <a:pPr>
              <a:defRPr sz="1600"/>
            </a:pPr>
            <a:r>
              <a:rPr dirty="0"/>
              <a:t>Gateway handles downstream load balancing to User (:9044+) and Job (:9055) microservice instances.</a:t>
            </a:r>
          </a:p>
        </p:txBody>
      </p:sp>
      <p:pic>
        <p:nvPicPr>
          <p:cNvPr id="4" name="Picture 3" descr="s61-frontend-rou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73614"/>
            <a:ext cx="10515600" cy="260261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Domain Business Intelligence Dashboard (/</a:t>
            </a:r>
            <a:r>
              <a:rPr sz="3000" dirty="0" err="1"/>
              <a:t>statistiche</a:t>
            </a:r>
            <a:r>
              <a:rPr sz="3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Separation of Concerns: Domain vs. Infrastructure Metrics</a:t>
            </a:r>
          </a:p>
          <a:p>
            <a:pPr>
              <a:defRPr sz="1600"/>
            </a:pPr>
            <a:r>
              <a:rPr sz="1800" dirty="0"/>
              <a:t>Grafana is dedicated exclusively to Infrastructure &amp; System Health (CPU, Memory, Network Latency).</a:t>
            </a:r>
          </a:p>
          <a:p>
            <a:pPr>
              <a:defRPr sz="1600"/>
            </a:pPr>
            <a:r>
              <a:rPr sz="1800" dirty="0"/>
              <a:t>Frontend React (/</a:t>
            </a:r>
            <a:r>
              <a:rPr sz="1800" dirty="0" err="1"/>
              <a:t>statistiche</a:t>
            </a:r>
            <a:r>
              <a:rPr sz="1800" dirty="0"/>
              <a:t>) hosts the dedicated Domain Business Intelligence dashboard for Admins and Recruiters.</a:t>
            </a:r>
          </a:p>
          <a:p>
            <a:pPr>
              <a:defRPr sz="1800"/>
            </a:pPr>
            <a:r>
              <a:rPr sz="1800" b="1" dirty="0"/>
              <a:t>Key Performance Indicators (KPIs) &amp; Live Domain Metrics:</a:t>
            </a:r>
          </a:p>
          <a:p>
            <a:pPr>
              <a:defRPr sz="1800"/>
            </a:pPr>
            <a:r>
              <a:rPr sz="1800" dirty="0"/>
              <a:t>Total Registered Users &amp; Active User ratios.</a:t>
            </a:r>
          </a:p>
          <a:p>
            <a:pPr>
              <a:defRPr sz="1600"/>
            </a:pPr>
            <a:r>
              <a:rPr sz="1800" dirty="0"/>
              <a:t>Published Job Offers &amp; Total Candidatures submitted in the last 24 hours.</a:t>
            </a:r>
          </a:p>
          <a:p>
            <a:pPr>
              <a:defRPr sz="1600"/>
            </a:pPr>
            <a:r>
              <a:rPr sz="1800" dirty="0"/>
              <a:t>Candidate-to-Job conversion rates and Recruiter Leaderboards (Top recruiters ranked by active offers).</a:t>
            </a:r>
          </a:p>
        </p:txBody>
      </p:sp>
      <p:pic>
        <p:nvPicPr>
          <p:cNvPr id="4" name="Picture 3" descr="s62-domain-b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158805"/>
            <a:ext cx="10515600" cy="2379154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000" dirty="0"/>
              <a:t>Dynamic UX - Drawers, Multi-Criteria Sorting &amp; Live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Non-Destructive Inspection via Drawers (Sheet/Drawer UX):</a:t>
            </a:r>
          </a:p>
          <a:p>
            <a:pPr>
              <a:defRPr sz="1600"/>
            </a:pPr>
            <a:r>
              <a:rPr sz="1800" dirty="0"/>
              <a:t>Sliding side panels (</a:t>
            </a:r>
            <a:r>
              <a:rPr sz="1800" dirty="0" err="1"/>
              <a:t>JobDetailDrawer</a:t>
            </a:r>
            <a:r>
              <a:rPr sz="1800" dirty="0"/>
              <a:t>, </a:t>
            </a:r>
            <a:r>
              <a:rPr sz="1800" dirty="0" err="1"/>
              <a:t>UserDetailDrawer</a:t>
            </a:r>
            <a:r>
              <a:rPr sz="1800" dirty="0"/>
              <a:t>) allow deep inspection of candidates without navigating away.</a:t>
            </a:r>
          </a:p>
          <a:p>
            <a:pPr>
              <a:defRPr sz="1800"/>
            </a:pPr>
            <a:r>
              <a:rPr sz="1800" b="1" dirty="0"/>
              <a:t>Upgrading All Frontend Lists &amp; Tables (</a:t>
            </a:r>
            <a:r>
              <a:rPr sz="1800" b="1" dirty="0" err="1"/>
              <a:t>DataTable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Universal Multi-Criteria Sorting: Client-side </a:t>
            </a:r>
            <a:r>
              <a:rPr sz="1800" dirty="0" err="1"/>
              <a:t>useMemo</a:t>
            </a:r>
            <a:r>
              <a:rPr sz="1800" dirty="0"/>
              <a:t> sorting implemented across all tables.</a:t>
            </a:r>
          </a:p>
          <a:p>
            <a:pPr>
              <a:defRPr sz="1600"/>
            </a:pPr>
            <a:r>
              <a:rPr sz="1800" dirty="0"/>
              <a:t>Sort by: Chronological order (Newest/Oldest), Candidate Name (A-Z/Z-A), Job ID, and User ID (</a:t>
            </a:r>
            <a:r>
              <a:rPr sz="1800" dirty="0" err="1"/>
              <a:t>Asc</a:t>
            </a:r>
            <a:r>
              <a:rPr sz="1800" dirty="0"/>
              <a:t>/Desc).</a:t>
            </a:r>
          </a:p>
          <a:p>
            <a:pPr>
              <a:defRPr sz="1600"/>
            </a:pPr>
            <a:r>
              <a:rPr sz="1800" dirty="0"/>
              <a:t>Instant Textual Search Bars: Filter live lists by candidate name, username, email, ID, or job title.</a:t>
            </a:r>
          </a:p>
        </p:txBody>
      </p:sp>
      <p:pic>
        <p:nvPicPr>
          <p:cNvPr id="4" name="Picture 3" descr="s63-dynamic-u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015359"/>
            <a:ext cx="10515600" cy="236601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Frontend Containerization &amp; Nginx Reverse Proxy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Multi-Stage Docker Build Optimization (frontend/</a:t>
            </a:r>
            <a:r>
              <a:rPr dirty="0" err="1"/>
              <a:t>Dockerfile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Stage 1 (Build): node:22-alpine installs dependencies (</a:t>
            </a:r>
            <a:r>
              <a:rPr dirty="0" err="1"/>
              <a:t>npm</a:t>
            </a:r>
            <a:r>
              <a:rPr dirty="0"/>
              <a:t> ci) and compiles the production static bundle.</a:t>
            </a:r>
          </a:p>
          <a:p>
            <a:pPr lvl="1">
              <a:defRPr sz="1500"/>
            </a:pPr>
            <a:r>
              <a:rPr dirty="0"/>
              <a:t>Stage 2 (Runtime): Ultra-lightweight nginx:1.27-alpine (~25MB) serves the static assets from /</a:t>
            </a:r>
            <a:r>
              <a:rPr dirty="0" err="1"/>
              <a:t>usr</a:t>
            </a:r>
            <a:r>
              <a:rPr dirty="0"/>
              <a:t>/share/nginx/html.</a:t>
            </a:r>
          </a:p>
          <a:p>
            <a:pPr>
              <a:defRPr sz="1800"/>
            </a:pPr>
            <a:r>
              <a:rPr dirty="0"/>
              <a:t>Enterprise Nginx Configuration (</a:t>
            </a:r>
            <a:r>
              <a:rPr dirty="0" err="1"/>
              <a:t>nginx.conf</a:t>
            </a:r>
            <a:r>
              <a:rPr dirty="0"/>
              <a:t>):</a:t>
            </a:r>
          </a:p>
          <a:p>
            <a:pPr lvl="1">
              <a:defRPr sz="1500"/>
            </a:pPr>
            <a:r>
              <a:rPr dirty="0"/>
              <a:t>SPA History API Fallback: Configured </a:t>
            </a:r>
            <a:r>
              <a:rPr dirty="0" err="1"/>
              <a:t>try_files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 $</a:t>
            </a:r>
            <a:r>
              <a:rPr dirty="0" err="1"/>
              <a:t>uri</a:t>
            </a:r>
            <a:r>
              <a:rPr dirty="0"/>
              <a:t>/ /index.html; to prevent 404 errors on deep links.</a:t>
            </a:r>
          </a:p>
          <a:p>
            <a:pPr lvl="1">
              <a:defRPr sz="1500"/>
            </a:pPr>
            <a:r>
              <a:rPr dirty="0"/>
              <a:t>Internal Docker DNS Resolution: Seamless proxying of /</a:t>
            </a:r>
            <a:r>
              <a:rPr dirty="0" err="1"/>
              <a:t>api</a:t>
            </a:r>
            <a:r>
              <a:rPr dirty="0"/>
              <a:t>/* calls to http://gateway:9000/.</a:t>
            </a:r>
          </a:p>
        </p:txBody>
      </p:sp>
      <p:pic>
        <p:nvPicPr>
          <p:cNvPr id="4" name="Picture 3" descr="s64-nginx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59823"/>
            <a:ext cx="10515600" cy="337813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Evolution - JPA Rich Text Persistence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600"/>
            </a:pPr>
            <a:r>
              <a:rPr sz="1800" b="1" dirty="0"/>
              <a:t>Overcoming Data Truncation Limitations (</a:t>
            </a:r>
            <a:r>
              <a:rPr sz="1800" b="1" dirty="0" err="1"/>
              <a:t>DataIntegrityViolationException</a:t>
            </a:r>
            <a:r>
              <a:rPr sz="1800" b="1" dirty="0"/>
              <a:t>):</a:t>
            </a:r>
          </a:p>
          <a:p>
            <a:pPr>
              <a:defRPr sz="1600"/>
            </a:pPr>
            <a:r>
              <a:rPr sz="1800" dirty="0"/>
              <a:t>Originally, </a:t>
            </a:r>
            <a:r>
              <a:rPr sz="1800" dirty="0" err="1"/>
              <a:t>Job.description</a:t>
            </a:r>
            <a:r>
              <a:rPr sz="1800" dirty="0"/>
              <a:t> was mapped to default VARCHAR(255), causing crashes on realistic, multi-paragraph postings.</a:t>
            </a:r>
          </a:p>
          <a:p>
            <a:pPr>
              <a:defRPr sz="1800"/>
            </a:pPr>
            <a:r>
              <a:rPr sz="1800" b="1" dirty="0"/>
              <a:t>JPA &amp; Spring Boot Architectural Upgrade:</a:t>
            </a:r>
          </a:p>
          <a:p>
            <a:pPr>
              <a:defRPr sz="1600"/>
            </a:pPr>
            <a:r>
              <a:rPr sz="1800" dirty="0"/>
              <a:t>Updated Job.java entity mapping: 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@Column(columnDefinition = "TEXT", length = 4096) private String description;</a:t>
            </a:r>
          </a:p>
          <a:p>
            <a:pPr>
              <a:defRPr sz="1600"/>
            </a:pPr>
            <a:r>
              <a:rPr sz="1800" dirty="0"/>
              <a:t>Automated Schema Evolution: Succeeded seamlessly via </a:t>
            </a:r>
            <a:r>
              <a:rPr sz="1800"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spring.jpa.hibernate.ddl</a:t>
            </a:r>
            <a:r>
              <a:rPr sz="1800"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-auto=update </a:t>
            </a:r>
            <a:r>
              <a:rPr sz="1800" dirty="0"/>
              <a:t>with MySQL 8 containerized storage.</a:t>
            </a:r>
          </a:p>
        </p:txBody>
      </p:sp>
      <p:pic>
        <p:nvPicPr>
          <p:cNvPr id="4" name="Picture 3" descr="s65-jpa-t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276534"/>
            <a:ext cx="105156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/>
              <a:t>Automated Load Testing &amp; Concurrency Simulation (Locust)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Why Introduce Automated Load Testing?</a:t>
            </a:r>
          </a:p>
          <a:p>
            <a:pPr>
              <a:defRPr sz="1600"/>
            </a:pPr>
            <a:r>
              <a:rPr dirty="0"/>
              <a:t>To validate Gateway throughput, Eureka discovery resilience, and database connection pools under concurrent load.</a:t>
            </a:r>
          </a:p>
          <a:p>
            <a:pPr>
              <a:defRPr sz="1800"/>
            </a:pPr>
            <a:r>
              <a:rPr dirty="0"/>
              <a:t>Locust Simulation Suite (locust/locustfile.py):</a:t>
            </a:r>
          </a:p>
          <a:p>
            <a:pPr>
              <a:defRPr sz="1600"/>
            </a:pPr>
            <a:r>
              <a:rPr dirty="0"/>
              <a:t> Declarative Python swarming engine simulating realistic probabilistic user journeys:</a:t>
            </a:r>
          </a:p>
          <a:p>
            <a:pPr lvl="1">
              <a:defRPr sz="1500"/>
            </a:pPr>
            <a:r>
              <a:rPr dirty="0" err="1"/>
              <a:t>UserBehavior</a:t>
            </a:r>
            <a:r>
              <a:rPr dirty="0"/>
              <a:t> (Candidate Flow): Account registration, querying job postings, and submitting candidatures.</a:t>
            </a:r>
          </a:p>
          <a:p>
            <a:pPr lvl="1">
              <a:defRPr sz="1500"/>
            </a:pPr>
            <a:r>
              <a:rPr dirty="0" err="1"/>
              <a:t>RecruiterBehavior</a:t>
            </a:r>
            <a:r>
              <a:rPr dirty="0"/>
              <a:t> (Admin Flow): Publishing new job offers with extended descriptions and reviewing candidate pools.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95AD152-CC67-E7F5-49F9-036C368C5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31" y="3287211"/>
            <a:ext cx="8062538" cy="328623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Locust Execution Modes - Headless CLI vs Web 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1800" b="1" dirty="0"/>
              <a:t>Method 1: Headless Continuous Testing (CLI Mode)</a:t>
            </a:r>
          </a:p>
          <a:p>
            <a:pPr>
              <a:defRPr sz="1800"/>
            </a:pPr>
            <a:r>
              <a:rPr sz="1800" dirty="0"/>
              <a:t>Perfect for CI/CD automated integration validation.</a:t>
            </a:r>
          </a:p>
          <a:p>
            <a:pPr>
              <a:defRPr sz="1600"/>
            </a:pPr>
            <a:r>
              <a:rPr sz="1800" dirty="0"/>
              <a:t>Command: python -m locust --headless -u 10 -r 2 -t 60s -f locust/locustfile.py --host http://localhost:9000</a:t>
            </a:r>
          </a:p>
          <a:p>
            <a:pPr>
              <a:defRPr sz="1800"/>
            </a:pPr>
            <a:r>
              <a:rPr sz="1800" b="1" dirty="0"/>
              <a:t>Method 2: Interactive Web UI Swarming (Browser Mode)</a:t>
            </a:r>
          </a:p>
          <a:p>
            <a:pPr>
              <a:defRPr sz="1600"/>
            </a:pPr>
            <a:r>
              <a:rPr sz="1800" dirty="0"/>
              <a:t>Launched via python -m locust -f locust/locustfile.py --host http://localhost:9000</a:t>
            </a:r>
          </a:p>
          <a:p>
            <a:pPr>
              <a:defRPr sz="1800"/>
            </a:pPr>
            <a:r>
              <a:rPr sz="1800" dirty="0"/>
              <a:t>Exposes real-time control console on http://localhost:8089.</a:t>
            </a:r>
          </a:p>
          <a:p>
            <a:pPr>
              <a:defRPr sz="1600"/>
            </a:pPr>
            <a:r>
              <a:rPr sz="1800" dirty="0"/>
              <a:t>Allows real-time tuning of Peak Users and Spawn Rates while observing live RPS and p50/p95/p99 latency curves.</a:t>
            </a:r>
          </a:p>
        </p:txBody>
      </p:sp>
      <p:pic>
        <p:nvPicPr>
          <p:cNvPr id="4" name="Picture 3" descr="s67-locust-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381690"/>
            <a:ext cx="105156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360° Observability Stack (Prometheus + Grafana)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From Passive Checks to Active Enterprise Telemetry Pipeline:</a:t>
            </a:r>
          </a:p>
          <a:p>
            <a:pPr>
              <a:defRPr sz="1600"/>
            </a:pPr>
            <a:r>
              <a:rPr dirty="0"/>
              <a:t>All 5 Spring Boot containers (config, discovery, gateway, user, job) instrumented with Spring Boot Actuator.</a:t>
            </a:r>
          </a:p>
          <a:p>
            <a:pPr>
              <a:defRPr sz="1600"/>
            </a:pPr>
            <a:r>
              <a:rPr dirty="0"/>
              <a:t>Added Micrometer Prometheus Registry dependency to expose standardized time-series metrics on /actuator/</a:t>
            </a:r>
            <a:r>
              <a:rPr dirty="0" err="1"/>
              <a:t>prometheus</a:t>
            </a:r>
            <a:r>
              <a:rPr dirty="0"/>
              <a:t>.</a:t>
            </a:r>
          </a:p>
          <a:p>
            <a:pPr>
              <a:defRPr sz="1800"/>
            </a:pPr>
            <a:r>
              <a:rPr dirty="0"/>
              <a:t>Pull-Based Time-Series Architecture:</a:t>
            </a:r>
          </a:p>
          <a:p>
            <a:pPr>
              <a:defRPr sz="1600"/>
            </a:pPr>
            <a:r>
              <a:rPr dirty="0"/>
              <a:t>Prometheus (:9090): Containerized scraper querying each microservice endpoint every 5 seconds.</a:t>
            </a:r>
          </a:p>
          <a:p>
            <a:pPr>
              <a:defRPr sz="1600"/>
            </a:pPr>
            <a:r>
              <a:rPr dirty="0"/>
              <a:t>Grafana (:3001): Enterprise visualization console with Zero-Config Automated Provisioning for </a:t>
            </a:r>
            <a:r>
              <a:rPr dirty="0" err="1"/>
              <a:t>datasources</a:t>
            </a:r>
            <a:r>
              <a:rPr dirty="0"/>
              <a:t> and dashboards.</a:t>
            </a:r>
          </a:p>
        </p:txBody>
      </p:sp>
      <p:pic>
        <p:nvPicPr>
          <p:cNvPr id="4" name="Picture 3" descr="s68-observabil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919918"/>
            <a:ext cx="10515600" cy="2602611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6-Layer Enterprise Diagnostic Dashboard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openjob_infrastructure.json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1. API Gateway &amp; Ingress Traffic:</a:t>
            </a:r>
          </a:p>
          <a:p>
            <a:pPr lvl="1">
              <a:defRPr sz="1500"/>
            </a:pPr>
            <a:r>
              <a:rPr dirty="0"/>
              <a:t>Real-time Throughput (req/sec) and Latency Spectrum (Max vs Avg </a:t>
            </a:r>
            <a:r>
              <a:rPr dirty="0" err="1"/>
              <a:t>ms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HTTP Status Code Distribution: Instant breakdown of 2xx successes, 4xx client errors, and 5xx server errors.</a:t>
            </a:r>
          </a:p>
          <a:p>
            <a:pPr>
              <a:defRPr sz="1800"/>
            </a:pPr>
            <a:r>
              <a:rPr dirty="0"/>
              <a:t>2. Top 5 Slowest API Endpoints:</a:t>
            </a:r>
          </a:p>
          <a:p>
            <a:pPr lvl="1">
              <a:defRPr sz="1500"/>
            </a:pPr>
            <a:r>
              <a:rPr dirty="0"/>
              <a:t>Dynamic table ranking route bottlenecks via </a:t>
            </a:r>
            <a:r>
              <a:rPr dirty="0" err="1"/>
              <a:t>PromQL</a:t>
            </a:r>
            <a:r>
              <a:rPr dirty="0"/>
              <a:t> </a:t>
            </a:r>
            <a:r>
              <a:rPr dirty="0" err="1"/>
              <a:t>topk</a:t>
            </a:r>
            <a:r>
              <a:rPr dirty="0"/>
              <a:t>() aggregation.</a:t>
            </a:r>
          </a:p>
          <a:p>
            <a:pPr>
              <a:defRPr sz="1800"/>
            </a:pPr>
            <a:r>
              <a:rPr dirty="0"/>
              <a:t>3. Inter-Service Feign &amp; HTTP Client Latency:</a:t>
            </a:r>
          </a:p>
          <a:p>
            <a:pPr lvl="1">
              <a:defRPr sz="1500"/>
            </a:pPr>
            <a:r>
              <a:rPr dirty="0"/>
              <a:t>Tracking outbound REST calls from job-microservice to user-microservice to detect cascading network delays.</a:t>
            </a:r>
          </a:p>
        </p:txBody>
      </p:sp>
      <p:pic>
        <p:nvPicPr>
          <p:cNvPr id="4" name="Picture 3" descr="s69-grafana-layers-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53674"/>
            <a:ext cx="105156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dirty="0" err="1"/>
              <a:t>OpenJob</a:t>
            </a:r>
            <a:r>
              <a:rPr sz="3000" dirty="0"/>
              <a:t> Infrastructure Monitoring Console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Advanced Diagnostics - Layers 4, 5, and 6:</a:t>
            </a:r>
          </a:p>
          <a:p>
            <a:pPr>
              <a:defRPr sz="1800"/>
            </a:pPr>
            <a:r>
              <a:rPr dirty="0"/>
              <a:t>4. </a:t>
            </a:r>
            <a:r>
              <a:rPr dirty="0" err="1"/>
              <a:t>HikariCP</a:t>
            </a:r>
            <a:r>
              <a:rPr dirty="0"/>
              <a:t> Database Connection Pool Saturation:</a:t>
            </a:r>
          </a:p>
          <a:p>
            <a:pPr lvl="1">
              <a:defRPr sz="1500"/>
            </a:pPr>
            <a:r>
              <a:rPr dirty="0"/>
              <a:t>Tracks connection acquisition wait times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hikaricp_connections_acquire_seconds_max</a:t>
            </a:r>
            <a:r>
              <a:rPr dirty="0"/>
              <a:t>) and active/idle pool usage.</a:t>
            </a:r>
          </a:p>
          <a:p>
            <a:pPr>
              <a:defRPr sz="1800"/>
            </a:pPr>
            <a:r>
              <a:rPr dirty="0"/>
              <a:t>5. JVM Compute &amp; Live Thread States:</a:t>
            </a:r>
          </a:p>
          <a:p>
            <a:pPr lvl="1">
              <a:defRPr sz="1500"/>
            </a:pPr>
            <a:r>
              <a:rPr dirty="0"/>
              <a:t>Real-time Heap memory saturation, Garbage Collection Stop-the-World pauses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jvm_gc_pause_seconds_max</a:t>
            </a:r>
            <a:r>
              <a:rPr dirty="0"/>
              <a:t>).</a:t>
            </a:r>
          </a:p>
          <a:p>
            <a:pPr lvl="1">
              <a:defRPr sz="1500"/>
            </a:pPr>
            <a:r>
              <a:rPr dirty="0"/>
              <a:t>Thread state matrix: Tracking RUNNABLE, WAITING, and BLOCKED threads to prevent deadlocks.</a:t>
            </a:r>
          </a:p>
          <a:p>
            <a:pPr>
              <a:defRPr sz="1800"/>
            </a:pPr>
            <a:r>
              <a:rPr dirty="0"/>
              <a:t>6. Real-Time Application Log Event Counter:</a:t>
            </a:r>
          </a:p>
          <a:p>
            <a:pPr lvl="1">
              <a:defRPr sz="1500"/>
            </a:pPr>
            <a:r>
              <a:rPr dirty="0"/>
              <a:t>Intercepts Slf4j/</a:t>
            </a:r>
            <a:r>
              <a:rPr dirty="0" err="1"/>
              <a:t>Logback</a:t>
            </a:r>
            <a:r>
              <a:rPr dirty="0"/>
              <a:t> error bursts (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logback_events_total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{level="</a:t>
            </a:r>
            <a:r>
              <a:rPr dirty="0" err="1">
                <a:latin typeface="Cascadia Code Light" panose="020B0609020000020004" pitchFamily="49" charset="0"/>
                <a:cs typeface="Cascadia Code Light" panose="020B0609020000020004" pitchFamily="49" charset="0"/>
              </a:rPr>
              <a:t>error"|"warn</a:t>
            </a:r>
            <a:r>
              <a:rPr dirty="0">
                <a:latin typeface="Cascadia Code Light" panose="020B0609020000020004" pitchFamily="49" charset="0"/>
                <a:cs typeface="Cascadia Code Light" panose="020B0609020000020004" pitchFamily="49" charset="0"/>
              </a:rPr>
              <a:t>"}</a:t>
            </a:r>
            <a:r>
              <a:rPr dirty="0"/>
              <a:t>) to alert operators instantly.</a:t>
            </a:r>
          </a:p>
        </p:txBody>
      </p:sp>
      <p:pic>
        <p:nvPicPr>
          <p:cNvPr id="4" name="Picture 3" descr="s70-grafana-layers-4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53674"/>
            <a:ext cx="10515600" cy="197167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Complete Full-Stack Docker Compose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Unified Multi-Container Orchestration (docker-</a:t>
            </a:r>
            <a:r>
              <a:rPr dirty="0" err="1"/>
              <a:t>compose.yml</a:t>
            </a:r>
            <a:r>
              <a:rPr dirty="0"/>
              <a:t>):</a:t>
            </a:r>
          </a:p>
          <a:p>
            <a:pPr>
              <a:defRPr sz="1800"/>
            </a:pPr>
            <a:r>
              <a:rPr dirty="0"/>
              <a:t>10 interconnected containers running over isolated </a:t>
            </a:r>
            <a:r>
              <a:rPr dirty="0" err="1"/>
              <a:t>openjob</a:t>
            </a:r>
            <a:r>
              <a:rPr dirty="0"/>
              <a:t>-network:</a:t>
            </a:r>
          </a:p>
          <a:p>
            <a:pPr lvl="1">
              <a:defRPr sz="1500"/>
            </a:pPr>
            <a:r>
              <a:rPr dirty="0"/>
              <a:t>  - config-server (:8888), discovery-server (:8761), gateway (:9000)</a:t>
            </a:r>
          </a:p>
          <a:p>
            <a:pPr lvl="1">
              <a:defRPr sz="1500"/>
            </a:pPr>
            <a:r>
              <a:rPr dirty="0"/>
              <a:t>  - user-microservice (:9044-9049), job-microservice (:9055)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openjob-mysql</a:t>
            </a:r>
            <a:r>
              <a:rPr dirty="0"/>
              <a:t> (:3306), </a:t>
            </a:r>
            <a:r>
              <a:rPr dirty="0" err="1"/>
              <a:t>openjob-phpmyadmin</a:t>
            </a:r>
            <a:r>
              <a:rPr dirty="0"/>
              <a:t> (:8081)</a:t>
            </a:r>
          </a:p>
          <a:p>
            <a:pPr lvl="1">
              <a:defRPr sz="1500"/>
            </a:pPr>
            <a:r>
              <a:rPr dirty="0"/>
              <a:t>  - frontend (:3000 Nginx SPA)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prometheus</a:t>
            </a:r>
            <a:r>
              <a:rPr dirty="0"/>
              <a:t> (:9090 TSDB scraper)</a:t>
            </a:r>
          </a:p>
          <a:p>
            <a:pPr lvl="1">
              <a:defRPr sz="1500"/>
            </a:pPr>
            <a:r>
              <a:rPr dirty="0"/>
              <a:t>  - </a:t>
            </a:r>
            <a:r>
              <a:rPr dirty="0" err="1"/>
              <a:t>grafana</a:t>
            </a:r>
            <a:r>
              <a:rPr dirty="0"/>
              <a:t> (:3001 Monitoring Dashboard)</a:t>
            </a:r>
          </a:p>
        </p:txBody>
      </p:sp>
      <p:pic>
        <p:nvPicPr>
          <p:cNvPr id="4" name="Picture 3" descr="s71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659314"/>
            <a:ext cx="10515600" cy="287864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Summary &amp; Architectural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Key Achievements of the Complete </a:t>
            </a:r>
            <a:r>
              <a:rPr dirty="0" err="1"/>
              <a:t>OpenJob</a:t>
            </a:r>
            <a:r>
              <a:rPr dirty="0"/>
              <a:t> Platform:</a:t>
            </a:r>
          </a:p>
          <a:p>
            <a:pPr>
              <a:defRPr sz="1600"/>
            </a:pPr>
            <a:r>
              <a:rPr dirty="0"/>
              <a:t>Decoupled Architecture: Transitioned from monolithic origins to a fully </a:t>
            </a:r>
            <a:r>
              <a:rPr dirty="0" err="1"/>
              <a:t>dockerized</a:t>
            </a:r>
            <a:r>
              <a:rPr dirty="0"/>
              <a:t>, resilient microservice ecosystem.</a:t>
            </a:r>
          </a:p>
          <a:p>
            <a:pPr>
              <a:defRPr sz="1600"/>
            </a:pPr>
            <a:r>
              <a:rPr dirty="0"/>
              <a:t>Separation of Concerns: Domain BI (/</a:t>
            </a:r>
            <a:r>
              <a:rPr dirty="0" err="1"/>
              <a:t>statistiche</a:t>
            </a:r>
            <a:r>
              <a:rPr dirty="0"/>
              <a:t> in React) vs. Infrastructure Health (Grafana/Prometheus).</a:t>
            </a:r>
          </a:p>
          <a:p>
            <a:pPr>
              <a:defRPr sz="1600"/>
            </a:pPr>
            <a:r>
              <a:rPr dirty="0"/>
              <a:t>High Availability &amp; Load Resilience: Verified via Python Locust concurrency swarming.</a:t>
            </a:r>
          </a:p>
          <a:p>
            <a:pPr>
              <a:defRPr sz="1600"/>
            </a:pPr>
            <a:r>
              <a:rPr dirty="0"/>
              <a:t>Production-Ready Telemetry: Instant visibility into JVM Heap, </a:t>
            </a:r>
            <a:r>
              <a:rPr dirty="0" err="1"/>
              <a:t>HikariCP</a:t>
            </a:r>
            <a:r>
              <a:rPr dirty="0"/>
              <a:t> pools, Feign latencies, and </a:t>
            </a:r>
            <a:r>
              <a:rPr dirty="0" err="1"/>
              <a:t>Logback</a:t>
            </a:r>
            <a:r>
              <a:rPr dirty="0"/>
              <a:t> error rates.</a:t>
            </a:r>
          </a:p>
        </p:txBody>
      </p:sp>
      <p:pic>
        <p:nvPicPr>
          <p:cNvPr id="4" name="Picture 3" descr="s72-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29882"/>
            <a:ext cx="10515600" cy="24054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6284</TotalTime>
  <Words>4622</Words>
  <Application>Microsoft Office PowerPoint</Application>
  <PresentationFormat>Widescreen</PresentationFormat>
  <Paragraphs>712</Paragraphs>
  <Slides>72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72</vt:i4>
      </vt:variant>
    </vt:vector>
  </HeadingPairs>
  <TitlesOfParts>
    <vt:vector size="79" baseType="lpstr">
      <vt:lpstr>Arial</vt:lpstr>
      <vt:lpstr>Calibri</vt:lpstr>
      <vt:lpstr>Calibri Light</vt:lpstr>
      <vt:lpstr>Cascadia Code Light</vt:lpstr>
      <vt:lpstr>Courier New</vt:lpstr>
      <vt:lpstr>Font di sistema regolare</vt:lpstr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Regarding remote repository</vt:lpstr>
      <vt:lpstr>Create Images</vt:lpstr>
      <vt:lpstr>Run containers</vt:lpstr>
      <vt:lpstr>Docker compose</vt:lpstr>
      <vt:lpstr>Running docker compose</vt:lpstr>
      <vt:lpstr>Beyond Basic Dockerization - Full-Stack &amp; Observability</vt:lpstr>
      <vt:lpstr>Modern SPA Frontend Re-Architecture (React + Vite + Tailwind)</vt:lpstr>
      <vt:lpstr>Domain Business Intelligence Dashboard (/statistiche)</vt:lpstr>
      <vt:lpstr>Dynamic UX - Drawers, Multi-Criteria Sorting &amp; Live Search</vt:lpstr>
      <vt:lpstr>Frontend Containerization &amp; Nginx Reverse Proxy</vt:lpstr>
      <vt:lpstr>Database Evolution - JPA Rich Text Persistence</vt:lpstr>
      <vt:lpstr>Automated Load Testing &amp; Concurrency Simulation (Locust)</vt:lpstr>
      <vt:lpstr>Locust Execution Modes - Headless CLI vs Web UI</vt:lpstr>
      <vt:lpstr>360° Observability Stack (Prometheus + Grafana)</vt:lpstr>
      <vt:lpstr>OpenJob Infrastructure Monitoring Console (Part 1)</vt:lpstr>
      <vt:lpstr>OpenJob Infrastructure Monitoring Console (Part 2)</vt:lpstr>
      <vt:lpstr>Complete Full-Stack Docker Compose Topology</vt:lpstr>
      <vt:lpstr>Summary &amp; Architectural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Giovanni Altieri</cp:lastModifiedBy>
  <cp:revision>365</cp:revision>
  <dcterms:created xsi:type="dcterms:W3CDTF">2023-05-10T09:44:22Z</dcterms:created>
  <dcterms:modified xsi:type="dcterms:W3CDTF">2026-07-22T17:52:16Z</dcterms:modified>
</cp:coreProperties>
</file>