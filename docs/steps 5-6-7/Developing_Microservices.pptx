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4"/>
  </p:notesMasterIdLst>
  <p:sldIdLst>
    <p:sldId id="256" r:id="rId2"/>
    <p:sldId id="259" r:id="rId3"/>
    <p:sldId id="258" r:id="rId4"/>
    <p:sldId id="261" r:id="rId5"/>
    <p:sldId id="262" r:id="rId6"/>
    <p:sldId id="265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5" r:id="rId45"/>
    <p:sldId id="302" r:id="rId46"/>
    <p:sldId id="303" r:id="rId47"/>
    <p:sldId id="304" r:id="rId48"/>
    <p:sldId id="306" r:id="rId49"/>
    <p:sldId id="307" r:id="rId50"/>
    <p:sldId id="309" r:id="rId51"/>
    <p:sldId id="310" r:id="rId52"/>
    <p:sldId id="311" r:id="rId53"/>
    <p:sldId id="312" r:id="rId54"/>
    <p:sldId id="313" r:id="rId55"/>
    <p:sldId id="331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3231BA-DCCB-A610-CFDA-D7861B5F8F77}" v="294" dt="2026-07-22T11:13:40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31"/>
    <p:restoredTop sz="94658"/>
  </p:normalViewPr>
  <p:slideViewPr>
    <p:cSldViewPr snapToGrid="0" snapToObjects="1">
      <p:cViewPr varScale="1">
        <p:scale>
          <a:sx n="78" d="100"/>
          <a:sy n="78" d="100"/>
        </p:scale>
        <p:origin x="13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CCF8B-F5CF-B64E-86EA-2C5B5781793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3B350-B942-6743-91F9-9D6071D0A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33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dependencyManagement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org.springframework.cloud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spring-cloud-dependencies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&gt;${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pom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&lt;scope&gt;import&lt;/scope&gt;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dependencyManagement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&gt;2022.0.2&lt;/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org.springframework.cloud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-starter-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43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91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12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73D2A4-8249-B34B-8C10-2D736A041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4800" baseline="0">
                <a:solidFill>
                  <a:schemeClr val="accent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B500F4E-0F39-B642-B3F5-AA070E9E90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29784" y="4023360"/>
            <a:ext cx="5538216" cy="1435608"/>
          </a:xfrm>
        </p:spPr>
        <p:txBody>
          <a:bodyPr/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A.A. 202X/202X</a:t>
            </a:r>
          </a:p>
          <a:p>
            <a:r>
              <a:rPr lang="en-US" dirty="0"/>
              <a:t>Course Title</a:t>
            </a:r>
          </a:p>
          <a:p>
            <a:r>
              <a:rPr lang="en-US" dirty="0"/>
              <a:t>Gianluca </a:t>
            </a:r>
            <a:r>
              <a:rPr lang="en-US" dirty="0" err="1"/>
              <a:t>Filippone</a:t>
            </a:r>
            <a:endParaRPr lang="en-US" dirty="0"/>
          </a:p>
          <a:p>
            <a:r>
              <a:rPr lang="en-US" dirty="0" err="1"/>
              <a:t>gianluca.filippone@graduate.univaq.it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077AAD5-5A4A-8F4E-9AAB-4FAF89DA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AD6AD7F-A058-D740-B7F0-8F698CCA2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060BAD-A992-FC4D-8ECC-C4C8CFE1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32A1A4-204B-5944-AEF7-9E4DC755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768" y="384081"/>
            <a:ext cx="4066032" cy="977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F25C5430-CB96-C54D-AE6B-A6C47D1B0918}"/>
              </a:ext>
            </a:extLst>
          </p:cNvPr>
          <p:cNvCxnSpPr>
            <a:cxnSpLocks/>
          </p:cNvCxnSpPr>
          <p:nvPr/>
        </p:nvCxnSpPr>
        <p:spPr>
          <a:xfrm>
            <a:off x="4" y="3672273"/>
            <a:ext cx="891870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ECD3B0B7-652C-C949-827F-F6888ACCD781}"/>
              </a:ext>
            </a:extLst>
          </p:cNvPr>
          <p:cNvCxnSpPr>
            <a:cxnSpLocks/>
          </p:cNvCxnSpPr>
          <p:nvPr/>
        </p:nvCxnSpPr>
        <p:spPr>
          <a:xfrm>
            <a:off x="6474691" y="3608653"/>
            <a:ext cx="57173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57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4D3D0F-6041-2043-BFDF-B1C5A0199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/>
              <a:t>Slide </a:t>
            </a:r>
            <a:r>
              <a:rPr lang="it-IT" dirty="0" err="1"/>
              <a:t>title</a:t>
            </a:r>
            <a:r>
              <a:rPr lang="it-IT" dirty="0"/>
              <a:t> (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line!)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E01609-808B-8E48-8579-C3039EBCC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69A2E9-6BCB-8E4A-9CD8-3D1DF6D96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6CB579-0CC0-A14B-AD45-4575B5F2C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D7FA25-6906-7542-A7D5-86A1B1E53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4279784A-A4ED-7445-A0E7-9BB148A936C7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D19E801-A657-9B4E-AF2D-9DEC2AA81FFD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021EB055-FF57-8348-B595-7B85270EC8F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B12250E-7207-1B42-AEE9-F15255C99700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4A84783A-7C25-EA40-9758-A8CB086BEEC8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8F96BE4-0CE1-7F44-803D-3A7AEFE2D89B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6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CF33FB-ABB0-C84F-AE28-A36A78012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9426"/>
            <a:ext cx="10515600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2070FD-A466-904F-88EF-0F2A8E602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A786AE-D5AC-2744-BE59-CEE28513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0AAF204-B237-4146-8826-BFCC7799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6053FE-194E-3749-8C3C-E2F7498DA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50A6C97D-8B45-7F49-9025-CA9E74F5BDF3}"/>
              </a:ext>
            </a:extLst>
          </p:cNvPr>
          <p:cNvCxnSpPr>
            <a:cxnSpLocks/>
          </p:cNvCxnSpPr>
          <p:nvPr/>
        </p:nvCxnSpPr>
        <p:spPr>
          <a:xfrm>
            <a:off x="4" y="4412937"/>
            <a:ext cx="891870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90DEB9E-FDA0-4C4F-8BE8-DBC9B2FE7D64}"/>
              </a:ext>
            </a:extLst>
          </p:cNvPr>
          <p:cNvCxnSpPr>
            <a:cxnSpLocks/>
          </p:cNvCxnSpPr>
          <p:nvPr/>
        </p:nvCxnSpPr>
        <p:spPr>
          <a:xfrm>
            <a:off x="6474691" y="4349317"/>
            <a:ext cx="57173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02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67492E-AF32-1745-896C-160B2846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71C063-9F68-0B4E-9458-C6A1CEAB0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67257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CFBBB01-C135-4141-A3EE-C6FEA7EC1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67257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CDF2910-701C-D24B-B773-E7B6C0DE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DF9E90E-90D1-1341-834C-5C3535B2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7688E2B-5DDA-414E-A792-51506C98E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8A3E970D-D7BF-7749-AAD2-6C03AA8B290F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A8C1710F-6155-4541-B0EE-C5E748DE687B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D1097947-7C5F-C94B-86AC-BB75025837A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D401F897-92E0-E844-90A6-E7ABA6D9E420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DDC2B429-F6AB-C248-B450-99E1285C362D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25F29DEE-803D-1E45-9D21-79CC1E4D6FA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661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60222B-D493-574D-86D3-72FDAA80B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7824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E61925-4AE4-E549-9414-753E87952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0215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0736FBE-BDAE-A34B-B74C-1D17FDFF0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7824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05006DF-DED4-C34F-9903-7285CFE814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0215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D879D6-23ED-0340-B010-CA9DECFC0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F66A9A7-9B4F-814E-BBA6-326A4ABB2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000E44C-BF9E-0B4B-9575-8CB5A2C5D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ED2C134-FB4D-4E43-B72B-48A1167CC604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F9FBA853-6F55-CC4D-9EC5-E1DF8319DE60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B47B47C-5F2B-5843-A911-9AE9E8D5268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5B2A83B9-D6C5-5F4B-9002-0FE4761DAFFF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E583EF5F-CD89-754F-914B-5BEA078135DE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95167F86-00DC-9F46-8F51-9A0F40743FAF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olo 1">
            <a:extLst>
              <a:ext uri="{FF2B5EF4-FFF2-40B4-BE49-F238E27FC236}">
                <a16:creationId xmlns:a16="http://schemas.microsoft.com/office/drawing/2014/main" id="{1514018F-5903-8D45-96A6-AF301AA68864}"/>
              </a:ext>
            </a:extLst>
          </p:cNvPr>
          <p:cNvSpPr txBox="1">
            <a:spLocks/>
          </p:cNvSpPr>
          <p:nvPr/>
        </p:nvSpPr>
        <p:spPr>
          <a:xfrm>
            <a:off x="838200" y="163715"/>
            <a:ext cx="10515600" cy="778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400" dirty="0"/>
              <a:t>Fare clic per modificare lo stile del titolo dello schema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27999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DFE705-C7B5-6348-9B88-62E13F72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978D3A3-0FB3-A441-B86B-9BD34DC4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3A9E6E6-3ECA-B849-B086-7B9F9F5D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B602F44-D989-9F4B-8A24-E7A19188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B7784A67-1ECE-FE43-B177-5AF7E9E8C669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D6BE9B25-9BF5-9147-97B1-91EDAB9DA6B9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A5A54E7F-363C-2343-8379-8C183A7E4A37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5F9490B-71FF-6640-8A34-2025AE41F90E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98E0925D-A148-E247-9567-F15CB221DBDF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1878CEC8-F42A-9F4C-A999-B517738DEAFD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030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29170C4-9720-5F4B-906B-E4B7A0C7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11B34BE-76BD-9B4E-ADB0-36B01EC5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A62C4D9-069F-3741-9C4F-C8803F49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61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F174FA-CB1A-D148-991A-AAB559F0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459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46672C-3214-B841-82B5-DA5E395D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FAD1299-FECB-CA4E-A540-834209369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8D8D919-22D1-284D-9CB2-5F71E0E4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B3274F9-4F28-FA4A-A5F8-762C56556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E03661-0F92-FC4A-B790-5F091B49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6473EAEE-2F49-7F45-B2C9-24C3FA66E100}"/>
              </a:ext>
            </a:extLst>
          </p:cNvPr>
          <p:cNvCxnSpPr>
            <a:cxnSpLocks/>
          </p:cNvCxnSpPr>
          <p:nvPr/>
        </p:nvCxnSpPr>
        <p:spPr>
          <a:xfrm>
            <a:off x="4" y="1796445"/>
            <a:ext cx="47720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D8A3A4FF-88EF-5F4C-9947-1E0EDEC5A87B}"/>
              </a:ext>
            </a:extLst>
          </p:cNvPr>
          <p:cNvCxnSpPr>
            <a:cxnSpLocks/>
          </p:cNvCxnSpPr>
          <p:nvPr/>
        </p:nvCxnSpPr>
        <p:spPr>
          <a:xfrm>
            <a:off x="0" y="1854178"/>
            <a:ext cx="1499616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37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77A8CE6-6493-E94D-8B8F-956E57241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E5F25F-339E-5145-9596-D2E647EF4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0369092-8F15-BA4B-82AA-47E70BA5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AD7FB47-159B-2645-800E-E95CBA18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02339A-66E3-374B-B2B8-5F4CBCE6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5AFF7444-5AAB-8642-80F1-C87586BEE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459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16BF10E5-ECD4-B14B-8E3F-7663AF8EDE00}"/>
              </a:ext>
            </a:extLst>
          </p:cNvPr>
          <p:cNvCxnSpPr>
            <a:cxnSpLocks/>
          </p:cNvCxnSpPr>
          <p:nvPr/>
        </p:nvCxnSpPr>
        <p:spPr>
          <a:xfrm>
            <a:off x="4" y="1796445"/>
            <a:ext cx="47720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C11AB904-BE5F-9F41-88A4-C211D166DCA5}"/>
              </a:ext>
            </a:extLst>
          </p:cNvPr>
          <p:cNvCxnSpPr>
            <a:cxnSpLocks/>
          </p:cNvCxnSpPr>
          <p:nvPr/>
        </p:nvCxnSpPr>
        <p:spPr>
          <a:xfrm>
            <a:off x="0" y="1854178"/>
            <a:ext cx="1499616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77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7E4BDD-1BBD-2E4D-A316-208F0E3A4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F5137E5-6EB6-9D4E-928A-39058080E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87E6B3-6EF3-2740-B6D5-458148E7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A59045-0F5A-F64A-B216-94B5B539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DF02A3-1DBC-744E-8A30-3D396D83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06F4A23C-01D9-584C-9D49-E14E08F460C1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B2E1B38A-7690-5D49-8F7B-C8EEC77496D8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CB43CB0A-2887-5747-8DBB-3636C64D1D5F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AD3D4398-8217-5045-B228-9FCC39E90CB7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56469B55-0869-454B-BD8F-CC3A9C4A0ADA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0E9EEA2F-2339-194B-AD75-B8EFCCED9751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42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FDA8618-EB78-664C-8957-CAA1ECB3A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BAEF2E7-301A-524D-8008-A07C2AFD7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AB1E35-645F-E74C-B739-A784B6C8F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B2268E-0EF1-954A-87CE-907AFFF3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B91DAA-308D-3243-94D0-11195800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4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FC6CEA8-9E51-C240-92A6-F360D35BD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715"/>
            <a:ext cx="10515600" cy="778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Slide </a:t>
            </a:r>
            <a:r>
              <a:rPr lang="it-IT" dirty="0" err="1"/>
              <a:t>title</a:t>
            </a:r>
            <a:r>
              <a:rPr lang="it-IT" dirty="0"/>
              <a:t> (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line!)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8A0A4EA-8134-904C-B7F1-B18D26C0B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212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436337-B4A2-244C-870A-359067CA0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810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0160CA-23E8-9342-AF0C-958FE6ECB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1549D30-DA7A-E04C-B16E-C71FBA02F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4B5A5-8DCF-7F40-8FE5-5607A1C53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8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SzPct val="120000"/>
        <a:buFont typeface="Font di sistema regolare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110000"/>
        <a:buFont typeface="Font di sistema regolare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pring.io/tool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gianlucafilippone/springboot-microservices-development/mobolithic-application/openjob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4DBCCA-F341-5D46-A456-21648B3B03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Develop microservices with Spring Boot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5DAB4C8-3D2C-6246-AD34-A0073E2957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A.A. 2025/2026</a:t>
            </a:r>
          </a:p>
          <a:p>
            <a:r>
              <a:rPr lang="en-US" dirty="0"/>
              <a:t>Service-oriented Software Engineering</a:t>
            </a:r>
          </a:p>
          <a:p>
            <a:r>
              <a:rPr lang="en-US" dirty="0"/>
              <a:t>Gianluca </a:t>
            </a:r>
            <a:r>
              <a:rPr lang="en-US" dirty="0" err="1"/>
              <a:t>Filippone</a:t>
            </a:r>
            <a:endParaRPr lang="en-US" dirty="0"/>
          </a:p>
          <a:p>
            <a:r>
              <a:rPr lang="en-US" dirty="0" err="1"/>
              <a:t>gianluca.filippone@gssi.it</a:t>
            </a:r>
            <a:endParaRPr lang="en-US" dirty="0"/>
          </a:p>
        </p:txBody>
      </p:sp>
      <p:pic>
        <p:nvPicPr>
          <p:cNvPr id="4" name="Picture 2" descr="Nuovi orizzonti di una Scienza in divenire (25-26 October 2018): Home ·  Indico">
            <a:extLst>
              <a:ext uri="{FF2B5EF4-FFF2-40B4-BE49-F238E27FC236}">
                <a16:creationId xmlns:a16="http://schemas.microsoft.com/office/drawing/2014/main" id="{53A3B95E-716C-E9BC-379A-37E7C101D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96" y="410819"/>
            <a:ext cx="2491408" cy="968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60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11D5EC-1C8B-2749-97BC-99CB5FBAA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ACFBA9-4095-AF41-BE1E-285C07371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974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accent2"/>
                </a:solidFill>
              </a:rPr>
              <a:t>OpenJob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Platform that allows people to publish or apply for job offers</a:t>
            </a:r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B851D7DD-6BFC-1348-B031-19E769930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372" y="2128329"/>
            <a:ext cx="5475715" cy="456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85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342C0F-D3C7-4545-9D8E-B7B6B254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application through Spring Boot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93B6D0B-1538-4349-8836-F998491FE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Ingredients</a:t>
            </a:r>
          </a:p>
          <a:p>
            <a:r>
              <a:rPr lang="en-US" sz="2400"/>
              <a:t>Java Development Kit (25 or later)</a:t>
            </a:r>
            <a:endParaRPr lang="en-US" sz="2400">
              <a:ea typeface="Calibri"/>
              <a:cs typeface="Calibri"/>
            </a:endParaRPr>
          </a:p>
          <a:p>
            <a:pPr lvl="1"/>
            <a:endParaRPr lang="en-US" sz="2000" dirty="0"/>
          </a:p>
          <a:p>
            <a:r>
              <a:rPr lang="en-US" sz="2400" dirty="0"/>
              <a:t>Apache Maven</a:t>
            </a:r>
          </a:p>
          <a:p>
            <a:endParaRPr lang="en-US" sz="2400" dirty="0"/>
          </a:p>
          <a:p>
            <a:r>
              <a:rPr lang="en-US" sz="2400" dirty="0"/>
              <a:t>Spring Tools 4</a:t>
            </a:r>
          </a:p>
          <a:p>
            <a:pPr marL="457200" lvl="1" indent="0">
              <a:buNone/>
            </a:pPr>
            <a:r>
              <a:rPr lang="en-US" sz="2000" dirty="0">
                <a:hlinkClick r:id="rId2"/>
              </a:rPr>
              <a:t>https://spring.io/tools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11820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55FB50-2F54-024E-8A5D-60B02DA2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645886-CF21-4746-97F0-AC4B3272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Open Spring Tools and create a new workspace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File -&gt; new -&gt; Spring Starter Project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0233D92-8B1F-634E-A25F-28BC32DF2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79" y="4133574"/>
            <a:ext cx="4675455" cy="25607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E1F6B6A-E149-A540-AA3C-930458F44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603" y="1596843"/>
            <a:ext cx="4768208" cy="18321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4708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41A68F-9775-2642-AF93-D36158D7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8B1B69-B2C3-A548-93FB-7AA2C8110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000" dirty="0"/>
              <a:t>Follow the wizard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1BC3CEE-75BA-0549-ACD8-A24E1AFA5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704" y="1726803"/>
            <a:ext cx="3708199" cy="45556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EFE37AA-C07B-BC4C-B12A-4DB8ED58D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098" y="1726803"/>
            <a:ext cx="3708199" cy="45605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FD48BC87-4947-F34D-88B8-1B4C6D45C327}"/>
              </a:ext>
            </a:extLst>
          </p:cNvPr>
          <p:cNvSpPr/>
          <p:nvPr/>
        </p:nvSpPr>
        <p:spPr>
          <a:xfrm>
            <a:off x="1828097" y="2066030"/>
            <a:ext cx="2418707" cy="174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18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5622D1-61B2-F44A-9A44-B9526B7AE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3B2D58-4AF5-BD46-870A-F62D4D7E4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19"/>
            <a:ext cx="10515600" cy="54721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accent2"/>
                </a:solidFill>
              </a:rPr>
              <a:t>Selected dependencies</a:t>
            </a:r>
          </a:p>
          <a:p>
            <a:r>
              <a:rPr lang="en-US" sz="2200" dirty="0"/>
              <a:t>Spring Boot </a:t>
            </a:r>
            <a:r>
              <a:rPr lang="en-US" sz="2200" dirty="0" err="1"/>
              <a:t>DevTools</a:t>
            </a:r>
            <a:endParaRPr lang="en-US" sz="2200" dirty="0"/>
          </a:p>
          <a:p>
            <a:pPr lvl="1"/>
            <a:r>
              <a:rPr lang="en-US" sz="1900" dirty="0"/>
              <a:t>Provides fast application restarts, </a:t>
            </a:r>
            <a:r>
              <a:rPr lang="en-US" sz="1900" dirty="0" err="1"/>
              <a:t>LiveReload</a:t>
            </a:r>
            <a:r>
              <a:rPr lang="en-US" sz="1900" dirty="0"/>
              <a:t>, and configurations for enhanced development experience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 Boot Actuator</a:t>
            </a:r>
          </a:p>
          <a:p>
            <a:pPr lvl="1"/>
            <a:r>
              <a:rPr lang="en-US" sz="1900" dirty="0"/>
              <a:t>Supports built in (or custom) endpoints to monitor and manage the application (e.g., health, metrics, sessions, etc.) 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 Data JPA</a:t>
            </a:r>
          </a:p>
          <a:p>
            <a:pPr lvl="1"/>
            <a:r>
              <a:rPr lang="en-US" sz="1900" dirty="0"/>
              <a:t>Persist data with Java Persistence API using Spring Data and Hibernate</a:t>
            </a:r>
          </a:p>
          <a:p>
            <a:pPr lvl="1"/>
            <a:endParaRPr lang="en-US" sz="1900" dirty="0"/>
          </a:p>
          <a:p>
            <a:r>
              <a:rPr lang="en-US" sz="2200" dirty="0"/>
              <a:t>H2 Database</a:t>
            </a:r>
          </a:p>
          <a:p>
            <a:pPr lvl="1"/>
            <a:r>
              <a:rPr lang="en-US" sz="1900" dirty="0"/>
              <a:t>Fast, zero-configuration in-memory database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</a:t>
            </a:r>
            <a:r>
              <a:rPr lang="en-US" sz="2400" dirty="0"/>
              <a:t> </a:t>
            </a:r>
            <a:r>
              <a:rPr lang="en-US" sz="2200" dirty="0"/>
              <a:t>Web</a:t>
            </a:r>
            <a:endParaRPr lang="en-US" sz="2400" dirty="0"/>
          </a:p>
          <a:p>
            <a:pPr lvl="1"/>
            <a:r>
              <a:rPr lang="en-US" sz="1900" dirty="0"/>
              <a:t>Build</a:t>
            </a:r>
            <a:r>
              <a:rPr lang="en-US" sz="2000" dirty="0"/>
              <a:t> web, including RESTful, applications using Spring MVC. Uses Apache Tomcat as the default embedded container.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953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FE2F9E-9122-EA4A-B507-BCCAE45C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Implement the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8A9C49-5192-F545-BE16-9D0FD874C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5449478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The result we want to obtain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Implement controllers, services etc.</a:t>
            </a:r>
          </a:p>
          <a:p>
            <a:pPr marL="457200" lvl="1" indent="0">
              <a:buNone/>
            </a:pPr>
            <a:r>
              <a:rPr lang="en-US" sz="1400" dirty="0">
                <a:hlinkClick r:id="rId2"/>
              </a:rPr>
              <a:t>https://github.com/gianlucafilippone/springboot-microservices-development/mobolithic-application/openjob</a:t>
            </a:r>
            <a:endParaRPr lang="en-US" sz="1400" dirty="0"/>
          </a:p>
          <a:p>
            <a:pPr lvl="1"/>
            <a:endParaRPr lang="en-US" sz="2000" dirty="0"/>
          </a:p>
        </p:txBody>
      </p:sp>
      <p:pic>
        <p:nvPicPr>
          <p:cNvPr id="4" name="Segnaposto contenuto 4">
            <a:extLst>
              <a:ext uri="{FF2B5EF4-FFF2-40B4-BE49-F238E27FC236}">
                <a16:creationId xmlns:a16="http://schemas.microsoft.com/office/drawing/2014/main" id="{696FF70A-31C6-704C-B4BC-B5BF93C9A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581" y="1254132"/>
            <a:ext cx="3035756" cy="54815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B129670-C0DB-4642-B9BD-83CBC38FA43F}"/>
              </a:ext>
            </a:extLst>
          </p:cNvPr>
          <p:cNvSpPr/>
          <p:nvPr/>
        </p:nvSpPr>
        <p:spPr>
          <a:xfrm>
            <a:off x="7261817" y="1796705"/>
            <a:ext cx="1637086" cy="559995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89F719EE-707D-AC41-B809-F746F41082DB}"/>
              </a:ext>
            </a:extLst>
          </p:cNvPr>
          <p:cNvSpPr/>
          <p:nvPr/>
        </p:nvSpPr>
        <p:spPr>
          <a:xfrm>
            <a:off x="7269916" y="2852138"/>
            <a:ext cx="1637086" cy="576862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3D85A6A5-CF2B-1645-887A-C0E077DA722F}"/>
              </a:ext>
            </a:extLst>
          </p:cNvPr>
          <p:cNvSpPr/>
          <p:nvPr/>
        </p:nvSpPr>
        <p:spPr>
          <a:xfrm>
            <a:off x="7261817" y="3470631"/>
            <a:ext cx="1637086" cy="696015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9ADED70-AC0C-E147-8A30-A2C2CF50B556}"/>
              </a:ext>
            </a:extLst>
          </p:cNvPr>
          <p:cNvSpPr/>
          <p:nvPr/>
        </p:nvSpPr>
        <p:spPr>
          <a:xfrm>
            <a:off x="7269916" y="4194923"/>
            <a:ext cx="1637086" cy="904978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9D0B8CEF-F8DF-3940-A953-AECFDEBCB94D}"/>
              </a:ext>
            </a:extLst>
          </p:cNvPr>
          <p:cNvSpPr/>
          <p:nvPr/>
        </p:nvSpPr>
        <p:spPr>
          <a:xfrm>
            <a:off x="4809743" y="1499616"/>
            <a:ext cx="1600483" cy="1469827"/>
          </a:xfrm>
          <a:custGeom>
            <a:avLst/>
            <a:gdLst>
              <a:gd name="connsiteX0" fmla="*/ 0 w 1435608"/>
              <a:gd name="connsiteY0" fmla="*/ 0 h 1490472"/>
              <a:gd name="connsiteX1" fmla="*/ 393192 w 1435608"/>
              <a:gd name="connsiteY1" fmla="*/ 347472 h 1490472"/>
              <a:gd name="connsiteX2" fmla="*/ 713232 w 1435608"/>
              <a:gd name="connsiteY2" fmla="*/ 1069848 h 1490472"/>
              <a:gd name="connsiteX3" fmla="*/ 1024128 w 1435608"/>
              <a:gd name="connsiteY3" fmla="*/ 1389888 h 1490472"/>
              <a:gd name="connsiteX4" fmla="*/ 1435608 w 1435608"/>
              <a:gd name="connsiteY4" fmla="*/ 1490472 h 1490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5608" h="1490472">
                <a:moveTo>
                  <a:pt x="0" y="0"/>
                </a:moveTo>
                <a:cubicBezTo>
                  <a:pt x="137160" y="84582"/>
                  <a:pt x="274320" y="169164"/>
                  <a:pt x="393192" y="347472"/>
                </a:cubicBezTo>
                <a:cubicBezTo>
                  <a:pt x="512064" y="525780"/>
                  <a:pt x="608076" y="896112"/>
                  <a:pt x="713232" y="1069848"/>
                </a:cubicBezTo>
                <a:cubicBezTo>
                  <a:pt x="818388" y="1243584"/>
                  <a:pt x="903732" y="1319784"/>
                  <a:pt x="1024128" y="1389888"/>
                </a:cubicBezTo>
                <a:cubicBezTo>
                  <a:pt x="1144524" y="1459992"/>
                  <a:pt x="1290066" y="1475232"/>
                  <a:pt x="1435608" y="1490472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79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F724A-5ABB-C149-B016-9FD9B090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3: Result</a:t>
            </a:r>
          </a:p>
        </p:txBody>
      </p:sp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2CC6A1F1-8058-5243-9525-61B450BEFEE4}"/>
              </a:ext>
            </a:extLst>
          </p:cNvPr>
          <p:cNvCxnSpPr>
            <a:endCxn id="6" idx="2"/>
          </p:cNvCxnSpPr>
          <p:nvPr/>
        </p:nvCxnSpPr>
        <p:spPr>
          <a:xfrm flipV="1">
            <a:off x="2693484" y="3505857"/>
            <a:ext cx="1555" cy="34852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tangolo arrotondato 8">
            <a:extLst>
              <a:ext uri="{FF2B5EF4-FFF2-40B4-BE49-F238E27FC236}">
                <a16:creationId xmlns:a16="http://schemas.microsoft.com/office/drawing/2014/main" id="{83185B0A-7DFD-6B46-8C93-D0897F978F29}"/>
              </a:ext>
            </a:extLst>
          </p:cNvPr>
          <p:cNvSpPr/>
          <p:nvPr/>
        </p:nvSpPr>
        <p:spPr>
          <a:xfrm>
            <a:off x="2072495" y="2267500"/>
            <a:ext cx="1245087" cy="1238357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r>
              <a:rPr lang="en-US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Openjob</a:t>
            </a:r>
            <a:r>
              <a:rPr lang="en-US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en-US" sz="16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(9092)</a:t>
            </a:r>
            <a:endParaRPr lang="en-US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CB3472BC-289E-F748-BA9B-903F6D67F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12" y="3085137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22367749-7E36-5F41-A44B-41EBA2E93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510" y="3085764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58BFAC1C-B09E-0B41-8A17-3272FEC99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55084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3F25FC99-F61A-8A45-9B7C-89D8F37B0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646559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2C7EF5-FC2D-8B4F-A826-71FB4106ED6B}"/>
              </a:ext>
            </a:extLst>
          </p:cNvPr>
          <p:cNvSpPr txBox="1"/>
          <p:nvPr/>
        </p:nvSpPr>
        <p:spPr>
          <a:xfrm>
            <a:off x="1169850" y="5239551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Spring boot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4A43635-9E05-144E-A8FE-F4028E5E1A59}"/>
              </a:ext>
            </a:extLst>
          </p:cNvPr>
          <p:cNvSpPr txBox="1"/>
          <p:nvPr/>
        </p:nvSpPr>
        <p:spPr>
          <a:xfrm>
            <a:off x="1166478" y="5624416"/>
            <a:ext cx="124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Spring data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9D3CB113-BDDE-8C40-B5ED-AD205A286498}"/>
              </a:ext>
            </a:extLst>
          </p:cNvPr>
          <p:cNvSpPr/>
          <p:nvPr/>
        </p:nvSpPr>
        <p:spPr>
          <a:xfrm>
            <a:off x="2326352" y="1801584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ED2FD1A7-DF50-944F-B02F-5919C7868F8C}"/>
              </a:ext>
            </a:extLst>
          </p:cNvPr>
          <p:cNvCxnSpPr>
            <a:stCxn id="16" idx="4"/>
          </p:cNvCxnSpPr>
          <p:nvPr/>
        </p:nvCxnSpPr>
        <p:spPr>
          <a:xfrm>
            <a:off x="2416352" y="1981584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e 17">
            <a:extLst>
              <a:ext uri="{FF2B5EF4-FFF2-40B4-BE49-F238E27FC236}">
                <a16:creationId xmlns:a16="http://schemas.microsoft.com/office/drawing/2014/main" id="{0F0E928D-F52D-C643-B114-3CEABBC780E0}"/>
              </a:ext>
            </a:extLst>
          </p:cNvPr>
          <p:cNvSpPr/>
          <p:nvPr/>
        </p:nvSpPr>
        <p:spPr>
          <a:xfrm>
            <a:off x="2876857" y="1801584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A53D41C7-C2E7-5E48-AE5B-B9E717593DCC}"/>
              </a:ext>
            </a:extLst>
          </p:cNvPr>
          <p:cNvCxnSpPr>
            <a:stCxn id="18" idx="4"/>
          </p:cNvCxnSpPr>
          <p:nvPr/>
        </p:nvCxnSpPr>
        <p:spPr>
          <a:xfrm>
            <a:off x="2966857" y="1981584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tangolo 19">
            <a:extLst>
              <a:ext uri="{FF2B5EF4-FFF2-40B4-BE49-F238E27FC236}">
                <a16:creationId xmlns:a16="http://schemas.microsoft.com/office/drawing/2014/main" id="{674AC41D-43E5-1F4F-A686-9F583243C2FE}"/>
              </a:ext>
            </a:extLst>
          </p:cNvPr>
          <p:cNvSpPr/>
          <p:nvPr/>
        </p:nvSpPr>
        <p:spPr>
          <a:xfrm>
            <a:off x="2130055" y="1525033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1C8B8F6A-2A83-E94A-A57C-260B7CCF20A5}"/>
              </a:ext>
            </a:extLst>
          </p:cNvPr>
          <p:cNvSpPr/>
          <p:nvPr/>
        </p:nvSpPr>
        <p:spPr>
          <a:xfrm>
            <a:off x="2680560" y="1525033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2EFCA857-B3CF-FF47-9E70-5CC7FDC998D6}"/>
              </a:ext>
            </a:extLst>
          </p:cNvPr>
          <p:cNvSpPr/>
          <p:nvPr/>
        </p:nvSpPr>
        <p:spPr>
          <a:xfrm>
            <a:off x="1551259" y="2795498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C6114409-3B65-5A49-AC56-3F245731CD64}"/>
              </a:ext>
            </a:extLst>
          </p:cNvPr>
          <p:cNvCxnSpPr>
            <a:stCxn id="22" idx="6"/>
            <a:endCxn id="6" idx="1"/>
          </p:cNvCxnSpPr>
          <p:nvPr/>
        </p:nvCxnSpPr>
        <p:spPr>
          <a:xfrm>
            <a:off x="1731259" y="2885498"/>
            <a:ext cx="341236" cy="118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tangolo 23">
            <a:extLst>
              <a:ext uri="{FF2B5EF4-FFF2-40B4-BE49-F238E27FC236}">
                <a16:creationId xmlns:a16="http://schemas.microsoft.com/office/drawing/2014/main" id="{828F90E0-85CD-2D4C-96A2-E49780C81B85}"/>
              </a:ext>
            </a:extLst>
          </p:cNvPr>
          <p:cNvSpPr/>
          <p:nvPr/>
        </p:nvSpPr>
        <p:spPr>
          <a:xfrm>
            <a:off x="1166478" y="3027398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3A14775F-8572-644C-8EDA-39D6ACDC4C64}"/>
              </a:ext>
            </a:extLst>
          </p:cNvPr>
          <p:cNvSpPr/>
          <p:nvPr/>
        </p:nvSpPr>
        <p:spPr>
          <a:xfrm>
            <a:off x="1839724" y="4492493"/>
            <a:ext cx="170751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openjob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H2 database</a:t>
            </a:r>
          </a:p>
        </p:txBody>
      </p:sp>
      <p:pic>
        <p:nvPicPr>
          <p:cNvPr id="1026" name="Picture 2" descr="Tutorial">
            <a:extLst>
              <a:ext uri="{FF2B5EF4-FFF2-40B4-BE49-F238E27FC236}">
                <a16:creationId xmlns:a16="http://schemas.microsoft.com/office/drawing/2014/main" id="{88F98FFF-4201-A64E-B8DD-EF2390789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820" y="3844605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Segnaposto contenuto 2">
            <a:extLst>
              <a:ext uri="{FF2B5EF4-FFF2-40B4-BE49-F238E27FC236}">
                <a16:creationId xmlns:a16="http://schemas.microsoft.com/office/drawing/2014/main" id="{2E0D8E74-BDE9-824F-9524-8139029CB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8243" y="1092309"/>
            <a:ext cx="6555557" cy="5299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http://localhost:9092/actuator/health</a:t>
            </a:r>
          </a:p>
          <a:p>
            <a:pPr lvl="1"/>
            <a:r>
              <a:rPr lang="en-US" sz="1800" dirty="0"/>
              <a:t>[GET] http://localhost:9092/actuator/info</a:t>
            </a:r>
          </a:p>
          <a:p>
            <a:pPr lvl="1"/>
            <a:endParaRPr lang="en-US" sz="1800" dirty="0"/>
          </a:p>
          <a:p>
            <a:r>
              <a:rPr lang="en-US" sz="2000" dirty="0"/>
              <a:t>/user</a:t>
            </a:r>
          </a:p>
          <a:p>
            <a:pPr lvl="1"/>
            <a:r>
              <a:rPr lang="en-US" sz="1800" dirty="0"/>
              <a:t>[GET, POST, PUT] http://localhost:9092/user</a:t>
            </a:r>
          </a:p>
          <a:p>
            <a:pPr lvl="1"/>
            <a:r>
              <a:rPr lang="en-US" sz="1800" dirty="0"/>
              <a:t>[GET, DELETE] http://localhost:9092/user/id/&lt;ID&gt;</a:t>
            </a:r>
          </a:p>
          <a:p>
            <a:pPr lvl="1"/>
            <a:r>
              <a:rPr lang="en-US" sz="1800" dirty="0"/>
              <a:t>[GET] http://localhost:9092/user/username/&lt;USERNAME&gt;</a:t>
            </a:r>
          </a:p>
          <a:p>
            <a:pPr lvl="1"/>
            <a:endParaRPr lang="en-US" sz="1800" dirty="0"/>
          </a:p>
          <a:p>
            <a:r>
              <a:rPr lang="en-US" sz="2200" dirty="0"/>
              <a:t>/job</a:t>
            </a:r>
          </a:p>
          <a:p>
            <a:pPr lvl="1"/>
            <a:r>
              <a:rPr lang="en-US" sz="1800" dirty="0"/>
              <a:t>[GET, POST, PUT] http://localhost:9092/job</a:t>
            </a:r>
          </a:p>
          <a:p>
            <a:pPr lvl="1"/>
            <a:r>
              <a:rPr lang="en-US" sz="1800" dirty="0"/>
              <a:t>[GET, DELETE] http://localhost:9092/job/&lt;ID&gt;</a:t>
            </a:r>
          </a:p>
          <a:p>
            <a:pPr lvl="1"/>
            <a:r>
              <a:rPr lang="en-US" sz="1800" dirty="0"/>
              <a:t>[GET] http://localhost:9092/job/apply/&lt;USERNAME&gt;/&lt;ID&gt;</a:t>
            </a:r>
          </a:p>
          <a:p>
            <a:pPr lvl="1"/>
            <a:endParaRPr lang="en-US" sz="1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7783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BA5748-8B21-A54B-8841-E608D5C3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Migrate the application to microservices</a:t>
            </a:r>
          </a:p>
        </p:txBody>
      </p:sp>
    </p:spTree>
    <p:extLst>
      <p:ext uri="{BB962C8B-B14F-4D97-AF65-F5344CB8AC3E}">
        <p14:creationId xmlns:p14="http://schemas.microsoft.com/office/powerpoint/2010/main" val="3853296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C85ADD-96D0-124E-816C-A85076505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Realize User and Job microservices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5F96FC-1023-AC4B-AC83-DF3B85A83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Initialize two applications using the wizard: user and job</a:t>
            </a:r>
          </a:p>
          <a:p>
            <a:pPr lvl="1"/>
            <a:r>
              <a:rPr lang="en-US" dirty="0"/>
              <a:t>Same dependencies as </a:t>
            </a:r>
            <a:r>
              <a:rPr lang="en-US"/>
              <a:t>the monolith (for now)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29557C-81EB-5648-B49A-26B661935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0" y="2348853"/>
            <a:ext cx="3312398" cy="40610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F3467CD-7D74-3644-AC68-6B9553BB9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484" y="2348853"/>
            <a:ext cx="3312398" cy="40750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9790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F81EDD-6560-D64F-A759-28B6BD0C3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Decomposed database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BAA364-10C4-D841-936C-499CB191E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Schema(s)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442A360-500B-7F4B-BC01-49A3BC3E0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299" y="1882353"/>
            <a:ext cx="3409950" cy="33147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C6E0143-06F2-154D-A6FE-5B1B38E30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508" y="2568153"/>
            <a:ext cx="3267075" cy="194310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AA311FCE-4EDF-9B4D-833A-10D08B1FEBE3}"/>
              </a:ext>
            </a:extLst>
          </p:cNvPr>
          <p:cNvSpPr/>
          <p:nvPr/>
        </p:nvSpPr>
        <p:spPr>
          <a:xfrm>
            <a:off x="6790482" y="3539703"/>
            <a:ext cx="1158553" cy="173794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>
            <a:noAutofit/>
          </a:bodyPr>
          <a:lstStyle/>
          <a:p>
            <a:pPr algn="ctr"/>
            <a:endParaRPr lang="en-US" sz="1400" dirty="0">
              <a:solidFill>
                <a:srgbClr val="FF6600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B6276D0-F905-9243-936E-CDCB64CE98A6}"/>
              </a:ext>
            </a:extLst>
          </p:cNvPr>
          <p:cNvSpPr/>
          <p:nvPr/>
        </p:nvSpPr>
        <p:spPr>
          <a:xfrm>
            <a:off x="8602366" y="3329196"/>
            <a:ext cx="1158553" cy="173794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>
            <a:noAutofit/>
          </a:bodyPr>
          <a:lstStyle/>
          <a:p>
            <a:pPr algn="ctr"/>
            <a:endParaRPr lang="en-US" sz="1400" dirty="0">
              <a:solidFill>
                <a:srgbClr val="FF6600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6B5D9C0-FC71-3742-BAB5-991F23B20241}"/>
              </a:ext>
            </a:extLst>
          </p:cNvPr>
          <p:cNvSpPr txBox="1"/>
          <p:nvPr/>
        </p:nvSpPr>
        <p:spPr>
          <a:xfrm>
            <a:off x="3063240" y="5266547"/>
            <a:ext cx="2116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Service schema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EB58B9E-28A3-4A44-B715-9CAC961F9B4A}"/>
              </a:ext>
            </a:extLst>
          </p:cNvPr>
          <p:cNvSpPr txBox="1"/>
          <p:nvPr/>
        </p:nvSpPr>
        <p:spPr>
          <a:xfrm>
            <a:off x="7543967" y="4791542"/>
            <a:ext cx="2001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Job Service schema</a:t>
            </a:r>
          </a:p>
        </p:txBody>
      </p:sp>
    </p:spTree>
    <p:extLst>
      <p:ext uri="{BB962C8B-B14F-4D97-AF65-F5344CB8AC3E}">
        <p14:creationId xmlns:p14="http://schemas.microsoft.com/office/powerpoint/2010/main" val="2986162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0FFCD8-0714-734A-8CDB-F86E90F8F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1F0A00-19BB-6944-94A3-43D9D026D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 we want to obtain: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70DB000-C979-DD4A-8DB6-116AC10287E2}"/>
              </a:ext>
            </a:extLst>
          </p:cNvPr>
          <p:cNvSpPr txBox="1">
            <a:spLocks/>
          </p:cNvSpPr>
          <p:nvPr/>
        </p:nvSpPr>
        <p:spPr>
          <a:xfrm>
            <a:off x="4956967" y="1914620"/>
            <a:ext cx="54494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Implement controllers, services etc.</a:t>
            </a:r>
          </a:p>
          <a:p>
            <a:pPr lvl="1"/>
            <a:endParaRPr lang="en-US" sz="2000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E9BF4532-8181-6846-9A01-0990DC486C5B}"/>
              </a:ext>
            </a:extLst>
          </p:cNvPr>
          <p:cNvSpPr txBox="1">
            <a:spLocks/>
          </p:cNvSpPr>
          <p:nvPr/>
        </p:nvSpPr>
        <p:spPr>
          <a:xfrm>
            <a:off x="5054275" y="2967661"/>
            <a:ext cx="6555557" cy="3488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ont di sistema regolare"/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http://localhost:9044/actuator/health</a:t>
            </a:r>
          </a:p>
          <a:p>
            <a:pPr lvl="1"/>
            <a:r>
              <a:rPr lang="en-US" sz="1800" dirty="0"/>
              <a:t>[GET] http://localhost:9044/actuator/info</a:t>
            </a:r>
          </a:p>
          <a:p>
            <a:pPr lvl="1"/>
            <a:endParaRPr lang="en-US" sz="1800" dirty="0"/>
          </a:p>
          <a:p>
            <a:r>
              <a:rPr lang="en-US" sz="2000" dirty="0"/>
              <a:t>/user</a:t>
            </a:r>
          </a:p>
          <a:p>
            <a:pPr lvl="1"/>
            <a:r>
              <a:rPr lang="en-US" sz="1800" dirty="0"/>
              <a:t>[GET, POST, PUT] http://localhost:9044/user</a:t>
            </a:r>
          </a:p>
          <a:p>
            <a:pPr lvl="1"/>
            <a:r>
              <a:rPr lang="en-US" sz="1800" dirty="0"/>
              <a:t>[GET, DELETE] http://localhost:9044/user/id/&lt;ID&gt;</a:t>
            </a:r>
          </a:p>
          <a:p>
            <a:pPr lvl="1"/>
            <a:r>
              <a:rPr lang="en-US" sz="1800" dirty="0"/>
              <a:t>[GET] http://localhost:9044/user/username/&lt;USERNAME&gt;</a:t>
            </a:r>
          </a:p>
          <a:p>
            <a:endParaRPr lang="en-US" sz="240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73C7072-5646-8947-8741-7553B972E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32" y="1937509"/>
            <a:ext cx="3171412" cy="43055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7090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58FDEF-8B98-A948-8450-58AA73AA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54E9CF5-8B75-DD4A-8D1E-197F4FE48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 we want to obtain: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7B5D59C-6C01-1B4F-AF27-20071E354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8" y="2018317"/>
            <a:ext cx="3618992" cy="44816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537D6C27-D238-A849-BB04-FA376DC41BB4}"/>
              </a:ext>
            </a:extLst>
          </p:cNvPr>
          <p:cNvSpPr txBox="1">
            <a:spLocks/>
          </p:cNvSpPr>
          <p:nvPr/>
        </p:nvSpPr>
        <p:spPr>
          <a:xfrm>
            <a:off x="4956967" y="1914620"/>
            <a:ext cx="54494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Implement controllers, services etc.</a:t>
            </a:r>
          </a:p>
          <a:p>
            <a:pPr lvl="1"/>
            <a:endParaRPr lang="en-US" sz="2000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6BA763F7-C9C9-2C40-B048-465F603C0E4B}"/>
              </a:ext>
            </a:extLst>
          </p:cNvPr>
          <p:cNvSpPr txBox="1">
            <a:spLocks/>
          </p:cNvSpPr>
          <p:nvPr/>
        </p:nvSpPr>
        <p:spPr>
          <a:xfrm>
            <a:off x="5048130" y="2923529"/>
            <a:ext cx="6555557" cy="52998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ont di sistema regolare"/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http://localhost:9055/actuator/health</a:t>
            </a:r>
          </a:p>
          <a:p>
            <a:pPr lvl="1"/>
            <a:r>
              <a:rPr lang="en-US" sz="1800" dirty="0"/>
              <a:t>[GET] http://localhost:9055/actuator/info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200" dirty="0"/>
              <a:t>/job</a:t>
            </a:r>
          </a:p>
          <a:p>
            <a:pPr lvl="1"/>
            <a:r>
              <a:rPr lang="en-US" sz="1800" dirty="0"/>
              <a:t>[GET, POST, PUT] http://localhost:9055/job</a:t>
            </a:r>
          </a:p>
          <a:p>
            <a:pPr lvl="1"/>
            <a:r>
              <a:rPr lang="en-US" sz="1800" dirty="0"/>
              <a:t>[GET, DELETE] http://localhost:9055/job/&lt;ID&gt;</a:t>
            </a:r>
          </a:p>
          <a:p>
            <a:pPr lvl="1"/>
            <a:r>
              <a:rPr lang="en-US" sz="1800" dirty="0"/>
              <a:t>[GET] http://localhost:9055/job/apply/&lt;USERNAME&gt;/&lt;ID&gt;</a:t>
            </a:r>
          </a:p>
          <a:p>
            <a:pPr lvl="1"/>
            <a:endParaRPr lang="en-US" sz="1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4837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464E59-C858-354E-8D69-14090665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E030308D-5923-F446-B75E-132D8E828E21}"/>
              </a:ext>
            </a:extLst>
          </p:cNvPr>
          <p:cNvCxnSpPr/>
          <p:nvPr/>
        </p:nvCxnSpPr>
        <p:spPr>
          <a:xfrm flipV="1">
            <a:off x="3960014" y="3415711"/>
            <a:ext cx="5" cy="3471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agono 2">
            <a:extLst>
              <a:ext uri="{FF2B5EF4-FFF2-40B4-BE49-F238E27FC236}">
                <a16:creationId xmlns:a16="http://schemas.microsoft.com/office/drawing/2014/main" id="{F6523675-A549-7945-B3D9-FBF903676201}"/>
              </a:ext>
            </a:extLst>
          </p:cNvPr>
          <p:cNvSpPr/>
          <p:nvPr/>
        </p:nvSpPr>
        <p:spPr>
          <a:xfrm>
            <a:off x="3323339" y="2696091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user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(9044)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5AB609D5-C9EC-F248-B624-4B8B368C5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761" y="3094745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C6E5B650-2475-3C4C-A2EA-06605EB66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642" y="3095372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ttore 2 59">
            <a:extLst>
              <a:ext uri="{FF2B5EF4-FFF2-40B4-BE49-F238E27FC236}">
                <a16:creationId xmlns:a16="http://schemas.microsoft.com/office/drawing/2014/main" id="{3E672409-2D88-8A4D-9D6D-76024468CEE7}"/>
              </a:ext>
            </a:extLst>
          </p:cNvPr>
          <p:cNvCxnSpPr/>
          <p:nvPr/>
        </p:nvCxnSpPr>
        <p:spPr>
          <a:xfrm flipH="1" flipV="1">
            <a:off x="8082697" y="3415711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agono 28">
            <a:extLst>
              <a:ext uri="{FF2B5EF4-FFF2-40B4-BE49-F238E27FC236}">
                <a16:creationId xmlns:a16="http://schemas.microsoft.com/office/drawing/2014/main" id="{DAB94A5B-571B-3041-981F-CA4C20D55A80}"/>
              </a:ext>
            </a:extLst>
          </p:cNvPr>
          <p:cNvSpPr/>
          <p:nvPr/>
        </p:nvSpPr>
        <p:spPr>
          <a:xfrm>
            <a:off x="7446017" y="2696091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job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(9055)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1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3FD0E2E6-1000-B243-AFB9-7981DBB01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380" y="3094024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4FA548AD-5D53-F941-BCA6-8DFEFAB7E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987" y="3094651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BF0C1F75-C8E3-324B-84A0-7A29AC169E31}"/>
              </a:ext>
            </a:extLst>
          </p:cNvPr>
          <p:cNvSpPr/>
          <p:nvPr/>
        </p:nvSpPr>
        <p:spPr>
          <a:xfrm>
            <a:off x="7996738" y="2230446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F45668A0-B91B-4A4F-A0E2-4A42DC7490D8}"/>
              </a:ext>
            </a:extLst>
          </p:cNvPr>
          <p:cNvCxnSpPr>
            <a:stCxn id="14" idx="4"/>
          </p:cNvCxnSpPr>
          <p:nvPr/>
        </p:nvCxnSpPr>
        <p:spPr>
          <a:xfrm>
            <a:off x="8086738" y="2410446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e 15">
            <a:extLst>
              <a:ext uri="{FF2B5EF4-FFF2-40B4-BE49-F238E27FC236}">
                <a16:creationId xmlns:a16="http://schemas.microsoft.com/office/drawing/2014/main" id="{11CC106F-EAFE-884D-A851-05422A4A1ACA}"/>
              </a:ext>
            </a:extLst>
          </p:cNvPr>
          <p:cNvSpPr/>
          <p:nvPr/>
        </p:nvSpPr>
        <p:spPr>
          <a:xfrm>
            <a:off x="3871779" y="2227660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F527452D-49F2-1A4D-B8A1-157B9C0A1D29}"/>
              </a:ext>
            </a:extLst>
          </p:cNvPr>
          <p:cNvCxnSpPr>
            <a:stCxn id="16" idx="4"/>
          </p:cNvCxnSpPr>
          <p:nvPr/>
        </p:nvCxnSpPr>
        <p:spPr>
          <a:xfrm>
            <a:off x="3961779" y="2407660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17">
            <a:extLst>
              <a:ext uri="{FF2B5EF4-FFF2-40B4-BE49-F238E27FC236}">
                <a16:creationId xmlns:a16="http://schemas.microsoft.com/office/drawing/2014/main" id="{046F5E2A-C7A4-644C-A82D-3007A7778272}"/>
              </a:ext>
            </a:extLst>
          </p:cNvPr>
          <p:cNvSpPr/>
          <p:nvPr/>
        </p:nvSpPr>
        <p:spPr>
          <a:xfrm>
            <a:off x="7813141" y="1963420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127E9E92-B11D-1B44-A522-2505C8C9D637}"/>
              </a:ext>
            </a:extLst>
          </p:cNvPr>
          <p:cNvSpPr/>
          <p:nvPr/>
        </p:nvSpPr>
        <p:spPr>
          <a:xfrm>
            <a:off x="3720730" y="1970161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0BFA177C-0C96-2948-BFDA-BEF341F29924}"/>
              </a:ext>
            </a:extLst>
          </p:cNvPr>
          <p:cNvSpPr/>
          <p:nvPr/>
        </p:nvSpPr>
        <p:spPr>
          <a:xfrm>
            <a:off x="2797199" y="297715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1337651B-14AB-674F-812B-0FE666A12584}"/>
              </a:ext>
            </a:extLst>
          </p:cNvPr>
          <p:cNvCxnSpPr>
            <a:stCxn id="20" idx="6"/>
            <a:endCxn id="5" idx="3"/>
          </p:cNvCxnSpPr>
          <p:nvPr/>
        </p:nvCxnSpPr>
        <p:spPr>
          <a:xfrm flipV="1">
            <a:off x="2977199" y="3066341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F79E01A0-481E-D644-9131-D944BF74A813}"/>
              </a:ext>
            </a:extLst>
          </p:cNvPr>
          <p:cNvSpPr/>
          <p:nvPr/>
        </p:nvSpPr>
        <p:spPr>
          <a:xfrm>
            <a:off x="2412418" y="321018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B994C607-96E7-5748-BE4B-80543F15D9F4}"/>
              </a:ext>
            </a:extLst>
          </p:cNvPr>
          <p:cNvSpPr/>
          <p:nvPr/>
        </p:nvSpPr>
        <p:spPr>
          <a:xfrm>
            <a:off x="9198175" y="2977151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B8693E74-6073-E847-BBE4-1664DD393622}"/>
              </a:ext>
            </a:extLst>
          </p:cNvPr>
          <p:cNvCxnSpPr>
            <a:stCxn id="23" idx="2"/>
            <a:endCxn id="10" idx="0"/>
          </p:cNvCxnSpPr>
          <p:nvPr/>
        </p:nvCxnSpPr>
        <p:spPr>
          <a:xfrm flipH="1" flipV="1">
            <a:off x="8725006" y="3066341"/>
            <a:ext cx="473169" cy="81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12093F1C-5F8B-0F49-B7EB-2C83D5E16293}"/>
              </a:ext>
            </a:extLst>
          </p:cNvPr>
          <p:cNvSpPr/>
          <p:nvPr/>
        </p:nvSpPr>
        <p:spPr>
          <a:xfrm>
            <a:off x="8813394" y="3210183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26" name="Connettore 2 59">
            <a:extLst>
              <a:ext uri="{FF2B5EF4-FFF2-40B4-BE49-F238E27FC236}">
                <a16:creationId xmlns:a16="http://schemas.microsoft.com/office/drawing/2014/main" id="{2FECBFF2-3900-7444-B5E4-E62F4C46A941}"/>
              </a:ext>
            </a:extLst>
          </p:cNvPr>
          <p:cNvCxnSpPr>
            <a:stCxn id="16" idx="6"/>
            <a:endCxn id="10" idx="3"/>
          </p:cNvCxnSpPr>
          <p:nvPr/>
        </p:nvCxnSpPr>
        <p:spPr>
          <a:xfrm>
            <a:off x="4051779" y="2317660"/>
            <a:ext cx="3394238" cy="748681"/>
          </a:xfrm>
          <a:prstGeom prst="bentConnector3">
            <a:avLst>
              <a:gd name="adj1" fmla="val 1906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91697F28-486D-D742-8616-7DB0CF56691F}"/>
              </a:ext>
            </a:extLst>
          </p:cNvPr>
          <p:cNvSpPr/>
          <p:nvPr/>
        </p:nvSpPr>
        <p:spPr>
          <a:xfrm>
            <a:off x="4729587" y="2786953"/>
            <a:ext cx="266932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[GET] /user/username/{username}</a:t>
            </a:r>
          </a:p>
        </p:txBody>
      </p:sp>
      <p:pic>
        <p:nvPicPr>
          <p:cNvPr id="34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755BDB9E-C804-DC4D-BB24-DEC71FC26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975" y="5503862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332EF9C9-83E4-D047-8118-67CE2D9B8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975" y="5897358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19C0E020-3A0D-2544-ACF1-3DBB84E42085}"/>
              </a:ext>
            </a:extLst>
          </p:cNvPr>
          <p:cNvSpPr txBox="1"/>
          <p:nvPr/>
        </p:nvSpPr>
        <p:spPr>
          <a:xfrm>
            <a:off x="7809625" y="5488329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boot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EE7F1076-B5E0-8542-A963-3EDE16336E37}"/>
              </a:ext>
            </a:extLst>
          </p:cNvPr>
          <p:cNvSpPr txBox="1"/>
          <p:nvPr/>
        </p:nvSpPr>
        <p:spPr>
          <a:xfrm>
            <a:off x="7806253" y="5875215"/>
            <a:ext cx="997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data</a:t>
            </a:r>
          </a:p>
        </p:txBody>
      </p:sp>
      <p:pic>
        <p:nvPicPr>
          <p:cNvPr id="39" name="Picture 2" descr="Tutorial">
            <a:extLst>
              <a:ext uri="{FF2B5EF4-FFF2-40B4-BE49-F238E27FC236}">
                <a16:creationId xmlns:a16="http://schemas.microsoft.com/office/drawing/2014/main" id="{2B315AF4-D18E-0647-87DD-C730157A4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639" y="3783488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Tutorial">
            <a:extLst>
              <a:ext uri="{FF2B5EF4-FFF2-40B4-BE49-F238E27FC236}">
                <a16:creationId xmlns:a16="http://schemas.microsoft.com/office/drawing/2014/main" id="{47AB8FF5-62AA-FA40-8D9E-086F671C7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443" y="3821434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ttangolo 40">
            <a:extLst>
              <a:ext uri="{FF2B5EF4-FFF2-40B4-BE49-F238E27FC236}">
                <a16:creationId xmlns:a16="http://schemas.microsoft.com/office/drawing/2014/main" id="{8F444655-2935-7A47-8B3B-88556FDBDD1D}"/>
              </a:ext>
            </a:extLst>
          </p:cNvPr>
          <p:cNvSpPr/>
          <p:nvPr/>
        </p:nvSpPr>
        <p:spPr>
          <a:xfrm>
            <a:off x="3226480" y="4481942"/>
            <a:ext cx="146706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user H2 database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EDE82638-C0B0-7B4F-816C-B85B75640DF9}"/>
              </a:ext>
            </a:extLst>
          </p:cNvPr>
          <p:cNvSpPr/>
          <p:nvPr/>
        </p:nvSpPr>
        <p:spPr>
          <a:xfrm>
            <a:off x="7329496" y="4479563"/>
            <a:ext cx="138691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job H2 database</a:t>
            </a:r>
          </a:p>
        </p:txBody>
      </p:sp>
    </p:spTree>
    <p:extLst>
      <p:ext uri="{BB962C8B-B14F-4D97-AF65-F5344CB8AC3E}">
        <p14:creationId xmlns:p14="http://schemas.microsoft.com/office/powerpoint/2010/main" val="162804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5E2A33-8119-7D41-B61E-EF537163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the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2B5F78-C1B8-704B-98B1-409F66724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25183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Run both (micro)services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Get list of users and jobs</a:t>
            </a:r>
          </a:p>
          <a:p>
            <a:pPr lvl="1"/>
            <a:r>
              <a:rPr lang="en-US" sz="1800" dirty="0"/>
              <a:t>[GET] http://localhost:9044/user</a:t>
            </a:r>
          </a:p>
          <a:p>
            <a:pPr lvl="1"/>
            <a:r>
              <a:rPr lang="en-US" sz="1800" dirty="0"/>
              <a:t>[GET] http://localhosst:9055/job</a:t>
            </a:r>
          </a:p>
          <a:p>
            <a:pPr lvl="1"/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Post a new job offer</a:t>
            </a:r>
          </a:p>
          <a:p>
            <a:pPr lvl="1"/>
            <a:r>
              <a:rPr lang="en-US" sz="1800" dirty="0"/>
              <a:t>[POST] http://localhost:9055/job</a:t>
            </a:r>
          </a:p>
          <a:p>
            <a:pPr lvl="1"/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Apply for a job</a:t>
            </a:r>
          </a:p>
          <a:p>
            <a:pPr lvl="1"/>
            <a:r>
              <a:rPr lang="en-US" sz="1800" dirty="0"/>
              <a:t>[GET] http://localhost:9055/job/apply/&lt;USERNAME&gt;/&lt;JOB_ID&gt;</a:t>
            </a:r>
          </a:p>
          <a:p>
            <a:pPr lvl="1"/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Get the details of the applied job</a:t>
            </a:r>
          </a:p>
          <a:p>
            <a:pPr lvl="1"/>
            <a:r>
              <a:rPr lang="en-US" sz="1600" dirty="0"/>
              <a:t>[GET] http://localhosst:9055/job/&lt;JOB_ID&gt;</a:t>
            </a:r>
          </a:p>
          <a:p>
            <a:pPr lvl="1"/>
            <a:endParaRPr lang="en-US" sz="16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C4B5DEB-BCCF-DF44-88E6-97F6F0C79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728" y="1176401"/>
            <a:ext cx="4534264" cy="22525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330F061-8652-0E4E-B9FE-F94E343E3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629863"/>
            <a:ext cx="3895344" cy="31253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2E361BE9-148E-A841-A457-54FD5ECCCABC}"/>
              </a:ext>
            </a:extLst>
          </p:cNvPr>
          <p:cNvSpPr/>
          <p:nvPr/>
        </p:nvSpPr>
        <p:spPr>
          <a:xfrm>
            <a:off x="4828032" y="3008376"/>
            <a:ext cx="1847088" cy="438912"/>
          </a:xfrm>
          <a:custGeom>
            <a:avLst/>
            <a:gdLst>
              <a:gd name="connsiteX0" fmla="*/ 0 w 1682496"/>
              <a:gd name="connsiteY0" fmla="*/ 356616 h 356616"/>
              <a:gd name="connsiteX1" fmla="*/ 438912 w 1682496"/>
              <a:gd name="connsiteY1" fmla="*/ 320040 h 356616"/>
              <a:gd name="connsiteX2" fmla="*/ 1106424 w 1682496"/>
              <a:gd name="connsiteY2" fmla="*/ 192024 h 356616"/>
              <a:gd name="connsiteX3" fmla="*/ 1682496 w 1682496"/>
              <a:gd name="connsiteY3" fmla="*/ 0 h 356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2496" h="356616">
                <a:moveTo>
                  <a:pt x="0" y="356616"/>
                </a:moveTo>
                <a:cubicBezTo>
                  <a:pt x="127254" y="352044"/>
                  <a:pt x="254508" y="347472"/>
                  <a:pt x="438912" y="320040"/>
                </a:cubicBezTo>
                <a:cubicBezTo>
                  <a:pt x="623316" y="292608"/>
                  <a:pt x="899160" y="245364"/>
                  <a:pt x="1106424" y="192024"/>
                </a:cubicBezTo>
                <a:cubicBezTo>
                  <a:pt x="1313688" y="138684"/>
                  <a:pt x="1498092" y="69342"/>
                  <a:pt x="1682496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F3B8A9E7-8A20-834B-87CC-8DF53A8CC0CC}"/>
              </a:ext>
            </a:extLst>
          </p:cNvPr>
          <p:cNvCxnSpPr>
            <a:cxnSpLocks/>
          </p:cNvCxnSpPr>
          <p:nvPr/>
        </p:nvCxnSpPr>
        <p:spPr>
          <a:xfrm>
            <a:off x="5385816" y="5486400"/>
            <a:ext cx="2157984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427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277B85-8E52-8F45-A38D-ED440A13D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an API Gateway</a:t>
            </a:r>
          </a:p>
        </p:txBody>
      </p:sp>
    </p:spTree>
    <p:extLst>
      <p:ext uri="{BB962C8B-B14F-4D97-AF65-F5344CB8AC3E}">
        <p14:creationId xmlns:p14="http://schemas.microsoft.com/office/powerpoint/2010/main" val="2916382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40DD09-4892-3444-BCCE-C482E07D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Esagono 47">
            <a:extLst>
              <a:ext uri="{FF2B5EF4-FFF2-40B4-BE49-F238E27FC236}">
                <a16:creationId xmlns:a16="http://schemas.microsoft.com/office/drawing/2014/main" id="{2B30F3F6-67AF-B24C-84EB-D4D56C006EE8}"/>
              </a:ext>
            </a:extLst>
          </p:cNvPr>
          <p:cNvSpPr/>
          <p:nvPr/>
        </p:nvSpPr>
        <p:spPr>
          <a:xfrm>
            <a:off x="5182959" y="1519541"/>
            <a:ext cx="1524594" cy="696577"/>
          </a:xfrm>
          <a:prstGeom prst="hexagon">
            <a:avLst/>
          </a:prstGeom>
          <a:solidFill>
            <a:schemeClr val="bg1"/>
          </a:solidFill>
          <a:ln w="9525">
            <a:solidFill>
              <a:srgbClr val="2C5F84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openjob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-gateway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(9000)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<a:extLst>
              <a:ext uri="{FF2B5EF4-FFF2-40B4-BE49-F238E27FC236}">
                <a16:creationId xmlns:a16="http://schemas.microsoft.com/office/drawing/2014/main" id="{62885465-8D16-AE45-A6BD-CB73BFFA3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109" y="1979049"/>
            <a:ext cx="216000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6FD367FF-4E51-3849-A541-6DA459CF2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331" y="1965698"/>
            <a:ext cx="216000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ttore 2 59">
            <a:extLst>
              <a:ext uri="{FF2B5EF4-FFF2-40B4-BE49-F238E27FC236}">
                <a16:creationId xmlns:a16="http://schemas.microsoft.com/office/drawing/2014/main" id="{117E64E8-7FF5-1E47-B155-A5076BE3501E}"/>
              </a:ext>
            </a:extLst>
          </p:cNvPr>
          <p:cNvCxnSpPr/>
          <p:nvPr/>
        </p:nvCxnSpPr>
        <p:spPr>
          <a:xfrm flipV="1">
            <a:off x="3955191" y="4381482"/>
            <a:ext cx="5" cy="3471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agono 2">
            <a:extLst>
              <a:ext uri="{FF2B5EF4-FFF2-40B4-BE49-F238E27FC236}">
                <a16:creationId xmlns:a16="http://schemas.microsoft.com/office/drawing/2014/main" id="{92A2F11B-937A-3D4C-A4AD-E453897C709C}"/>
              </a:ext>
            </a:extLst>
          </p:cNvPr>
          <p:cNvSpPr/>
          <p:nvPr/>
        </p:nvSpPr>
        <p:spPr>
          <a:xfrm>
            <a:off x="3318516" y="3661862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user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(9044)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9E1A771C-B2EE-EB49-A6F1-A6D8628D9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938" y="4060516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068DCD53-48BC-B341-B558-E95B00049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819" y="4061143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nettore 2 59">
            <a:extLst>
              <a:ext uri="{FF2B5EF4-FFF2-40B4-BE49-F238E27FC236}">
                <a16:creationId xmlns:a16="http://schemas.microsoft.com/office/drawing/2014/main" id="{1E53A7DD-B9E0-544D-9701-1827C30D35E9}"/>
              </a:ext>
            </a:extLst>
          </p:cNvPr>
          <p:cNvCxnSpPr/>
          <p:nvPr/>
        </p:nvCxnSpPr>
        <p:spPr>
          <a:xfrm flipH="1" flipV="1">
            <a:off x="8077874" y="4381482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agono 28">
            <a:extLst>
              <a:ext uri="{FF2B5EF4-FFF2-40B4-BE49-F238E27FC236}">
                <a16:creationId xmlns:a16="http://schemas.microsoft.com/office/drawing/2014/main" id="{966072DC-E864-C748-9F8A-C3EB7D945873}"/>
              </a:ext>
            </a:extLst>
          </p:cNvPr>
          <p:cNvSpPr/>
          <p:nvPr/>
        </p:nvSpPr>
        <p:spPr>
          <a:xfrm>
            <a:off x="7441194" y="3661862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job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(9055)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1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407F3E5B-BAB6-EC42-AC39-CF114B95D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557" y="4059795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FFF79613-4059-6342-A3B0-47962EE75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164" y="4060422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3AE65CDC-BF42-6E48-998B-A084209CB21F}"/>
              </a:ext>
            </a:extLst>
          </p:cNvPr>
          <p:cNvSpPr/>
          <p:nvPr/>
        </p:nvSpPr>
        <p:spPr>
          <a:xfrm>
            <a:off x="7991915" y="3196217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16D6B6A0-165D-CC43-A648-DB7E0D2D5EAC}"/>
              </a:ext>
            </a:extLst>
          </p:cNvPr>
          <p:cNvCxnSpPr>
            <a:stCxn id="14" idx="4"/>
          </p:cNvCxnSpPr>
          <p:nvPr/>
        </p:nvCxnSpPr>
        <p:spPr>
          <a:xfrm>
            <a:off x="8081915" y="3376217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e 15">
            <a:extLst>
              <a:ext uri="{FF2B5EF4-FFF2-40B4-BE49-F238E27FC236}">
                <a16:creationId xmlns:a16="http://schemas.microsoft.com/office/drawing/2014/main" id="{5C248491-77A4-9045-989C-428AB63539E7}"/>
              </a:ext>
            </a:extLst>
          </p:cNvPr>
          <p:cNvSpPr/>
          <p:nvPr/>
        </p:nvSpPr>
        <p:spPr>
          <a:xfrm>
            <a:off x="3866956" y="3193431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6E07F849-1348-CE44-B7D4-76B1C3764B58}"/>
              </a:ext>
            </a:extLst>
          </p:cNvPr>
          <p:cNvCxnSpPr>
            <a:stCxn id="16" idx="4"/>
          </p:cNvCxnSpPr>
          <p:nvPr/>
        </p:nvCxnSpPr>
        <p:spPr>
          <a:xfrm>
            <a:off x="3956956" y="3373431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17">
            <a:extLst>
              <a:ext uri="{FF2B5EF4-FFF2-40B4-BE49-F238E27FC236}">
                <a16:creationId xmlns:a16="http://schemas.microsoft.com/office/drawing/2014/main" id="{D7533418-2E3E-1347-B181-E8FBEEB966BB}"/>
              </a:ext>
            </a:extLst>
          </p:cNvPr>
          <p:cNvSpPr/>
          <p:nvPr/>
        </p:nvSpPr>
        <p:spPr>
          <a:xfrm>
            <a:off x="7808318" y="2929191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945F1CB-C247-4A41-8419-A36EA0F25416}"/>
              </a:ext>
            </a:extLst>
          </p:cNvPr>
          <p:cNvSpPr/>
          <p:nvPr/>
        </p:nvSpPr>
        <p:spPr>
          <a:xfrm>
            <a:off x="3715907" y="2935932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6189AFD3-05C2-D149-B02F-874C18EFB0FA}"/>
              </a:ext>
            </a:extLst>
          </p:cNvPr>
          <p:cNvSpPr/>
          <p:nvPr/>
        </p:nvSpPr>
        <p:spPr>
          <a:xfrm>
            <a:off x="2792376" y="394292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00462904-0894-8E43-BBD6-38AE6897E9AB}"/>
              </a:ext>
            </a:extLst>
          </p:cNvPr>
          <p:cNvCxnSpPr>
            <a:stCxn id="20" idx="6"/>
            <a:endCxn id="7" idx="3"/>
          </p:cNvCxnSpPr>
          <p:nvPr/>
        </p:nvCxnSpPr>
        <p:spPr>
          <a:xfrm flipV="1">
            <a:off x="2972376" y="4032112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343EA8B6-2354-684D-AB94-2210AFB39ADD}"/>
              </a:ext>
            </a:extLst>
          </p:cNvPr>
          <p:cNvSpPr/>
          <p:nvPr/>
        </p:nvSpPr>
        <p:spPr>
          <a:xfrm>
            <a:off x="2407595" y="4175955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97D03481-613E-1245-966E-57E64B68578A}"/>
              </a:ext>
            </a:extLst>
          </p:cNvPr>
          <p:cNvSpPr/>
          <p:nvPr/>
        </p:nvSpPr>
        <p:spPr>
          <a:xfrm>
            <a:off x="9193352" y="394292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1DBC5BA9-9174-FE4B-BCA6-C3D6C000B8E7}"/>
              </a:ext>
            </a:extLst>
          </p:cNvPr>
          <p:cNvCxnSpPr>
            <a:stCxn id="23" idx="2"/>
            <a:endCxn id="11" idx="0"/>
          </p:cNvCxnSpPr>
          <p:nvPr/>
        </p:nvCxnSpPr>
        <p:spPr>
          <a:xfrm flipH="1" flipV="1">
            <a:off x="8720183" y="4032112"/>
            <a:ext cx="473169" cy="81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C4437B88-0992-AD4E-8B54-DA5D4CD51D8E}"/>
              </a:ext>
            </a:extLst>
          </p:cNvPr>
          <p:cNvSpPr/>
          <p:nvPr/>
        </p:nvSpPr>
        <p:spPr>
          <a:xfrm>
            <a:off x="8808571" y="417595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26" name="Connettore 2 59">
            <a:extLst>
              <a:ext uri="{FF2B5EF4-FFF2-40B4-BE49-F238E27FC236}">
                <a16:creationId xmlns:a16="http://schemas.microsoft.com/office/drawing/2014/main" id="{8C00D0DA-32B6-4C4F-AC7E-DF593970C3CA}"/>
              </a:ext>
            </a:extLst>
          </p:cNvPr>
          <p:cNvCxnSpPr>
            <a:stCxn id="16" idx="6"/>
            <a:endCxn id="11" idx="3"/>
          </p:cNvCxnSpPr>
          <p:nvPr/>
        </p:nvCxnSpPr>
        <p:spPr>
          <a:xfrm>
            <a:off x="4046956" y="3283431"/>
            <a:ext cx="3394238" cy="748681"/>
          </a:xfrm>
          <a:prstGeom prst="bentConnector3">
            <a:avLst>
              <a:gd name="adj1" fmla="val 1906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109B395B-29F0-E844-BC32-7745B56F77E4}"/>
              </a:ext>
            </a:extLst>
          </p:cNvPr>
          <p:cNvSpPr/>
          <p:nvPr/>
        </p:nvSpPr>
        <p:spPr>
          <a:xfrm>
            <a:off x="4724764" y="3752724"/>
            <a:ext cx="266932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[GET] /user/username/{username}</a:t>
            </a:r>
          </a:p>
        </p:txBody>
      </p:sp>
      <p:pic>
        <p:nvPicPr>
          <p:cNvPr id="28" name="Picture 2" descr="Tutorial">
            <a:extLst>
              <a:ext uri="{FF2B5EF4-FFF2-40B4-BE49-F238E27FC236}">
                <a16:creationId xmlns:a16="http://schemas.microsoft.com/office/drawing/2014/main" id="{FA06FC68-E61B-AC4F-A27A-3D5B871BD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816" y="4749259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Tutorial">
            <a:extLst>
              <a:ext uri="{FF2B5EF4-FFF2-40B4-BE49-F238E27FC236}">
                <a16:creationId xmlns:a16="http://schemas.microsoft.com/office/drawing/2014/main" id="{08EBBDD5-ADAB-BE47-A84A-F48FB1874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620" y="4787205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ttangolo 29">
            <a:extLst>
              <a:ext uri="{FF2B5EF4-FFF2-40B4-BE49-F238E27FC236}">
                <a16:creationId xmlns:a16="http://schemas.microsoft.com/office/drawing/2014/main" id="{7FD88DF8-D73B-8E47-A500-46331A1512BC}"/>
              </a:ext>
            </a:extLst>
          </p:cNvPr>
          <p:cNvSpPr/>
          <p:nvPr/>
        </p:nvSpPr>
        <p:spPr>
          <a:xfrm>
            <a:off x="3221657" y="5447713"/>
            <a:ext cx="146706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user H2 database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5B3F01A8-E4B8-8D4A-9212-F7786965A76F}"/>
              </a:ext>
            </a:extLst>
          </p:cNvPr>
          <p:cNvSpPr/>
          <p:nvPr/>
        </p:nvSpPr>
        <p:spPr>
          <a:xfrm>
            <a:off x="7324673" y="5445334"/>
            <a:ext cx="138691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job H2 database</a:t>
            </a:r>
          </a:p>
        </p:txBody>
      </p:sp>
      <p:cxnSp>
        <p:nvCxnSpPr>
          <p:cNvPr id="32" name="Connettore 2 59">
            <a:extLst>
              <a:ext uri="{FF2B5EF4-FFF2-40B4-BE49-F238E27FC236}">
                <a16:creationId xmlns:a16="http://schemas.microsoft.com/office/drawing/2014/main" id="{14A238BC-E1E3-D549-A469-8734E01EF967}"/>
              </a:ext>
            </a:extLst>
          </p:cNvPr>
          <p:cNvCxnSpPr>
            <a:cxnSpLocks/>
          </p:cNvCxnSpPr>
          <p:nvPr/>
        </p:nvCxnSpPr>
        <p:spPr>
          <a:xfrm flipV="1">
            <a:off x="3971070" y="2599708"/>
            <a:ext cx="4116983" cy="344973"/>
          </a:xfrm>
          <a:prstGeom prst="bentConnector3">
            <a:avLst>
              <a:gd name="adj1" fmla="val 26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59">
            <a:extLst>
              <a:ext uri="{FF2B5EF4-FFF2-40B4-BE49-F238E27FC236}">
                <a16:creationId xmlns:a16="http://schemas.microsoft.com/office/drawing/2014/main" id="{2B2D8E53-5A40-8846-8EB3-240A3580BEE9}"/>
              </a:ext>
            </a:extLst>
          </p:cNvPr>
          <p:cNvCxnSpPr>
            <a:cxnSpLocks/>
          </p:cNvCxnSpPr>
          <p:nvPr/>
        </p:nvCxnSpPr>
        <p:spPr>
          <a:xfrm flipV="1">
            <a:off x="8088707" y="2613317"/>
            <a:ext cx="0" cy="31919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59">
            <a:extLst>
              <a:ext uri="{FF2B5EF4-FFF2-40B4-BE49-F238E27FC236}">
                <a16:creationId xmlns:a16="http://schemas.microsoft.com/office/drawing/2014/main" id="{E310BE94-2CFD-C74D-AAA0-B47E962021E4}"/>
              </a:ext>
            </a:extLst>
          </p:cNvPr>
          <p:cNvCxnSpPr/>
          <p:nvPr/>
        </p:nvCxnSpPr>
        <p:spPr>
          <a:xfrm flipH="1" flipV="1">
            <a:off x="5946766" y="2232979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EF92890A-6107-9A4B-A8A3-94BAA3FB9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0961" y="5004480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D580711D-9B63-6845-8706-AA9EFBD82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4333" y="5375655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6C78AF17-0219-3B49-A9C9-F836EC6A5405}"/>
              </a:ext>
            </a:extLst>
          </p:cNvPr>
          <p:cNvSpPr txBox="1"/>
          <p:nvPr/>
        </p:nvSpPr>
        <p:spPr>
          <a:xfrm>
            <a:off x="10242611" y="4988947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boot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850CAFA2-51C6-3C47-A2CA-1122F287429C}"/>
              </a:ext>
            </a:extLst>
          </p:cNvPr>
          <p:cNvSpPr txBox="1"/>
          <p:nvPr/>
        </p:nvSpPr>
        <p:spPr>
          <a:xfrm>
            <a:off x="10242611" y="5353512"/>
            <a:ext cx="997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data</a:t>
            </a:r>
          </a:p>
        </p:txBody>
      </p:sp>
      <p:pic>
        <p:nvPicPr>
          <p:cNvPr id="51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<a:extLst>
              <a:ext uri="{FF2B5EF4-FFF2-40B4-BE49-F238E27FC236}">
                <a16:creationId xmlns:a16="http://schemas.microsoft.com/office/drawing/2014/main" id="{973B827A-ABF0-7A4D-A29E-EB62D8FE2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078" y="5701629"/>
            <a:ext cx="331200" cy="33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BF114FA8-15E9-5F4C-9023-7A722040367B}"/>
              </a:ext>
            </a:extLst>
          </p:cNvPr>
          <p:cNvSpPr txBox="1"/>
          <p:nvPr/>
        </p:nvSpPr>
        <p:spPr>
          <a:xfrm>
            <a:off x="10245356" y="5680525"/>
            <a:ext cx="1075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cloud</a:t>
            </a:r>
          </a:p>
        </p:txBody>
      </p:sp>
    </p:spTree>
    <p:extLst>
      <p:ext uri="{BB962C8B-B14F-4D97-AF65-F5344CB8AC3E}">
        <p14:creationId xmlns:p14="http://schemas.microsoft.com/office/powerpoint/2010/main" val="2353527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B301B8-E801-2946-8238-E5153407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Gateway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9EC591-9A2B-E442-AC25-005710A1A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Spring Cloud</a:t>
            </a:r>
          </a:p>
          <a:p>
            <a:pPr lvl="1"/>
            <a:r>
              <a:rPr lang="en-US" sz="1800" dirty="0"/>
              <a:t>Spring Cloud is an umbrella containing different projects</a:t>
            </a:r>
          </a:p>
          <a:p>
            <a:pPr lvl="1"/>
            <a:r>
              <a:rPr lang="en-US" sz="1800" dirty="0"/>
              <a:t>Provides tools for developers to quickly build some of the common patterns in distributed systems</a:t>
            </a:r>
          </a:p>
          <a:p>
            <a:pPr lvl="1"/>
            <a:r>
              <a:rPr lang="en-US" sz="1800" dirty="0"/>
              <a:t>Distributed configuration, service discovery, routing, load balancing, …</a:t>
            </a:r>
          </a:p>
          <a:p>
            <a:pPr lvl="1"/>
            <a:endParaRPr lang="en-US" sz="1800" dirty="0"/>
          </a:p>
          <a:p>
            <a:r>
              <a:rPr lang="en-US" sz="2000" dirty="0"/>
              <a:t>Spring Cloud Gateway</a:t>
            </a:r>
          </a:p>
          <a:p>
            <a:pPr lvl="1"/>
            <a:r>
              <a:rPr lang="en-US" sz="1800" dirty="0"/>
              <a:t>Library for building an API Gateway on top of Spring </a:t>
            </a:r>
            <a:r>
              <a:rPr lang="en-US" sz="1800" dirty="0" err="1"/>
              <a:t>WebFlux</a:t>
            </a:r>
            <a:endParaRPr lang="en-US" sz="1800" dirty="0"/>
          </a:p>
          <a:p>
            <a:pPr lvl="1"/>
            <a:r>
              <a:rPr lang="en-US" sz="1800" dirty="0"/>
              <a:t>Out-of-the-box routing mechanisms</a:t>
            </a:r>
          </a:p>
          <a:p>
            <a:pPr lvl="1"/>
            <a:r>
              <a:rPr lang="en-US" sz="1800" dirty="0"/>
              <a:t>Main configuration components:</a:t>
            </a:r>
          </a:p>
          <a:p>
            <a:pPr lvl="2"/>
            <a:r>
              <a:rPr lang="en-US" sz="1800" dirty="0"/>
              <a:t>Route: consists of an ID, a destination URI, a set of predicates and filters</a:t>
            </a:r>
          </a:p>
          <a:p>
            <a:pPr lvl="2"/>
            <a:r>
              <a:rPr lang="en-US" sz="1800" dirty="0"/>
              <a:t>Predicates: match URI, headers or parameters from the HTTP request</a:t>
            </a:r>
          </a:p>
          <a:p>
            <a:pPr lvl="2"/>
            <a:r>
              <a:rPr lang="en-US" sz="1800" dirty="0"/>
              <a:t>Filters: allow to modify requests and responses</a:t>
            </a:r>
          </a:p>
          <a:p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939370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996CBC-B319-7F4F-A16A-CEF85704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 a Spring Cloud Gateway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2DB341-31A7-B848-80B1-3DBE00AAC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From the Spring </a:t>
            </a:r>
            <a:r>
              <a:rPr lang="en-US" sz="2000"/>
              <a:t>Initializer</a:t>
            </a:r>
            <a:r>
              <a:rPr lang="en-US" sz="2000" dirty="0"/>
              <a:t> or from Spring Tools</a:t>
            </a:r>
          </a:p>
          <a:p>
            <a:pPr lvl="1"/>
            <a:r>
              <a:rPr lang="en-US" sz="1600" dirty="0"/>
              <a:t>Select Gateway dependency</a:t>
            </a:r>
          </a:p>
          <a:p>
            <a:pPr lvl="1"/>
            <a:endParaRPr lang="en-US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7E432CF-AD70-CC4D-81BA-B588D0AB8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438" y="1931136"/>
            <a:ext cx="3871722" cy="4763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754356A-C4C6-7F41-BFFA-0B56CB910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354" y="1931136"/>
            <a:ext cx="3871722" cy="4763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95C40E-AF82-2626-577A-502DFEF9AE88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q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BD913C-96B4-D94D-9AE0-6D49D350E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the gateway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B74A9A99-5CF1-8041-93EA-C7B57101A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922"/>
          <a:stretch/>
        </p:blipFill>
        <p:spPr>
          <a:xfrm>
            <a:off x="6656253" y="2801239"/>
            <a:ext cx="4273875" cy="28346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89DBD7F-DC80-FF49-A5D1-4C698FD6A5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89"/>
          <a:stretch/>
        </p:blipFill>
        <p:spPr>
          <a:xfrm>
            <a:off x="1597151" y="2954147"/>
            <a:ext cx="3514695" cy="2142236"/>
          </a:xfrm>
          <a:prstGeom prst="rect">
            <a:avLst/>
          </a:prstGeom>
        </p:spPr>
      </p:pic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93993FC-6A08-634C-B539-664D68A15B8A}"/>
              </a:ext>
            </a:extLst>
          </p:cNvPr>
          <p:cNvSpPr/>
          <p:nvPr/>
        </p:nvSpPr>
        <p:spPr>
          <a:xfrm>
            <a:off x="2157984" y="3907663"/>
            <a:ext cx="1362456" cy="256032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D2E7169-E7B0-B247-BDFA-FB881EAECCCC}"/>
              </a:ext>
            </a:extLst>
          </p:cNvPr>
          <p:cNvCxnSpPr>
            <a:cxnSpLocks/>
          </p:cNvCxnSpPr>
          <p:nvPr/>
        </p:nvCxnSpPr>
        <p:spPr>
          <a:xfrm>
            <a:off x="3611880" y="4035679"/>
            <a:ext cx="2734056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4C1CB5E0-FF42-6D4E-99A4-687118AABA65}"/>
              </a:ext>
            </a:extLst>
          </p:cNvPr>
          <p:cNvSpPr txBox="1">
            <a:spLocks/>
          </p:cNvSpPr>
          <p:nvPr/>
        </p:nvSpPr>
        <p:spPr>
          <a:xfrm>
            <a:off x="838200" y="1222121"/>
            <a:ext cx="10515600" cy="1146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Routes we want to expose to clients:</a:t>
            </a:r>
          </a:p>
          <a:p>
            <a:pPr lvl="1"/>
            <a:r>
              <a:rPr lang="en-US" sz="1600" dirty="0"/>
              <a:t>http://localhost:9000/</a:t>
            </a:r>
            <a:r>
              <a:rPr lang="en-US" sz="1600" dirty="0" err="1"/>
              <a:t>api</a:t>
            </a:r>
            <a:r>
              <a:rPr lang="en-US" sz="1600" dirty="0"/>
              <a:t>/</a:t>
            </a:r>
            <a:r>
              <a:rPr lang="en-US" sz="1600" dirty="0" err="1"/>
              <a:t>usr</a:t>
            </a:r>
            <a:r>
              <a:rPr lang="en-US" sz="1600" dirty="0"/>
              <a:t> for User service</a:t>
            </a:r>
          </a:p>
          <a:p>
            <a:pPr lvl="1"/>
            <a:r>
              <a:rPr lang="en-US" sz="1600" dirty="0"/>
              <a:t>http://localhost:9000/</a:t>
            </a:r>
            <a:r>
              <a:rPr lang="en-US" sz="1600" dirty="0" err="1"/>
              <a:t>api</a:t>
            </a:r>
            <a:r>
              <a:rPr lang="en-US" sz="1600" dirty="0"/>
              <a:t>/job for Job service</a:t>
            </a:r>
          </a:p>
        </p:txBody>
      </p:sp>
    </p:spTree>
    <p:extLst>
      <p:ext uri="{BB962C8B-B14F-4D97-AF65-F5344CB8AC3E}">
        <p14:creationId xmlns:p14="http://schemas.microsoft.com/office/powerpoint/2010/main" val="2631440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DF7F4D-0C3E-194B-A25E-8C1EE401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Decentralize microservice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785604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EDFFF6-B09D-6349-A269-88EE3889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microservices configuration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AF32D6-AFDD-4344-9D73-6ECDAC4BF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841795"/>
          </a:xfrm>
        </p:spPr>
        <p:txBody>
          <a:bodyPr>
            <a:normAutofit/>
          </a:bodyPr>
          <a:lstStyle/>
          <a:p>
            <a:r>
              <a:rPr lang="en-US" sz="2400" dirty="0"/>
              <a:t>Maintain and manage the configuration of microservices is complex</a:t>
            </a:r>
          </a:p>
          <a:p>
            <a:pPr lvl="1"/>
            <a:r>
              <a:rPr lang="en-US" sz="2000" dirty="0"/>
              <a:t>Hundreds of services with different configurations</a:t>
            </a:r>
          </a:p>
          <a:p>
            <a:pPr lvl="1"/>
            <a:r>
              <a:rPr lang="en-US" sz="2000" dirty="0"/>
              <a:t>Usually done through configuration files</a:t>
            </a:r>
          </a:p>
          <a:p>
            <a:pPr lvl="1"/>
            <a:r>
              <a:rPr lang="en-US" sz="2000" dirty="0"/>
              <a:t>Config updates need restart</a:t>
            </a:r>
          </a:p>
          <a:p>
            <a:endParaRPr lang="en-US" sz="2400" dirty="0"/>
          </a:p>
          <a:p>
            <a:r>
              <a:rPr lang="en-US" sz="2400" dirty="0"/>
              <a:t>Centralized mechanism for maintain configuration is convenient</a:t>
            </a:r>
          </a:p>
          <a:p>
            <a:pPr lvl="1"/>
            <a:r>
              <a:rPr lang="en-US" sz="2000" dirty="0"/>
              <a:t>Store the properties of all the microservices</a:t>
            </a:r>
          </a:p>
          <a:p>
            <a:pPr lvl="1"/>
            <a:r>
              <a:rPr lang="en-US" sz="2000" dirty="0"/>
              <a:t>A centralized server receives the changes and updates properties</a:t>
            </a:r>
          </a:p>
          <a:p>
            <a:endParaRPr lang="en-US" sz="2400" dirty="0"/>
          </a:p>
          <a:p>
            <a:r>
              <a:rPr lang="en-US" sz="2400" dirty="0"/>
              <a:t>Externalized configuration</a:t>
            </a:r>
          </a:p>
          <a:p>
            <a:pPr lvl="1"/>
            <a:r>
              <a:rPr lang="en-US" sz="2000" dirty="0"/>
              <a:t>Spring Cloud Config provides this support</a:t>
            </a:r>
          </a:p>
        </p:txBody>
      </p:sp>
    </p:spTree>
    <p:extLst>
      <p:ext uri="{BB962C8B-B14F-4D97-AF65-F5344CB8AC3E}">
        <p14:creationId xmlns:p14="http://schemas.microsoft.com/office/powerpoint/2010/main" val="1013472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433873A1-C16A-E243-B405-287B985EA413}"/>
              </a:ext>
            </a:extLst>
          </p:cNvPr>
          <p:cNvCxnSpPr/>
          <p:nvPr/>
        </p:nvCxnSpPr>
        <p:spPr>
          <a:xfrm>
            <a:off x="3848262" y="3543658"/>
            <a:ext cx="0" cy="69503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agono 37">
            <a:extLst>
              <a:ext uri="{FF2B5EF4-FFF2-40B4-BE49-F238E27FC236}">
                <a16:creationId xmlns:a16="http://schemas.microsoft.com/office/drawing/2014/main" id="{B05F2029-6FA4-A844-896A-06F5BBB23BFA}"/>
              </a:ext>
            </a:extLst>
          </p:cNvPr>
          <p:cNvSpPr/>
          <p:nvPr/>
        </p:nvSpPr>
        <p:spPr>
          <a:xfrm>
            <a:off x="3100142" y="4000782"/>
            <a:ext cx="1524594" cy="696577"/>
          </a:xfrm>
          <a:prstGeom prst="hexagon">
            <a:avLst/>
          </a:prstGeom>
          <a:solidFill>
            <a:schemeClr val="bg1"/>
          </a:solidFill>
          <a:ln w="9525">
            <a:solidFill>
              <a:srgbClr val="2C5F84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config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-server 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55" name="Connettore 2 59">
            <a:extLst>
              <a:ext uri="{FF2B5EF4-FFF2-40B4-BE49-F238E27FC236}">
                <a16:creationId xmlns:a16="http://schemas.microsoft.com/office/drawing/2014/main" id="{7CC19E20-5651-1248-82AB-715494F8021B}"/>
              </a:ext>
            </a:extLst>
          </p:cNvPr>
          <p:cNvCxnSpPr/>
          <p:nvPr/>
        </p:nvCxnSpPr>
        <p:spPr>
          <a:xfrm>
            <a:off x="3632735" y="4697359"/>
            <a:ext cx="0" cy="69503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7490168F-E5CC-CD40-8250-BBBF3AC2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</a:t>
            </a:r>
          </a:p>
        </p:txBody>
      </p:sp>
      <p:sp>
        <p:nvSpPr>
          <p:cNvPr id="7" name="Esagono 39">
            <a:extLst>
              <a:ext uri="{FF2B5EF4-FFF2-40B4-BE49-F238E27FC236}">
                <a16:creationId xmlns:a16="http://schemas.microsoft.com/office/drawing/2014/main" id="{22028321-F32A-C041-BEC8-102C89E9855E}"/>
              </a:ext>
            </a:extLst>
          </p:cNvPr>
          <p:cNvSpPr/>
          <p:nvPr/>
        </p:nvSpPr>
        <p:spPr>
          <a:xfrm>
            <a:off x="3067076" y="5348468"/>
            <a:ext cx="1590726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Microservice</a:t>
            </a:r>
            <a:endParaRPr lang="it-IT" sz="14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</a:t>
            </a:r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config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-client)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2" name="Connettore 2 59">
            <a:extLst>
              <a:ext uri="{FF2B5EF4-FFF2-40B4-BE49-F238E27FC236}">
                <a16:creationId xmlns:a16="http://schemas.microsoft.com/office/drawing/2014/main" id="{8F4BCD1A-668F-8249-9EF3-FE05F223F5EC}"/>
              </a:ext>
            </a:extLst>
          </p:cNvPr>
          <p:cNvCxnSpPr>
            <a:cxnSpLocks/>
            <a:endCxn id="21" idx="3"/>
          </p:cNvCxnSpPr>
          <p:nvPr/>
        </p:nvCxnSpPr>
        <p:spPr>
          <a:xfrm flipH="1" flipV="1">
            <a:off x="2031037" y="3288616"/>
            <a:ext cx="1601698" cy="14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59">
            <a:extLst>
              <a:ext uri="{FF2B5EF4-FFF2-40B4-BE49-F238E27FC236}">
                <a16:creationId xmlns:a16="http://schemas.microsoft.com/office/drawing/2014/main" id="{FE4DC323-FD23-2943-A269-055982C99E5D}"/>
              </a:ext>
            </a:extLst>
          </p:cNvPr>
          <p:cNvCxnSpPr>
            <a:cxnSpLocks/>
            <a:stCxn id="7" idx="3"/>
            <a:endCxn id="21" idx="2"/>
          </p:cNvCxnSpPr>
          <p:nvPr/>
        </p:nvCxnSpPr>
        <p:spPr>
          <a:xfrm rot="10800000">
            <a:off x="1759232" y="3560422"/>
            <a:ext cx="1307845" cy="2158296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FC9743-81E7-B042-907B-AFA55349C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1126766"/>
          </a:xfrm>
        </p:spPr>
        <p:txBody>
          <a:bodyPr>
            <a:normAutofit/>
          </a:bodyPr>
          <a:lstStyle/>
          <a:p>
            <a:r>
              <a:rPr lang="en-US" sz="2000" dirty="0"/>
              <a:t>Provides support for the centralized configuration</a:t>
            </a:r>
          </a:p>
          <a:p>
            <a:pPr lvl="1"/>
            <a:r>
              <a:rPr lang="en-US" sz="1800" dirty="0"/>
              <a:t>Server side (</a:t>
            </a:r>
            <a:r>
              <a:rPr lang="en-US" sz="1800" dirty="0">
                <a:latin typeface="+mj-lt"/>
              </a:rPr>
              <a:t>spring-cloud-config-server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Client side (</a:t>
            </a:r>
            <a:r>
              <a:rPr lang="en-US" sz="1800" dirty="0">
                <a:latin typeface="+mj-lt"/>
              </a:rPr>
              <a:t>spring-cloud-config-client</a:t>
            </a:r>
            <a:r>
              <a:rPr lang="en-US" sz="1800" dirty="0"/>
              <a:t>)</a:t>
            </a:r>
          </a:p>
        </p:txBody>
      </p:sp>
      <p:pic>
        <p:nvPicPr>
          <p:cNvPr id="21" name="Elemento grafico 72" descr="Uomo">
            <a:extLst>
              <a:ext uri="{FF2B5EF4-FFF2-40B4-BE49-F238E27FC236}">
                <a16:creationId xmlns:a16="http://schemas.microsoft.com/office/drawing/2014/main" id="{1885D2E6-777B-0B4B-A747-6EE5F60711C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7424" y="3016809"/>
            <a:ext cx="543613" cy="543613"/>
          </a:xfrm>
          <a:prstGeom prst="rect">
            <a:avLst/>
          </a:prstGeom>
        </p:spPr>
      </p:pic>
      <p:cxnSp>
        <p:nvCxnSpPr>
          <p:cNvPr id="57" name="Connettore 2 59">
            <a:extLst>
              <a:ext uri="{FF2B5EF4-FFF2-40B4-BE49-F238E27FC236}">
                <a16:creationId xmlns:a16="http://schemas.microsoft.com/office/drawing/2014/main" id="{E046E217-999A-6B4C-B307-0B8BC01F14D5}"/>
              </a:ext>
            </a:extLst>
          </p:cNvPr>
          <p:cNvCxnSpPr>
            <a:cxnSpLocks/>
          </p:cNvCxnSpPr>
          <p:nvPr/>
        </p:nvCxnSpPr>
        <p:spPr>
          <a:xfrm>
            <a:off x="4063788" y="4697359"/>
            <a:ext cx="0" cy="6511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Elemento grafico 59" descr="Apri cartella contorno">
            <a:extLst>
              <a:ext uri="{FF2B5EF4-FFF2-40B4-BE49-F238E27FC236}">
                <a16:creationId xmlns:a16="http://schemas.microsoft.com/office/drawing/2014/main" id="{4A19E7E0-9B90-4444-AFB8-EFC7A54B5C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0632" y="3073723"/>
            <a:ext cx="543614" cy="543614"/>
          </a:xfrm>
          <a:prstGeom prst="rect">
            <a:avLst/>
          </a:prstGeom>
        </p:spPr>
      </p:pic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DE27DEC3-4178-484B-AE3D-222815C3AE1C}"/>
              </a:ext>
            </a:extLst>
          </p:cNvPr>
          <p:cNvSpPr txBox="1"/>
          <p:nvPr/>
        </p:nvSpPr>
        <p:spPr>
          <a:xfrm>
            <a:off x="3192172" y="2915149"/>
            <a:ext cx="1307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Configuration files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25BEF58E-5987-C54F-9858-CB9C64A248E3}"/>
              </a:ext>
            </a:extLst>
          </p:cNvPr>
          <p:cNvSpPr txBox="1"/>
          <p:nvPr/>
        </p:nvSpPr>
        <p:spPr>
          <a:xfrm>
            <a:off x="1351426" y="2783145"/>
            <a:ext cx="815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Developer</a:t>
            </a:r>
          </a:p>
        </p:txBody>
      </p: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A06AB93A-59A8-F841-BD3A-AF53E46CA926}"/>
              </a:ext>
            </a:extLst>
          </p:cNvPr>
          <p:cNvSpPr txBox="1"/>
          <p:nvPr/>
        </p:nvSpPr>
        <p:spPr>
          <a:xfrm>
            <a:off x="3374571" y="490714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1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022038EF-676C-5446-98D4-C6886CE0700C}"/>
              </a:ext>
            </a:extLst>
          </p:cNvPr>
          <p:cNvSpPr txBox="1"/>
          <p:nvPr/>
        </p:nvSpPr>
        <p:spPr>
          <a:xfrm>
            <a:off x="3846133" y="362699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2</a:t>
            </a:r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4E851740-70F0-5247-B540-1C9FE57F8DA5}"/>
              </a:ext>
            </a:extLst>
          </p:cNvPr>
          <p:cNvSpPr txBox="1"/>
          <p:nvPr/>
        </p:nvSpPr>
        <p:spPr>
          <a:xfrm>
            <a:off x="4066787" y="491780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3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1765DEA0-3686-DE4B-95D6-106A60DEB20D}"/>
              </a:ext>
            </a:extLst>
          </p:cNvPr>
          <p:cNvSpPr txBox="1"/>
          <p:nvPr/>
        </p:nvSpPr>
        <p:spPr>
          <a:xfrm>
            <a:off x="2683617" y="30332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4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87FAD3E5-BF13-1540-A6A3-1EAF43B8A17A}"/>
              </a:ext>
            </a:extLst>
          </p:cNvPr>
          <p:cNvSpPr txBox="1"/>
          <p:nvPr/>
        </p:nvSpPr>
        <p:spPr>
          <a:xfrm>
            <a:off x="1768512" y="447774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5</a:t>
            </a:r>
          </a:p>
        </p:txBody>
      </p:sp>
      <p:sp>
        <p:nvSpPr>
          <p:cNvPr id="72" name="Segnaposto contenuto 2">
            <a:extLst>
              <a:ext uri="{FF2B5EF4-FFF2-40B4-BE49-F238E27FC236}">
                <a16:creationId xmlns:a16="http://schemas.microsoft.com/office/drawing/2014/main" id="{D2EB2C7B-9EB4-034F-A793-566F162E6467}"/>
              </a:ext>
            </a:extLst>
          </p:cNvPr>
          <p:cNvSpPr txBox="1">
            <a:spLocks/>
          </p:cNvSpPr>
          <p:nvPr/>
        </p:nvSpPr>
        <p:spPr>
          <a:xfrm>
            <a:off x="5596128" y="2629176"/>
            <a:ext cx="5757672" cy="3972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At application startup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Microservice asks the configuration properties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+mj-lt"/>
              </a:rPr>
              <a:t>config-service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reads the configuration files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From a local directory, Git, or a database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Configuration properties are returned to the microservice</a:t>
            </a:r>
          </a:p>
          <a:p>
            <a:pPr marL="914400" lvl="1" indent="-457200">
              <a:buFont typeface="+mj-lt"/>
              <a:buAutoNum type="arabicPeriod"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configuration is updated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Developers update the configuration files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 update is notified to the microservice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Through </a:t>
            </a:r>
            <a:r>
              <a:rPr lang="en-US" sz="1600" dirty="0">
                <a:latin typeface="+mj-lt"/>
                <a:cs typeface="Calibri" panose="020F0502020204030204" pitchFamily="34" charset="0"/>
              </a:rPr>
              <a:t>/actuator/refresh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endpoint</a:t>
            </a:r>
          </a:p>
        </p:txBody>
      </p:sp>
    </p:spTree>
    <p:extLst>
      <p:ext uri="{BB962C8B-B14F-4D97-AF65-F5344CB8AC3E}">
        <p14:creationId xmlns:p14="http://schemas.microsoft.com/office/powerpoint/2010/main" val="277106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D1CF29-558E-EF41-81A4-2241154F2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our </a:t>
            </a:r>
            <a:r>
              <a:rPr lang="en-US" dirty="0" err="1"/>
              <a:t>Openjob</a:t>
            </a:r>
            <a:r>
              <a:rPr lang="en-US" dirty="0"/>
              <a:t> system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AB3416-17E8-2C4E-B8F1-60C28CA4B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5710171" cy="28981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a repository to store the properties files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the Spring Cloud Config server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Upgrade our microservices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Expected Result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4" descr="Risultati immagini per git repo">
            <a:extLst>
              <a:ext uri="{FF2B5EF4-FFF2-40B4-BE49-F238E27FC236}">
                <a16:creationId xmlns:a16="http://schemas.microsoft.com/office/drawing/2014/main" id="{FA9325DA-A264-A342-9BC0-C834DEE3E8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9" t="18687" r="33546" b="7169"/>
          <a:stretch/>
        </p:blipFill>
        <p:spPr bwMode="auto">
          <a:xfrm>
            <a:off x="1248456" y="4979182"/>
            <a:ext cx="431053" cy="50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ttore 2 59">
            <a:extLst>
              <a:ext uri="{FF2B5EF4-FFF2-40B4-BE49-F238E27FC236}">
                <a16:creationId xmlns:a16="http://schemas.microsoft.com/office/drawing/2014/main" id="{D69CB8ED-D339-9A44-89FF-57995BA5668A}"/>
              </a:ext>
            </a:extLst>
          </p:cNvPr>
          <p:cNvCxnSpPr>
            <a:cxnSpLocks/>
            <a:stCxn id="33" idx="0"/>
            <a:endCxn id="84" idx="0"/>
          </p:cNvCxnSpPr>
          <p:nvPr/>
        </p:nvCxnSpPr>
        <p:spPr>
          <a:xfrm>
            <a:off x="7703500" y="4774576"/>
            <a:ext cx="169313" cy="507813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59">
            <a:extLst>
              <a:ext uri="{FF2B5EF4-FFF2-40B4-BE49-F238E27FC236}">
                <a16:creationId xmlns:a16="http://schemas.microsoft.com/office/drawing/2014/main" id="{E279829B-9F78-C54D-8742-0F90A2F84C4D}"/>
              </a:ext>
            </a:extLst>
          </p:cNvPr>
          <p:cNvCxnSpPr>
            <a:cxnSpLocks/>
            <a:stCxn id="33" idx="3"/>
            <a:endCxn id="76" idx="0"/>
          </p:cNvCxnSpPr>
          <p:nvPr/>
        </p:nvCxnSpPr>
        <p:spPr>
          <a:xfrm rot="10800000" flipV="1">
            <a:off x="6011760" y="4774576"/>
            <a:ext cx="167146" cy="504554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A61ADA1B-AF86-1E46-BAB7-CEC38BE31205}"/>
              </a:ext>
            </a:extLst>
          </p:cNvPr>
          <p:cNvGrpSpPr/>
          <p:nvPr/>
        </p:nvGrpSpPr>
        <p:grpSpPr>
          <a:xfrm>
            <a:off x="2132983" y="4885795"/>
            <a:ext cx="1524594" cy="696577"/>
            <a:chOff x="6096000" y="4209040"/>
            <a:chExt cx="1524594" cy="696577"/>
          </a:xfrm>
        </p:grpSpPr>
        <p:sp>
          <p:nvSpPr>
            <p:cNvPr id="5" name="Esagono 37">
              <a:extLst>
                <a:ext uri="{FF2B5EF4-FFF2-40B4-BE49-F238E27FC236}">
                  <a16:creationId xmlns:a16="http://schemas.microsoft.com/office/drawing/2014/main" id="{628EF62E-A7E9-5940-8F99-0A476A88FD5A}"/>
                </a:ext>
              </a:extLst>
            </p:cNvPr>
            <p:cNvSpPr/>
            <p:nvPr/>
          </p:nvSpPr>
          <p:spPr>
            <a:xfrm>
              <a:off x="6096000" y="4209040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</a:t>
              </a:r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config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(8888)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5D4C5064-D315-C44F-A802-F053548A68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0150" y="4668548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3F23C6F-3BFE-D546-9632-29C16F27FF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2372" y="4655197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2ED56A7A-4279-2746-BF26-DFAAF4798C62}"/>
              </a:ext>
            </a:extLst>
          </p:cNvPr>
          <p:cNvGrpSpPr/>
          <p:nvPr/>
        </p:nvGrpSpPr>
        <p:grpSpPr>
          <a:xfrm>
            <a:off x="7232758" y="5620207"/>
            <a:ext cx="1278989" cy="740500"/>
            <a:chOff x="5061923" y="5401391"/>
            <a:chExt cx="1278989" cy="740500"/>
          </a:xfrm>
        </p:grpSpPr>
        <p:sp>
          <p:nvSpPr>
            <p:cNvPr id="7" name="Esagono 39">
              <a:extLst>
                <a:ext uri="{FF2B5EF4-FFF2-40B4-BE49-F238E27FC236}">
                  <a16:creationId xmlns:a16="http://schemas.microsoft.com/office/drawing/2014/main" id="{7B9680F7-2647-5E4F-9992-42A3408F61CD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42FACC7B-B39B-1F46-ADF3-91FB540FC6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6E93307F-9114-B641-9EF7-4742408769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796BA86-B157-ED41-95CE-E2B2D2BBC7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550DAF87-7BBA-DE47-B19E-5602F69122EF}"/>
              </a:ext>
            </a:extLst>
          </p:cNvPr>
          <p:cNvGrpSpPr/>
          <p:nvPr/>
        </p:nvGrpSpPr>
        <p:grpSpPr>
          <a:xfrm>
            <a:off x="5431411" y="5616253"/>
            <a:ext cx="1278989" cy="740500"/>
            <a:chOff x="7398130" y="5401391"/>
            <a:chExt cx="1278989" cy="740500"/>
          </a:xfrm>
        </p:grpSpPr>
        <p:sp>
          <p:nvSpPr>
            <p:cNvPr id="11" name="Esagono 43">
              <a:extLst>
                <a:ext uri="{FF2B5EF4-FFF2-40B4-BE49-F238E27FC236}">
                  <a16:creationId xmlns:a16="http://schemas.microsoft.com/office/drawing/2014/main" id="{15BF809C-7C43-9349-972B-294D943B32E9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85A4691E-6938-EF4A-B50F-DFE377187B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B9863D4-A6EA-2447-8559-CA034A85DC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C39CC82E-F33A-114A-9325-57EF21F315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" name="Connettore 2 59">
            <a:extLst>
              <a:ext uri="{FF2B5EF4-FFF2-40B4-BE49-F238E27FC236}">
                <a16:creationId xmlns:a16="http://schemas.microsoft.com/office/drawing/2014/main" id="{37F30FBB-D01A-C643-97B7-1125136BA85A}"/>
              </a:ext>
            </a:extLst>
          </p:cNvPr>
          <p:cNvCxnSpPr>
            <a:cxnSpLocks/>
            <a:stCxn id="6" idx="3"/>
            <a:endCxn id="5" idx="3"/>
          </p:cNvCxnSpPr>
          <p:nvPr/>
        </p:nvCxnSpPr>
        <p:spPr>
          <a:xfrm>
            <a:off x="1679509" y="5234084"/>
            <a:ext cx="45347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59">
            <a:extLst>
              <a:ext uri="{FF2B5EF4-FFF2-40B4-BE49-F238E27FC236}">
                <a16:creationId xmlns:a16="http://schemas.microsoft.com/office/drawing/2014/main" id="{96366834-9184-8047-A08D-DBA93F1A23E3}"/>
              </a:ext>
            </a:extLst>
          </p:cNvPr>
          <p:cNvCxnSpPr>
            <a:cxnSpLocks/>
            <a:endCxn id="5" idx="0"/>
          </p:cNvCxnSpPr>
          <p:nvPr/>
        </p:nvCxnSpPr>
        <p:spPr>
          <a:xfrm rot="10800000" flipV="1">
            <a:off x="3657578" y="4629932"/>
            <a:ext cx="2604063" cy="604151"/>
          </a:xfrm>
          <a:prstGeom prst="bentConnector3">
            <a:avLst>
              <a:gd name="adj1" fmla="val 74580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59">
            <a:extLst>
              <a:ext uri="{FF2B5EF4-FFF2-40B4-BE49-F238E27FC236}">
                <a16:creationId xmlns:a16="http://schemas.microsoft.com/office/drawing/2014/main" id="{AD8856E5-3054-B748-8094-CBBF0F3FE9A7}"/>
              </a:ext>
            </a:extLst>
          </p:cNvPr>
          <p:cNvCxnSpPr>
            <a:cxnSpLocks/>
          </p:cNvCxnSpPr>
          <p:nvPr/>
        </p:nvCxnSpPr>
        <p:spPr>
          <a:xfrm>
            <a:off x="4320020" y="5234083"/>
            <a:ext cx="1207630" cy="993917"/>
          </a:xfrm>
          <a:prstGeom prst="bentConnector3">
            <a:avLst>
              <a:gd name="adj1" fmla="val 26"/>
            </a:avLst>
          </a:prstGeom>
          <a:ln w="127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DAE31278-9818-3648-8D88-64F6C3145AA0}"/>
              </a:ext>
            </a:extLst>
          </p:cNvPr>
          <p:cNvGrpSpPr/>
          <p:nvPr/>
        </p:nvGrpSpPr>
        <p:grpSpPr>
          <a:xfrm>
            <a:off x="6178906" y="4426287"/>
            <a:ext cx="1524594" cy="696577"/>
            <a:chOff x="8230376" y="3604986"/>
            <a:chExt cx="1524594" cy="696577"/>
          </a:xfrm>
        </p:grpSpPr>
        <p:sp>
          <p:nvSpPr>
            <p:cNvPr id="33" name="Esagono 47">
              <a:extLst>
                <a:ext uri="{FF2B5EF4-FFF2-40B4-BE49-F238E27FC236}">
                  <a16:creationId xmlns:a16="http://schemas.microsoft.com/office/drawing/2014/main" id="{26B852F4-10D1-E54A-97B6-725EBF6DB799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C8B7135-41F3-3640-953D-CAD0BCB6E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A20DD7F-6F17-6D4C-BF9B-6E6EB2CBB6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1" name="Ovale 60">
            <a:extLst>
              <a:ext uri="{FF2B5EF4-FFF2-40B4-BE49-F238E27FC236}">
                <a16:creationId xmlns:a16="http://schemas.microsoft.com/office/drawing/2014/main" id="{8446BD98-F227-8347-B518-C0272B039E3A}"/>
              </a:ext>
            </a:extLst>
          </p:cNvPr>
          <p:cNvSpPr/>
          <p:nvPr/>
        </p:nvSpPr>
        <p:spPr>
          <a:xfrm>
            <a:off x="4906065" y="589650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62" name="Connettore 1 61">
            <a:extLst>
              <a:ext uri="{FF2B5EF4-FFF2-40B4-BE49-F238E27FC236}">
                <a16:creationId xmlns:a16="http://schemas.microsoft.com/office/drawing/2014/main" id="{8CA74909-1134-5C43-847E-9B95AE49D584}"/>
              </a:ext>
            </a:extLst>
          </p:cNvPr>
          <p:cNvCxnSpPr>
            <a:cxnSpLocks/>
            <a:stCxn id="61" idx="6"/>
          </p:cNvCxnSpPr>
          <p:nvPr/>
        </p:nvCxnSpPr>
        <p:spPr>
          <a:xfrm flipV="1">
            <a:off x="5086065" y="5985692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ttangolo 62">
            <a:extLst>
              <a:ext uri="{FF2B5EF4-FFF2-40B4-BE49-F238E27FC236}">
                <a16:creationId xmlns:a16="http://schemas.microsoft.com/office/drawing/2014/main" id="{7C16A3D0-006F-1244-98BE-E9A8D8607B3D}"/>
              </a:ext>
            </a:extLst>
          </p:cNvPr>
          <p:cNvSpPr/>
          <p:nvPr/>
        </p:nvSpPr>
        <p:spPr>
          <a:xfrm>
            <a:off x="4543056" y="566802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B7C3E360-EF8A-CC42-A7DD-524C553A6A0E}"/>
              </a:ext>
            </a:extLst>
          </p:cNvPr>
          <p:cNvSpPr/>
          <p:nvPr/>
        </p:nvSpPr>
        <p:spPr>
          <a:xfrm>
            <a:off x="8854105" y="590379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68" name="Connettore 1 67">
            <a:extLst>
              <a:ext uri="{FF2B5EF4-FFF2-40B4-BE49-F238E27FC236}">
                <a16:creationId xmlns:a16="http://schemas.microsoft.com/office/drawing/2014/main" id="{045B04D7-D231-9640-AD06-B1D3D504D089}"/>
              </a:ext>
            </a:extLst>
          </p:cNvPr>
          <p:cNvCxnSpPr>
            <a:cxnSpLocks/>
            <a:stCxn id="67" idx="2"/>
            <a:endCxn id="7" idx="0"/>
          </p:cNvCxnSpPr>
          <p:nvPr/>
        </p:nvCxnSpPr>
        <p:spPr>
          <a:xfrm flipH="1" flipV="1">
            <a:off x="8511747" y="5990457"/>
            <a:ext cx="342358" cy="3336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ttangolo 68">
            <a:extLst>
              <a:ext uri="{FF2B5EF4-FFF2-40B4-BE49-F238E27FC236}">
                <a16:creationId xmlns:a16="http://schemas.microsoft.com/office/drawing/2014/main" id="{F86B3440-5947-2D44-97C7-82030483C8FD}"/>
              </a:ext>
            </a:extLst>
          </p:cNvPr>
          <p:cNvSpPr/>
          <p:nvPr/>
        </p:nvSpPr>
        <p:spPr>
          <a:xfrm>
            <a:off x="8491096" y="566802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564F6CAA-7D3E-074E-AB48-1029BB88C8DB}"/>
              </a:ext>
            </a:extLst>
          </p:cNvPr>
          <p:cNvSpPr/>
          <p:nvPr/>
        </p:nvSpPr>
        <p:spPr>
          <a:xfrm>
            <a:off x="5921760" y="5279130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77" name="Connettore 1 76">
            <a:extLst>
              <a:ext uri="{FF2B5EF4-FFF2-40B4-BE49-F238E27FC236}">
                <a16:creationId xmlns:a16="http://schemas.microsoft.com/office/drawing/2014/main" id="{F2CC7BB4-1D59-E84F-833A-94BF9E40B2C1}"/>
              </a:ext>
            </a:extLst>
          </p:cNvPr>
          <p:cNvCxnSpPr>
            <a:cxnSpLocks/>
            <a:stCxn id="76" idx="4"/>
          </p:cNvCxnSpPr>
          <p:nvPr/>
        </p:nvCxnSpPr>
        <p:spPr>
          <a:xfrm flipH="1">
            <a:off x="6011759" y="5459130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ttangolo 77">
            <a:extLst>
              <a:ext uri="{FF2B5EF4-FFF2-40B4-BE49-F238E27FC236}">
                <a16:creationId xmlns:a16="http://schemas.microsoft.com/office/drawing/2014/main" id="{049E648E-B962-4E4D-9E4B-9F30ACCE72D1}"/>
              </a:ext>
            </a:extLst>
          </p:cNvPr>
          <p:cNvSpPr/>
          <p:nvPr/>
        </p:nvSpPr>
        <p:spPr>
          <a:xfrm>
            <a:off x="5393119" y="5249338"/>
            <a:ext cx="58541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84" name="Ovale 83">
            <a:extLst>
              <a:ext uri="{FF2B5EF4-FFF2-40B4-BE49-F238E27FC236}">
                <a16:creationId xmlns:a16="http://schemas.microsoft.com/office/drawing/2014/main" id="{7252EAC3-16E1-D147-A81A-F17BE6335C9D}"/>
              </a:ext>
            </a:extLst>
          </p:cNvPr>
          <p:cNvSpPr/>
          <p:nvPr/>
        </p:nvSpPr>
        <p:spPr>
          <a:xfrm>
            <a:off x="7782813" y="5282389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85" name="Connettore 1 84">
            <a:extLst>
              <a:ext uri="{FF2B5EF4-FFF2-40B4-BE49-F238E27FC236}">
                <a16:creationId xmlns:a16="http://schemas.microsoft.com/office/drawing/2014/main" id="{263E48DD-13A5-6948-ADB9-801D628ED55D}"/>
              </a:ext>
            </a:extLst>
          </p:cNvPr>
          <p:cNvCxnSpPr>
            <a:cxnSpLocks/>
            <a:stCxn id="84" idx="4"/>
          </p:cNvCxnSpPr>
          <p:nvPr/>
        </p:nvCxnSpPr>
        <p:spPr>
          <a:xfrm>
            <a:off x="7872813" y="5462389"/>
            <a:ext cx="0" cy="153864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ttangolo 85">
            <a:extLst>
              <a:ext uri="{FF2B5EF4-FFF2-40B4-BE49-F238E27FC236}">
                <a16:creationId xmlns:a16="http://schemas.microsoft.com/office/drawing/2014/main" id="{4A715701-00BB-BE42-9F52-955497C39B8A}"/>
              </a:ext>
            </a:extLst>
          </p:cNvPr>
          <p:cNvSpPr/>
          <p:nvPr/>
        </p:nvSpPr>
        <p:spPr>
          <a:xfrm>
            <a:off x="7956925" y="5249338"/>
            <a:ext cx="58541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cxnSp>
        <p:nvCxnSpPr>
          <p:cNvPr id="90" name="Connettore 2 59">
            <a:extLst>
              <a:ext uri="{FF2B5EF4-FFF2-40B4-BE49-F238E27FC236}">
                <a16:creationId xmlns:a16="http://schemas.microsoft.com/office/drawing/2014/main" id="{686A38B1-692B-514E-99C7-00355FC7BEC1}"/>
              </a:ext>
            </a:extLst>
          </p:cNvPr>
          <p:cNvCxnSpPr>
            <a:cxnSpLocks/>
            <a:stCxn id="76" idx="6"/>
            <a:endCxn id="7" idx="3"/>
          </p:cNvCxnSpPr>
          <p:nvPr/>
        </p:nvCxnSpPr>
        <p:spPr>
          <a:xfrm>
            <a:off x="6101760" y="5369130"/>
            <a:ext cx="1130998" cy="621327"/>
          </a:xfrm>
          <a:prstGeom prst="bentConnector3">
            <a:avLst>
              <a:gd name="adj1" fmla="val 7748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e 96">
            <a:extLst>
              <a:ext uri="{FF2B5EF4-FFF2-40B4-BE49-F238E27FC236}">
                <a16:creationId xmlns:a16="http://schemas.microsoft.com/office/drawing/2014/main" id="{BC957341-962E-1449-AD44-1F2619B75AC8}"/>
              </a:ext>
            </a:extLst>
          </p:cNvPr>
          <p:cNvSpPr/>
          <p:nvPr/>
        </p:nvSpPr>
        <p:spPr>
          <a:xfrm>
            <a:off x="6870767" y="4085616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98" name="Connettore 1 97">
            <a:extLst>
              <a:ext uri="{FF2B5EF4-FFF2-40B4-BE49-F238E27FC236}">
                <a16:creationId xmlns:a16="http://schemas.microsoft.com/office/drawing/2014/main" id="{B3AA555D-A01A-E545-8C89-85B4D120E9F9}"/>
              </a:ext>
            </a:extLst>
          </p:cNvPr>
          <p:cNvCxnSpPr>
            <a:cxnSpLocks/>
            <a:stCxn id="97" idx="4"/>
          </p:cNvCxnSpPr>
          <p:nvPr/>
        </p:nvCxnSpPr>
        <p:spPr>
          <a:xfrm flipH="1">
            <a:off x="6960766" y="4265616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ttangolo 98">
            <a:extLst>
              <a:ext uri="{FF2B5EF4-FFF2-40B4-BE49-F238E27FC236}">
                <a16:creationId xmlns:a16="http://schemas.microsoft.com/office/drawing/2014/main" id="{DCE73E7E-6F61-B24F-A099-03D75AAA22A6}"/>
              </a:ext>
            </a:extLst>
          </p:cNvPr>
          <p:cNvSpPr/>
          <p:nvPr/>
        </p:nvSpPr>
        <p:spPr>
          <a:xfrm>
            <a:off x="6658479" y="3817257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58D3CB3F-E56B-0F4E-AF66-5D89A1DD3AE6}"/>
              </a:ext>
            </a:extLst>
          </p:cNvPr>
          <p:cNvSpPr/>
          <p:nvPr/>
        </p:nvSpPr>
        <p:spPr>
          <a:xfrm>
            <a:off x="7756427" y="429542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01" name="Connettore 1 100">
            <a:extLst>
              <a:ext uri="{FF2B5EF4-FFF2-40B4-BE49-F238E27FC236}">
                <a16:creationId xmlns:a16="http://schemas.microsoft.com/office/drawing/2014/main" id="{012F32B0-1FCA-2C45-B8BC-A6B2471F1CC2}"/>
              </a:ext>
            </a:extLst>
          </p:cNvPr>
          <p:cNvCxnSpPr>
            <a:cxnSpLocks/>
            <a:stCxn id="100" idx="3"/>
          </p:cNvCxnSpPr>
          <p:nvPr/>
        </p:nvCxnSpPr>
        <p:spPr>
          <a:xfrm flipH="1">
            <a:off x="7628210" y="4449062"/>
            <a:ext cx="154577" cy="18087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ttangolo 101">
            <a:extLst>
              <a:ext uri="{FF2B5EF4-FFF2-40B4-BE49-F238E27FC236}">
                <a16:creationId xmlns:a16="http://schemas.microsoft.com/office/drawing/2014/main" id="{8726C348-8AA9-FC45-BCBB-1EAB0194BDD2}"/>
              </a:ext>
            </a:extLst>
          </p:cNvPr>
          <p:cNvSpPr/>
          <p:nvPr/>
        </p:nvSpPr>
        <p:spPr>
          <a:xfrm>
            <a:off x="7419243" y="407038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153" name="Connettore 4 152">
            <a:extLst>
              <a:ext uri="{FF2B5EF4-FFF2-40B4-BE49-F238E27FC236}">
                <a16:creationId xmlns:a16="http://schemas.microsoft.com/office/drawing/2014/main" id="{DEF487BA-F26D-6347-AA1A-7C8D76BB96E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20025" y="6363046"/>
            <a:ext cx="3552789" cy="284640"/>
          </a:xfrm>
          <a:prstGeom prst="bentConnector3">
            <a:avLst>
              <a:gd name="adj1" fmla="val 69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ttore 1 158">
            <a:extLst>
              <a:ext uri="{FF2B5EF4-FFF2-40B4-BE49-F238E27FC236}">
                <a16:creationId xmlns:a16="http://schemas.microsoft.com/office/drawing/2014/main" id="{9B024058-24B4-0A49-B6B3-436E9E2DE272}"/>
              </a:ext>
            </a:extLst>
          </p:cNvPr>
          <p:cNvCxnSpPr>
            <a:cxnSpLocks/>
          </p:cNvCxnSpPr>
          <p:nvPr/>
        </p:nvCxnSpPr>
        <p:spPr>
          <a:xfrm>
            <a:off x="4320020" y="6227998"/>
            <a:ext cx="0" cy="419689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997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BCF870-7128-E94E-B073-63282E87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file repository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69ABD4-05D6-0749-A80A-05CE85277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824"/>
            <a:ext cx="10515600" cy="563588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a new git repository</a:t>
            </a:r>
          </a:p>
          <a:p>
            <a:pPr lvl="1"/>
            <a:r>
              <a:rPr lang="en-US" sz="1800" i="1" dirty="0">
                <a:latin typeface="+mj-lt"/>
              </a:rPr>
              <a:t>git </a:t>
            </a:r>
            <a:r>
              <a:rPr lang="en-US" sz="1800" i="1" dirty="0" err="1">
                <a:latin typeface="+mj-lt"/>
              </a:rPr>
              <a:t>init</a:t>
            </a:r>
            <a:r>
              <a:rPr lang="en-US" sz="1800" i="1" dirty="0">
                <a:latin typeface="+mj-lt"/>
              </a:rPr>
              <a:t> </a:t>
            </a:r>
            <a:r>
              <a:rPr lang="en-US" sz="1800" i="1" dirty="0" err="1">
                <a:latin typeface="+mj-lt"/>
              </a:rPr>
              <a:t>openjob</a:t>
            </a:r>
            <a:r>
              <a:rPr lang="en-US" sz="1800" i="1" dirty="0">
                <a:latin typeface="+mj-lt"/>
              </a:rPr>
              <a:t>-properties-repository</a:t>
            </a:r>
          </a:p>
          <a:p>
            <a:pPr lvl="1"/>
            <a:endParaRPr lang="en-US" sz="1800" i="1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(Optional) Import repository into Spring Tools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File -&gt; Import -&gt; Git -&gt; Projects from Git -&gt; Existing local repository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Click on "add" and select the git project folder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Select "import as general project"</a:t>
            </a:r>
          </a:p>
          <a:p>
            <a:pPr lvl="1"/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Move configuration files into the repository, e.g.</a:t>
            </a: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user/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application.properties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user-microservice-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dev.properties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job/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application.properties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job-microservice-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dev.properties</a:t>
            </a:r>
            <a:endParaRPr lang="en-US" sz="1800" dirty="0">
              <a:latin typeface="+mj-lt"/>
              <a:cs typeface="Calibri" panose="020F0502020204030204" pitchFamily="34" charset="0"/>
            </a:endParaRP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gateway/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application.yml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api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-gateway-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dev.yaml</a:t>
            </a:r>
            <a:endParaRPr lang="en-US" sz="1800" dirty="0">
              <a:latin typeface="+mj-lt"/>
              <a:cs typeface="Calibri" panose="020F0502020204030204" pitchFamily="34" charset="0"/>
            </a:endParaRPr>
          </a:p>
          <a:p>
            <a:pPr lvl="1"/>
            <a:endParaRPr lang="en-US" sz="2200" dirty="0">
              <a:latin typeface="+mj-lt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You can commit the files into the repository to version the configuration</a:t>
            </a:r>
          </a:p>
          <a:p>
            <a:pPr lvl="1"/>
            <a:r>
              <a:rPr lang="en-US" sz="1800" i="1" dirty="0">
                <a:latin typeface="+mj-lt"/>
                <a:cs typeface="Calibri" panose="020F0502020204030204" pitchFamily="34" charset="0"/>
              </a:rPr>
              <a:t>git add .</a:t>
            </a:r>
          </a:p>
          <a:p>
            <a:pPr lvl="1"/>
            <a:r>
              <a:rPr lang="en-US" sz="1800" i="1" dirty="0">
                <a:latin typeface="+mj-lt"/>
                <a:cs typeface="Calibri" panose="020F0502020204030204" pitchFamily="34" charset="0"/>
              </a:rPr>
              <a:t>git commit -m 'add configuration files'</a:t>
            </a:r>
          </a:p>
          <a:p>
            <a:pPr marL="914400" lvl="1" indent="-457200">
              <a:buFont typeface="+mj-lt"/>
              <a:buAutoNum type="arabicPeriod"/>
            </a:pPr>
            <a:endParaRPr lang="en-US" sz="1800" dirty="0">
              <a:latin typeface="+mj-lt"/>
              <a:cs typeface="Calibri" panose="020F0502020204030204" pitchFamily="34" charset="0"/>
            </a:endParaRPr>
          </a:p>
        </p:txBody>
      </p:sp>
      <p:pic>
        <p:nvPicPr>
          <p:cNvPr id="5" name="Immagine 4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D793CD87-AFB2-F542-9FD7-F3B497484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877" y="3005582"/>
            <a:ext cx="5262477" cy="8468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4CC3ED7-01E5-1647-8C40-2E0D1E032390}"/>
              </a:ext>
            </a:extLst>
          </p:cNvPr>
          <p:cNvSpPr/>
          <p:nvPr/>
        </p:nvSpPr>
        <p:spPr>
          <a:xfrm>
            <a:off x="6096000" y="4133088"/>
            <a:ext cx="3386328" cy="969264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a a mano libera 6">
            <a:extLst>
              <a:ext uri="{FF2B5EF4-FFF2-40B4-BE49-F238E27FC236}">
                <a16:creationId xmlns:a16="http://schemas.microsoft.com/office/drawing/2014/main" id="{63CA7054-62B9-3C43-BB3B-127AAFA7023F}"/>
              </a:ext>
            </a:extLst>
          </p:cNvPr>
          <p:cNvSpPr/>
          <p:nvPr/>
        </p:nvSpPr>
        <p:spPr>
          <a:xfrm>
            <a:off x="9555480" y="4681728"/>
            <a:ext cx="1005840" cy="1234440"/>
          </a:xfrm>
          <a:custGeom>
            <a:avLst/>
            <a:gdLst>
              <a:gd name="connsiteX0" fmla="*/ 0 w 585216"/>
              <a:gd name="connsiteY0" fmla="*/ 0 h 886968"/>
              <a:gd name="connsiteX1" fmla="*/ 283464 w 585216"/>
              <a:gd name="connsiteY1" fmla="*/ 109728 h 886968"/>
              <a:gd name="connsiteX2" fmla="*/ 484632 w 585216"/>
              <a:gd name="connsiteY2" fmla="*/ 420624 h 886968"/>
              <a:gd name="connsiteX3" fmla="*/ 585216 w 585216"/>
              <a:gd name="connsiteY3" fmla="*/ 886968 h 88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216" h="886968">
                <a:moveTo>
                  <a:pt x="0" y="0"/>
                </a:moveTo>
                <a:cubicBezTo>
                  <a:pt x="101346" y="19812"/>
                  <a:pt x="202692" y="39624"/>
                  <a:pt x="283464" y="109728"/>
                </a:cubicBezTo>
                <a:cubicBezTo>
                  <a:pt x="364236" y="179832"/>
                  <a:pt x="434340" y="291084"/>
                  <a:pt x="484632" y="420624"/>
                </a:cubicBezTo>
                <a:cubicBezTo>
                  <a:pt x="534924" y="550164"/>
                  <a:pt x="560070" y="718566"/>
                  <a:pt x="585216" y="886968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7F68B60-DC59-1947-B109-87078E2534C1}"/>
              </a:ext>
            </a:extLst>
          </p:cNvPr>
          <p:cNvSpPr txBox="1"/>
          <p:nvPr/>
        </p:nvSpPr>
        <p:spPr>
          <a:xfrm>
            <a:off x="9630831" y="5907024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Mind these names!</a:t>
            </a:r>
          </a:p>
        </p:txBody>
      </p:sp>
    </p:spTree>
    <p:extLst>
      <p:ext uri="{BB962C8B-B14F-4D97-AF65-F5344CB8AC3E}">
        <p14:creationId xmlns:p14="http://schemas.microsoft.com/office/powerpoint/2010/main" val="83066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8D6566-A3CA-D541-8F2C-D0E7DCA9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A365AB-504C-9D4C-AF97-75D27D9AA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Init a new Spring Boot project</a:t>
            </a:r>
          </a:p>
          <a:p>
            <a:pPr lvl="1"/>
            <a:r>
              <a:rPr lang="en-US" sz="1800" dirty="0"/>
              <a:t>Select Config Server as dependency</a:t>
            </a:r>
          </a:p>
        </p:txBody>
      </p:sp>
      <p:pic>
        <p:nvPicPr>
          <p:cNvPr id="5" name="Immagine 4" descr="Immagine che contiene testo, schermata, software, Pagina Web&#10;&#10;Descrizione generata automaticamente">
            <a:extLst>
              <a:ext uri="{FF2B5EF4-FFF2-40B4-BE49-F238E27FC236}">
                <a16:creationId xmlns:a16="http://schemas.microsoft.com/office/drawing/2014/main" id="{099255DB-B570-5F45-8C94-62369DF40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367" y="2076894"/>
            <a:ext cx="3538117" cy="43513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schermata, software, Icona del computer&#10;&#10;Descrizione generata automaticamente">
            <a:extLst>
              <a:ext uri="{FF2B5EF4-FFF2-40B4-BE49-F238E27FC236}">
                <a16:creationId xmlns:a16="http://schemas.microsoft.com/office/drawing/2014/main" id="{AE5224A5-6D41-274A-BA0B-B5BA96A28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263" y="2076894"/>
            <a:ext cx="3529757" cy="43513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43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FAE78E-9CB4-A441-BC84-BB5659A7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B5137E-A36E-FD45-978B-7C1986A56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4776216" cy="2600071"/>
          </a:xfrm>
        </p:spPr>
        <p:txBody>
          <a:bodyPr>
            <a:normAutofit/>
          </a:bodyPr>
          <a:lstStyle/>
          <a:p>
            <a:r>
              <a:rPr lang="en-US" sz="2000" dirty="0"/>
              <a:t>Edit Application class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@</a:t>
            </a:r>
            <a:r>
              <a:rPr lang="en-US" sz="1800" dirty="0" err="1">
                <a:latin typeface="+mj-lt"/>
              </a:rPr>
              <a:t>EnableConfigServer</a:t>
            </a:r>
            <a:r>
              <a:rPr lang="en-US" sz="1800" dirty="0"/>
              <a:t> annotation</a:t>
            </a:r>
          </a:p>
          <a:p>
            <a:endParaRPr lang="en-US" sz="2000" dirty="0"/>
          </a:p>
          <a:p>
            <a:r>
              <a:rPr lang="en-US" sz="2000" dirty="0"/>
              <a:t>Add properties file</a:t>
            </a:r>
          </a:p>
          <a:p>
            <a:pPr lvl="1"/>
            <a:r>
              <a:rPr lang="en-US" sz="1800" dirty="0"/>
              <a:t>Port of the server</a:t>
            </a:r>
          </a:p>
          <a:p>
            <a:pPr lvl="1"/>
            <a:r>
              <a:rPr lang="en-US" sz="1800" dirty="0"/>
              <a:t>Actuator service configuration</a:t>
            </a:r>
          </a:p>
          <a:p>
            <a:pPr lvl="1"/>
            <a:r>
              <a:rPr lang="en-US" sz="1800" dirty="0"/>
              <a:t>Spring cloud server configuration</a:t>
            </a:r>
          </a:p>
        </p:txBody>
      </p:sp>
      <p:pic>
        <p:nvPicPr>
          <p:cNvPr id="5" name="Immagine 4" descr="Immagine che contiene testo, Carattere, schermata, algebra&#10;&#10;Descrizione generata automaticamente">
            <a:extLst>
              <a:ext uri="{FF2B5EF4-FFF2-40B4-BE49-F238E27FC236}">
                <a16:creationId xmlns:a16="http://schemas.microsoft.com/office/drawing/2014/main" id="{272A7EE4-097C-274A-969E-91E7F246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49125"/>
            <a:ext cx="5208506" cy="14318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69224DD7-E9A7-7148-9A8B-EB5D136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803" y="4018770"/>
            <a:ext cx="8444101" cy="23802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2402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423A47-D136-CB46-9880-ED8645AF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4288B5-30D8-704D-AD4C-E21446A25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Test exposed endpoints</a:t>
            </a:r>
          </a:p>
          <a:p>
            <a:pPr lvl="1"/>
            <a:r>
              <a:rPr lang="en-US" sz="1800" dirty="0">
                <a:latin typeface="+mj-lt"/>
              </a:rPr>
              <a:t>localhost:8888/user-microservice/dev</a:t>
            </a:r>
          </a:p>
          <a:p>
            <a:pPr lvl="1"/>
            <a:r>
              <a:rPr lang="en-US" sz="1800" dirty="0">
                <a:latin typeface="+mj-lt"/>
              </a:rPr>
              <a:t>localhost:8888/job-microservice/dev</a:t>
            </a:r>
          </a:p>
          <a:p>
            <a:pPr lvl="1"/>
            <a:r>
              <a:rPr lang="en-US" sz="1800" dirty="0">
                <a:latin typeface="+mj-lt"/>
              </a:rPr>
              <a:t>localhost:8888/</a:t>
            </a:r>
            <a:r>
              <a:rPr lang="en-US" sz="1800" dirty="0" err="1">
                <a:latin typeface="+mj-lt"/>
              </a:rPr>
              <a:t>api</a:t>
            </a:r>
            <a:r>
              <a:rPr lang="en-US" sz="1800" dirty="0">
                <a:latin typeface="+mj-lt"/>
              </a:rPr>
              <a:t>-gateway/dev</a:t>
            </a:r>
          </a:p>
        </p:txBody>
      </p:sp>
      <p:pic>
        <p:nvPicPr>
          <p:cNvPr id="5" name="Immagine 4" descr="Immagine che contiene testo, schermata, menu&#10;&#10;Descrizione generata automaticamente">
            <a:extLst>
              <a:ext uri="{FF2B5EF4-FFF2-40B4-BE49-F238E27FC236}">
                <a16:creationId xmlns:a16="http://schemas.microsoft.com/office/drawing/2014/main" id="{61D2DBA7-FD3B-944F-9268-C65F116F4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2539452"/>
            <a:ext cx="7866888" cy="42360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Carattere, bianco&#10;&#10;Descrizione generata automaticamente">
            <a:extLst>
              <a:ext uri="{FF2B5EF4-FFF2-40B4-BE49-F238E27FC236}">
                <a16:creationId xmlns:a16="http://schemas.microsoft.com/office/drawing/2014/main" id="{ED5E3E5F-2EE6-9D4A-94D1-BE07F2B41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588" y="2403562"/>
            <a:ext cx="3995484" cy="11691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magine 7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48835E66-7F84-4741-B640-310E76296A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33" t="24790" r="44499" b="2864"/>
          <a:stretch/>
        </p:blipFill>
        <p:spPr>
          <a:xfrm>
            <a:off x="7553166" y="1329551"/>
            <a:ext cx="2624328" cy="6126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7A1BFEC1-7F29-954E-92AA-D21618AFE96F}"/>
              </a:ext>
            </a:extLst>
          </p:cNvPr>
          <p:cNvSpPr/>
          <p:nvPr/>
        </p:nvSpPr>
        <p:spPr>
          <a:xfrm>
            <a:off x="7860792" y="1737856"/>
            <a:ext cx="1219200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0A6E7278-E2A9-854F-9D9B-391DDD98E9B8}"/>
              </a:ext>
            </a:extLst>
          </p:cNvPr>
          <p:cNvSpPr/>
          <p:nvPr/>
        </p:nvSpPr>
        <p:spPr>
          <a:xfrm>
            <a:off x="9107424" y="1737855"/>
            <a:ext cx="280194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igura a mano libera 13">
            <a:extLst>
              <a:ext uri="{FF2B5EF4-FFF2-40B4-BE49-F238E27FC236}">
                <a16:creationId xmlns:a16="http://schemas.microsoft.com/office/drawing/2014/main" id="{8662B5DA-E202-5040-BCEF-C1DB5B1E0936}"/>
              </a:ext>
            </a:extLst>
          </p:cNvPr>
          <p:cNvSpPr/>
          <p:nvPr/>
        </p:nvSpPr>
        <p:spPr>
          <a:xfrm>
            <a:off x="8646954" y="1938528"/>
            <a:ext cx="597630" cy="600924"/>
          </a:xfrm>
          <a:custGeom>
            <a:avLst/>
            <a:gdLst>
              <a:gd name="connsiteX0" fmla="*/ 512064 w 512064"/>
              <a:gd name="connsiteY0" fmla="*/ 0 h 576072"/>
              <a:gd name="connsiteX1" fmla="*/ 411480 w 512064"/>
              <a:gd name="connsiteY1" fmla="*/ 182880 h 576072"/>
              <a:gd name="connsiteX2" fmla="*/ 182880 w 512064"/>
              <a:gd name="connsiteY2" fmla="*/ 320040 h 576072"/>
              <a:gd name="connsiteX3" fmla="*/ 91440 w 512064"/>
              <a:gd name="connsiteY3" fmla="*/ 402336 h 576072"/>
              <a:gd name="connsiteX4" fmla="*/ 0 w 512064"/>
              <a:gd name="connsiteY4" fmla="*/ 576072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64" h="576072">
                <a:moveTo>
                  <a:pt x="512064" y="0"/>
                </a:moveTo>
                <a:cubicBezTo>
                  <a:pt x="489204" y="64770"/>
                  <a:pt x="466344" y="129540"/>
                  <a:pt x="411480" y="182880"/>
                </a:cubicBezTo>
                <a:cubicBezTo>
                  <a:pt x="356616" y="236220"/>
                  <a:pt x="236220" y="283464"/>
                  <a:pt x="182880" y="320040"/>
                </a:cubicBezTo>
                <a:cubicBezTo>
                  <a:pt x="129540" y="356616"/>
                  <a:pt x="121920" y="359664"/>
                  <a:pt x="91440" y="402336"/>
                </a:cubicBezTo>
                <a:cubicBezTo>
                  <a:pt x="60960" y="445008"/>
                  <a:pt x="30480" y="510540"/>
                  <a:pt x="0" y="576072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102258B1-BFBD-314E-B0AD-673C17065BD9}"/>
              </a:ext>
            </a:extLst>
          </p:cNvPr>
          <p:cNvSpPr/>
          <p:nvPr/>
        </p:nvSpPr>
        <p:spPr>
          <a:xfrm>
            <a:off x="7696200" y="1938528"/>
            <a:ext cx="643128" cy="600924"/>
          </a:xfrm>
          <a:custGeom>
            <a:avLst/>
            <a:gdLst>
              <a:gd name="connsiteX0" fmla="*/ 731520 w 731520"/>
              <a:gd name="connsiteY0" fmla="*/ 0 h 530352"/>
              <a:gd name="connsiteX1" fmla="*/ 640080 w 731520"/>
              <a:gd name="connsiteY1" fmla="*/ 164592 h 530352"/>
              <a:gd name="connsiteX2" fmla="*/ 365760 w 731520"/>
              <a:gd name="connsiteY2" fmla="*/ 265176 h 530352"/>
              <a:gd name="connsiteX3" fmla="*/ 109728 w 731520"/>
              <a:gd name="connsiteY3" fmla="*/ 356616 h 530352"/>
              <a:gd name="connsiteX4" fmla="*/ 0 w 731520"/>
              <a:gd name="connsiteY4" fmla="*/ 530352 h 530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520" h="530352">
                <a:moveTo>
                  <a:pt x="731520" y="0"/>
                </a:moveTo>
                <a:cubicBezTo>
                  <a:pt x="716280" y="60198"/>
                  <a:pt x="701040" y="120396"/>
                  <a:pt x="640080" y="164592"/>
                </a:cubicBezTo>
                <a:cubicBezTo>
                  <a:pt x="579120" y="208788"/>
                  <a:pt x="365760" y="265176"/>
                  <a:pt x="365760" y="265176"/>
                </a:cubicBezTo>
                <a:cubicBezTo>
                  <a:pt x="277368" y="297180"/>
                  <a:pt x="170688" y="312420"/>
                  <a:pt x="109728" y="356616"/>
                </a:cubicBezTo>
                <a:cubicBezTo>
                  <a:pt x="48768" y="400812"/>
                  <a:pt x="24384" y="465582"/>
                  <a:pt x="0" y="530352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1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F19394-58D6-CF43-988F-FC4C1C1F4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microservices and </a:t>
            </a:r>
            <a:r>
              <a:rPr lang="en-US"/>
              <a:t>API Gateway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9FADA2-3A83-BF46-A0C3-0D1EB1433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635879"/>
          </a:xfrm>
        </p:spPr>
        <p:txBody>
          <a:bodyPr>
            <a:normAutofit/>
          </a:bodyPr>
          <a:lstStyle/>
          <a:p>
            <a:r>
              <a:rPr lang="en-US" sz="2000" dirty="0"/>
              <a:t>Update </a:t>
            </a:r>
            <a:r>
              <a:rPr lang="en-US" sz="2000" dirty="0" err="1">
                <a:latin typeface="+mj-lt"/>
              </a:rPr>
              <a:t>pom.xml</a:t>
            </a:r>
            <a:r>
              <a:rPr lang="en-US" sz="2000" dirty="0"/>
              <a:t> file (see slide notes)</a:t>
            </a:r>
          </a:p>
          <a:p>
            <a:pPr lvl="1"/>
            <a:r>
              <a:rPr lang="en-US" sz="1800" dirty="0"/>
              <a:t>Add dependency management  for spring cloud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spring-cloud-config-client</a:t>
            </a:r>
            <a:r>
              <a:rPr lang="en-US" sz="1800" dirty="0"/>
              <a:t> dependency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000" dirty="0"/>
              <a:t>Create a new </a:t>
            </a:r>
            <a:r>
              <a:rPr lang="en-US" sz="2000" dirty="0" err="1">
                <a:latin typeface="+mj-lt"/>
              </a:rPr>
              <a:t>application.properties</a:t>
            </a:r>
            <a:r>
              <a:rPr lang="en-US" sz="2000" dirty="0"/>
              <a:t> file</a:t>
            </a:r>
            <a:endParaRPr lang="en-US" sz="1600" dirty="0"/>
          </a:p>
          <a:p>
            <a:r>
              <a:rPr lang="en-US" sz="2000" dirty="0"/>
              <a:t>Set the following properties</a:t>
            </a:r>
          </a:p>
          <a:p>
            <a:pPr lvl="1"/>
            <a:r>
              <a:rPr lang="en-US" sz="1800" dirty="0" err="1">
                <a:latin typeface="+mj-lt"/>
              </a:rPr>
              <a:t>spring.application.name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 err="1">
                <a:latin typeface="+mj-lt"/>
              </a:rPr>
              <a:t>spring.profiles.active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 err="1">
                <a:latin typeface="+mj-lt"/>
              </a:rPr>
              <a:t>spring.config.import</a:t>
            </a:r>
            <a:endParaRPr lang="en-US" sz="18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Run and test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Run the microservice, change the port on the configuration file, stop and re-run the microservice</a:t>
            </a:r>
          </a:p>
        </p:txBody>
      </p:sp>
      <p:pic>
        <p:nvPicPr>
          <p:cNvPr id="9" name="Immagine 8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DBA0087B-9FA4-DD4A-BCAC-17D820148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0" y="4697159"/>
            <a:ext cx="6388100" cy="965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Immagine 11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03944E55-A6D2-3645-8773-271B661846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33" t="24790" r="44499" b="2864"/>
          <a:stretch/>
        </p:blipFill>
        <p:spPr>
          <a:xfrm>
            <a:off x="6309907" y="3209472"/>
            <a:ext cx="3030943" cy="7075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F6AC99EB-2C24-4C4B-B545-15E20E0A16B5}"/>
              </a:ext>
            </a:extLst>
          </p:cNvPr>
          <p:cNvSpPr/>
          <p:nvPr/>
        </p:nvSpPr>
        <p:spPr>
          <a:xfrm>
            <a:off x="6714162" y="3712701"/>
            <a:ext cx="1348523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4F93B0C6-75AA-B749-90E4-15A799D0E5A7}"/>
              </a:ext>
            </a:extLst>
          </p:cNvPr>
          <p:cNvSpPr/>
          <p:nvPr/>
        </p:nvSpPr>
        <p:spPr>
          <a:xfrm>
            <a:off x="8121649" y="3712700"/>
            <a:ext cx="280194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22D67018-2D89-2E4C-8823-04BEFE3E451A}"/>
              </a:ext>
            </a:extLst>
          </p:cNvPr>
          <p:cNvSpPr/>
          <p:nvPr/>
        </p:nvSpPr>
        <p:spPr>
          <a:xfrm>
            <a:off x="6146800" y="3989587"/>
            <a:ext cx="1034322" cy="707572"/>
          </a:xfrm>
          <a:custGeom>
            <a:avLst/>
            <a:gdLst>
              <a:gd name="connsiteX0" fmla="*/ 1219200 w 1219200"/>
              <a:gd name="connsiteY0" fmla="*/ 0 h 653143"/>
              <a:gd name="connsiteX1" fmla="*/ 1088571 w 1219200"/>
              <a:gd name="connsiteY1" fmla="*/ 206828 h 653143"/>
              <a:gd name="connsiteX2" fmla="*/ 718457 w 1219200"/>
              <a:gd name="connsiteY2" fmla="*/ 315686 h 653143"/>
              <a:gd name="connsiteX3" fmla="*/ 250371 w 1219200"/>
              <a:gd name="connsiteY3" fmla="*/ 424543 h 653143"/>
              <a:gd name="connsiteX4" fmla="*/ 0 w 1219200"/>
              <a:gd name="connsiteY4" fmla="*/ 653143 h 653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" h="653143">
                <a:moveTo>
                  <a:pt x="1219200" y="0"/>
                </a:moveTo>
                <a:cubicBezTo>
                  <a:pt x="1195614" y="77107"/>
                  <a:pt x="1172028" y="154214"/>
                  <a:pt x="1088571" y="206828"/>
                </a:cubicBezTo>
                <a:cubicBezTo>
                  <a:pt x="1005114" y="259442"/>
                  <a:pt x="858157" y="279400"/>
                  <a:pt x="718457" y="315686"/>
                </a:cubicBezTo>
                <a:cubicBezTo>
                  <a:pt x="578757" y="351972"/>
                  <a:pt x="370114" y="368300"/>
                  <a:pt x="250371" y="424543"/>
                </a:cubicBezTo>
                <a:cubicBezTo>
                  <a:pt x="130628" y="480786"/>
                  <a:pt x="50800" y="595086"/>
                  <a:pt x="0" y="653143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igura a mano libera 15">
            <a:extLst>
              <a:ext uri="{FF2B5EF4-FFF2-40B4-BE49-F238E27FC236}">
                <a16:creationId xmlns:a16="http://schemas.microsoft.com/office/drawing/2014/main" id="{E7FDFF27-042E-EC4A-A2CB-6716976E13AA}"/>
              </a:ext>
            </a:extLst>
          </p:cNvPr>
          <p:cNvSpPr/>
          <p:nvPr/>
        </p:nvSpPr>
        <p:spPr>
          <a:xfrm>
            <a:off x="5422900" y="3989587"/>
            <a:ext cx="2835729" cy="1152809"/>
          </a:xfrm>
          <a:custGeom>
            <a:avLst/>
            <a:gdLst>
              <a:gd name="connsiteX0" fmla="*/ 2743200 w 2743200"/>
              <a:gd name="connsiteY0" fmla="*/ 0 h 1230086"/>
              <a:gd name="connsiteX1" fmla="*/ 2547257 w 2743200"/>
              <a:gd name="connsiteY1" fmla="*/ 489857 h 1230086"/>
              <a:gd name="connsiteX2" fmla="*/ 1981200 w 2743200"/>
              <a:gd name="connsiteY2" fmla="*/ 936171 h 1230086"/>
              <a:gd name="connsiteX3" fmla="*/ 990600 w 2743200"/>
              <a:gd name="connsiteY3" fmla="*/ 1175657 h 1230086"/>
              <a:gd name="connsiteX4" fmla="*/ 0 w 2743200"/>
              <a:gd name="connsiteY4" fmla="*/ 1230086 h 123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1230086">
                <a:moveTo>
                  <a:pt x="2743200" y="0"/>
                </a:moveTo>
                <a:cubicBezTo>
                  <a:pt x="2708728" y="166914"/>
                  <a:pt x="2674257" y="333829"/>
                  <a:pt x="2547257" y="489857"/>
                </a:cubicBezTo>
                <a:cubicBezTo>
                  <a:pt x="2420257" y="645885"/>
                  <a:pt x="2240643" y="821871"/>
                  <a:pt x="1981200" y="936171"/>
                </a:cubicBezTo>
                <a:cubicBezTo>
                  <a:pt x="1721757" y="1050471"/>
                  <a:pt x="1320800" y="1126671"/>
                  <a:pt x="990600" y="1175657"/>
                </a:cubicBezTo>
                <a:cubicBezTo>
                  <a:pt x="660400" y="1224643"/>
                  <a:pt x="330200" y="1227364"/>
                  <a:pt x="0" y="1230086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5091DD2B-120B-6C47-8F4F-7359B8CE870B}"/>
              </a:ext>
            </a:extLst>
          </p:cNvPr>
          <p:cNvSpPr/>
          <p:nvPr/>
        </p:nvSpPr>
        <p:spPr>
          <a:xfrm>
            <a:off x="6885792" y="5379331"/>
            <a:ext cx="1978808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igura a mano libera 17">
            <a:extLst>
              <a:ext uri="{FF2B5EF4-FFF2-40B4-BE49-F238E27FC236}">
                <a16:creationId xmlns:a16="http://schemas.microsoft.com/office/drawing/2014/main" id="{383FB2C3-5ED6-624C-B0D9-D2193794141A}"/>
              </a:ext>
            </a:extLst>
          </p:cNvPr>
          <p:cNvSpPr/>
          <p:nvPr/>
        </p:nvSpPr>
        <p:spPr>
          <a:xfrm>
            <a:off x="8864600" y="5467645"/>
            <a:ext cx="652166" cy="204343"/>
          </a:xfrm>
          <a:custGeom>
            <a:avLst/>
            <a:gdLst>
              <a:gd name="connsiteX0" fmla="*/ 0 w 914400"/>
              <a:gd name="connsiteY0" fmla="*/ 5679 h 158079"/>
              <a:gd name="connsiteX1" fmla="*/ 482600 w 914400"/>
              <a:gd name="connsiteY1" fmla="*/ 18379 h 158079"/>
              <a:gd name="connsiteX2" fmla="*/ 914400 w 914400"/>
              <a:gd name="connsiteY2" fmla="*/ 158079 h 15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158079">
                <a:moveTo>
                  <a:pt x="0" y="5679"/>
                </a:moveTo>
                <a:cubicBezTo>
                  <a:pt x="165100" y="-671"/>
                  <a:pt x="330200" y="-7021"/>
                  <a:pt x="482600" y="18379"/>
                </a:cubicBezTo>
                <a:cubicBezTo>
                  <a:pt x="635000" y="43779"/>
                  <a:pt x="774700" y="100929"/>
                  <a:pt x="914400" y="158079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41E4EBF-343A-C744-919A-2A37385EAE15}"/>
              </a:ext>
            </a:extLst>
          </p:cNvPr>
          <p:cNvSpPr txBox="1"/>
          <p:nvPr/>
        </p:nvSpPr>
        <p:spPr>
          <a:xfrm>
            <a:off x="9340850" y="5635296"/>
            <a:ext cx="2483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Configuration server URI</a:t>
            </a:r>
          </a:p>
        </p:txBody>
      </p:sp>
    </p:spTree>
    <p:extLst>
      <p:ext uri="{BB962C8B-B14F-4D97-AF65-F5344CB8AC3E}">
        <p14:creationId xmlns:p14="http://schemas.microsoft.com/office/powerpoint/2010/main" val="186850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D21217-E26D-894F-8A00-4BA7D43C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properties at runtime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E091DE-E998-2F4A-8CAD-4E50AAD19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4721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Let's do a test</a:t>
            </a:r>
          </a:p>
          <a:p>
            <a:r>
              <a:rPr lang="en-US" sz="2400" dirty="0"/>
              <a:t>Change the user-microservice configuration</a:t>
            </a:r>
          </a:p>
          <a:p>
            <a:pPr lvl="1"/>
            <a:r>
              <a:rPr lang="en-US" sz="2000" dirty="0"/>
              <a:t>Set the service port to, e.g., 9045</a:t>
            </a:r>
          </a:p>
          <a:p>
            <a:r>
              <a:rPr lang="en-US" sz="2400" dirty="0"/>
              <a:t>Restart user-service</a:t>
            </a:r>
          </a:p>
          <a:p>
            <a:pPr lvl="1"/>
            <a:r>
              <a:rPr lang="en-US" sz="2000" dirty="0"/>
              <a:t>(We need to restart for updating its port)</a:t>
            </a:r>
          </a:p>
          <a:p>
            <a:r>
              <a:rPr lang="en-US" sz="2400" dirty="0"/>
              <a:t>Send a GET request to job microservice</a:t>
            </a:r>
          </a:p>
          <a:p>
            <a:pPr lvl="1"/>
            <a:r>
              <a:rPr lang="en-US" sz="2000" dirty="0"/>
              <a:t>[GET] http://localhost:9055/job/apply/applicant/2</a:t>
            </a:r>
          </a:p>
          <a:p>
            <a:pPr lvl="1"/>
            <a:endParaRPr lang="en-US" sz="2000" dirty="0"/>
          </a:p>
          <a:p>
            <a:r>
              <a:rPr lang="en-US" sz="2400" dirty="0"/>
              <a:t>We should get an error</a:t>
            </a:r>
          </a:p>
          <a:p>
            <a:pPr lvl="1"/>
            <a:r>
              <a:rPr lang="en-US" sz="2000" dirty="0"/>
              <a:t>Job service tries to invoke User service, but it is running on a different port</a:t>
            </a:r>
          </a:p>
          <a:p>
            <a:pPr lvl="1"/>
            <a:r>
              <a:rPr lang="en-US" sz="2000" dirty="0"/>
              <a:t>We should update the configuration of Job service</a:t>
            </a:r>
          </a:p>
          <a:p>
            <a:pPr lvl="1"/>
            <a:r>
              <a:rPr lang="en-US" sz="2000" dirty="0"/>
              <a:t>We need to restart the service for this?</a:t>
            </a:r>
          </a:p>
        </p:txBody>
      </p:sp>
    </p:spTree>
    <p:extLst>
      <p:ext uri="{BB962C8B-B14F-4D97-AF65-F5344CB8AC3E}">
        <p14:creationId xmlns:p14="http://schemas.microsoft.com/office/powerpoint/2010/main" val="4276876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431480-8EAD-FE49-A059-9AAC8063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 and @</a:t>
            </a:r>
            <a:r>
              <a:rPr lang="en-US" dirty="0" err="1"/>
              <a:t>RefreshScope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0D6666-DB17-B04F-A159-7266897EF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216780"/>
          </a:xfrm>
        </p:spPr>
        <p:txBody>
          <a:bodyPr>
            <a:normAutofit/>
          </a:bodyPr>
          <a:lstStyle/>
          <a:p>
            <a:r>
              <a:rPr lang="en-US" sz="2400" dirty="0"/>
              <a:t>Using </a:t>
            </a:r>
            <a:r>
              <a:rPr lang="en-US" sz="2400" dirty="0">
                <a:latin typeface="+mj-lt"/>
              </a:rPr>
              <a:t>@</a:t>
            </a:r>
            <a:r>
              <a:rPr lang="en-US" sz="2400" dirty="0" err="1">
                <a:latin typeface="+mj-lt"/>
              </a:rPr>
              <a:t>RefreshScope</a:t>
            </a:r>
            <a:r>
              <a:rPr lang="en-US" sz="2400" dirty="0"/>
              <a:t> annotation on a bean we can force it to refresh its configuration</a:t>
            </a:r>
          </a:p>
          <a:p>
            <a:pPr lvl="1"/>
            <a:r>
              <a:rPr lang="en-US" sz="2000" dirty="0"/>
              <a:t>E.g., the </a:t>
            </a:r>
            <a:r>
              <a:rPr lang="en-US" sz="2000" dirty="0">
                <a:latin typeface="+mj-lt"/>
              </a:rPr>
              <a:t>@Value</a:t>
            </a:r>
            <a:r>
              <a:rPr lang="en-US" sz="2000" dirty="0"/>
              <a:t> annotated properties</a:t>
            </a:r>
          </a:p>
          <a:p>
            <a:pPr lvl="1"/>
            <a:endParaRPr lang="en-US" dirty="0"/>
          </a:p>
          <a:p>
            <a:r>
              <a:rPr lang="en-US" sz="2400" dirty="0"/>
              <a:t>Add </a:t>
            </a:r>
            <a:r>
              <a:rPr lang="en-US" sz="2400" dirty="0">
                <a:latin typeface="+mj-lt"/>
              </a:rPr>
              <a:t>@</a:t>
            </a:r>
            <a:r>
              <a:rPr lang="en-US" sz="2400" dirty="0" err="1">
                <a:latin typeface="+mj-lt"/>
              </a:rPr>
              <a:t>RefreshScope</a:t>
            </a:r>
            <a:r>
              <a:rPr lang="en-US" sz="2400" dirty="0"/>
              <a:t> to </a:t>
            </a:r>
            <a:r>
              <a:rPr lang="it-IT" sz="2400" dirty="0" err="1">
                <a:latin typeface="+mj-lt"/>
              </a:rPr>
              <a:t>UserMicroserviceInvoker</a:t>
            </a:r>
            <a:r>
              <a:rPr lang="it-IT" sz="2400" dirty="0"/>
              <a:t> </a:t>
            </a:r>
            <a:r>
              <a:rPr lang="it-IT" sz="2400" dirty="0" err="1"/>
              <a:t>class</a:t>
            </a:r>
            <a:endParaRPr lang="it-IT" sz="2400" dirty="0"/>
          </a:p>
          <a:p>
            <a:r>
              <a:rPr lang="it-IT" sz="2400" dirty="0" err="1"/>
              <a:t>Add</a:t>
            </a:r>
            <a:r>
              <a:rPr lang="it-IT" sz="2400" dirty="0"/>
              <a:t> </a:t>
            </a:r>
            <a:r>
              <a:rPr lang="it-IT" sz="2400" dirty="0" err="1">
                <a:latin typeface="+mj-lt"/>
              </a:rPr>
              <a:t>refresh</a:t>
            </a:r>
            <a:r>
              <a:rPr lang="it-IT" sz="2400" dirty="0"/>
              <a:t> to the </a:t>
            </a:r>
            <a:r>
              <a:rPr lang="it-IT" sz="2400" dirty="0" err="1"/>
              <a:t>actuator's</a:t>
            </a:r>
            <a:r>
              <a:rPr lang="it-IT" sz="2400" dirty="0"/>
              <a:t> </a:t>
            </a:r>
            <a:r>
              <a:rPr lang="it-IT" sz="2400" dirty="0" err="1"/>
              <a:t>exposed</a:t>
            </a:r>
            <a:r>
              <a:rPr lang="it-IT" sz="2400" dirty="0"/>
              <a:t> </a:t>
            </a:r>
            <a:r>
              <a:rPr lang="it-IT" sz="2400" dirty="0" err="1"/>
              <a:t>endopoints</a:t>
            </a:r>
            <a:endParaRPr lang="it-IT" sz="2400" dirty="0"/>
          </a:p>
          <a:p>
            <a:pPr lvl="1"/>
            <a:r>
              <a:rPr lang="it-IT" sz="2000" dirty="0" err="1"/>
              <a:t>Into</a:t>
            </a:r>
            <a:r>
              <a:rPr lang="it-IT" sz="2000" dirty="0"/>
              <a:t> </a:t>
            </a:r>
            <a:r>
              <a:rPr lang="it-IT" sz="2000" dirty="0">
                <a:latin typeface="+mj-lt"/>
              </a:rPr>
              <a:t>job-</a:t>
            </a:r>
            <a:r>
              <a:rPr lang="it-IT" sz="2000" dirty="0" err="1">
                <a:latin typeface="+mj-lt"/>
              </a:rPr>
              <a:t>microservice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dev.properties</a:t>
            </a:r>
            <a:endParaRPr lang="it-IT" sz="2000" dirty="0">
              <a:latin typeface="+mj-lt"/>
            </a:endParaRPr>
          </a:p>
          <a:p>
            <a:endParaRPr lang="en-US" sz="2000" dirty="0"/>
          </a:p>
          <a:p>
            <a:r>
              <a:rPr lang="en-US" sz="2400" dirty="0"/>
              <a:t>Invoke the actuator/refresh endpoint to update the configuration</a:t>
            </a:r>
          </a:p>
          <a:p>
            <a:pPr lvl="1"/>
            <a:r>
              <a:rPr lang="en-US" sz="2000" dirty="0"/>
              <a:t>Send an empty POST request to localhost:9055/actuator/refresh</a:t>
            </a:r>
          </a:p>
          <a:p>
            <a:endParaRPr lang="en-US" sz="2400" dirty="0"/>
          </a:p>
          <a:p>
            <a:r>
              <a:rPr lang="en-US" sz="2400" dirty="0"/>
              <a:t>Try again to call without restarting</a:t>
            </a:r>
          </a:p>
        </p:txBody>
      </p:sp>
      <p:pic>
        <p:nvPicPr>
          <p:cNvPr id="5" name="Immagine 4" descr="Immagine che contiene testo, Carattere, schermata, linea&#10;&#10;Descrizione generata automaticamente">
            <a:extLst>
              <a:ext uri="{FF2B5EF4-FFF2-40B4-BE49-F238E27FC236}">
                <a16:creationId xmlns:a16="http://schemas.microsoft.com/office/drawing/2014/main" id="{D7EA9546-5771-E940-8DE7-C02F0E14A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350" y="5441950"/>
            <a:ext cx="4254500" cy="977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Figura a mano libera 5">
            <a:extLst>
              <a:ext uri="{FF2B5EF4-FFF2-40B4-BE49-F238E27FC236}">
                <a16:creationId xmlns:a16="http://schemas.microsoft.com/office/drawing/2014/main" id="{82300B5B-2C7B-6545-AB51-77D443284EF0}"/>
              </a:ext>
            </a:extLst>
          </p:cNvPr>
          <p:cNvSpPr/>
          <p:nvPr/>
        </p:nvSpPr>
        <p:spPr>
          <a:xfrm>
            <a:off x="6045200" y="5181600"/>
            <a:ext cx="1206500" cy="673100"/>
          </a:xfrm>
          <a:custGeom>
            <a:avLst/>
            <a:gdLst>
              <a:gd name="connsiteX0" fmla="*/ 0 w 1206500"/>
              <a:gd name="connsiteY0" fmla="*/ 0 h 889000"/>
              <a:gd name="connsiteX1" fmla="*/ 76200 w 1206500"/>
              <a:gd name="connsiteY1" fmla="*/ 469900 h 889000"/>
              <a:gd name="connsiteX2" fmla="*/ 317500 w 1206500"/>
              <a:gd name="connsiteY2" fmla="*/ 723900 h 889000"/>
              <a:gd name="connsiteX3" fmla="*/ 901700 w 1206500"/>
              <a:gd name="connsiteY3" fmla="*/ 850900 h 889000"/>
              <a:gd name="connsiteX4" fmla="*/ 1206500 w 1206500"/>
              <a:gd name="connsiteY4" fmla="*/ 889000 h 88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6500" h="889000">
                <a:moveTo>
                  <a:pt x="0" y="0"/>
                </a:moveTo>
                <a:cubicBezTo>
                  <a:pt x="11641" y="174625"/>
                  <a:pt x="23283" y="349250"/>
                  <a:pt x="76200" y="469900"/>
                </a:cubicBezTo>
                <a:cubicBezTo>
                  <a:pt x="129117" y="590550"/>
                  <a:pt x="179917" y="660400"/>
                  <a:pt x="317500" y="723900"/>
                </a:cubicBezTo>
                <a:cubicBezTo>
                  <a:pt x="455083" y="787400"/>
                  <a:pt x="753533" y="823383"/>
                  <a:pt x="901700" y="850900"/>
                </a:cubicBezTo>
                <a:cubicBezTo>
                  <a:pt x="1049867" y="878417"/>
                  <a:pt x="1128183" y="883708"/>
                  <a:pt x="1206500" y="88900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5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7E3127-7EB5-7849-AD69-3D5EB5FA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multiple instances</a:t>
            </a:r>
          </a:p>
        </p:txBody>
      </p:sp>
    </p:spTree>
    <p:extLst>
      <p:ext uri="{BB962C8B-B14F-4D97-AF65-F5344CB8AC3E}">
        <p14:creationId xmlns:p14="http://schemas.microsoft.com/office/powerpoint/2010/main" val="27005047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D4013E-FE42-1943-9787-DAA22F4A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multiple instances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7CAD82-5A9E-C64B-8168-2D4B72A98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472165"/>
          </a:xfrm>
        </p:spPr>
        <p:txBody>
          <a:bodyPr>
            <a:normAutofit/>
          </a:bodyPr>
          <a:lstStyle/>
          <a:p>
            <a:r>
              <a:rPr lang="en-US" sz="2400" dirty="0"/>
              <a:t>If we try to run each service more than once, we'll get an error</a:t>
            </a:r>
          </a:p>
          <a:p>
            <a:pPr lvl="1"/>
            <a:r>
              <a:rPr lang="en-US" sz="2000" dirty="0"/>
              <a:t>(If on the same host)</a:t>
            </a:r>
          </a:p>
          <a:p>
            <a:pPr lvl="1"/>
            <a:r>
              <a:rPr lang="en-US" sz="2000" dirty="0"/>
              <a:t>The port is already in use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Containerization solves this problem</a:t>
            </a:r>
          </a:p>
          <a:p>
            <a:pPr lvl="1"/>
            <a:r>
              <a:rPr lang="en-US" sz="2000" dirty="0"/>
              <a:t>Each service runs on its container, with port mapped</a:t>
            </a:r>
          </a:p>
          <a:p>
            <a:pPr lvl="1"/>
            <a:endParaRPr lang="en-US" sz="2000" dirty="0"/>
          </a:p>
          <a:p>
            <a:r>
              <a:rPr lang="en-US" sz="2400" dirty="0"/>
              <a:t>If we do not want this, we should provide different properties for each instance</a:t>
            </a:r>
          </a:p>
          <a:p>
            <a:pPr lvl="1"/>
            <a:r>
              <a:rPr lang="en-US" sz="2000" dirty="0"/>
              <a:t>Does not sound good</a:t>
            </a:r>
            <a:endParaRPr lang="en-US" dirty="0"/>
          </a:p>
          <a:p>
            <a:pPr lvl="1"/>
            <a:endParaRPr lang="en-US" sz="2000" dirty="0"/>
          </a:p>
          <a:p>
            <a:r>
              <a:rPr lang="en-US" sz="2400" dirty="0"/>
              <a:t>We can override properties through command-line arguments</a:t>
            </a:r>
          </a:p>
          <a:p>
            <a:pPr lvl="1"/>
            <a:r>
              <a:rPr lang="en-US" sz="2000" dirty="0"/>
              <a:t>Command line arguments take precedence over file-based property sources</a:t>
            </a:r>
          </a:p>
          <a:p>
            <a:pPr lvl="1"/>
            <a:r>
              <a:rPr lang="en-US" sz="2000" dirty="0"/>
              <a:t>E.g., </a:t>
            </a:r>
            <a:r>
              <a:rPr lang="en-US" sz="2000" dirty="0" err="1">
                <a:latin typeface="+mj-lt"/>
              </a:rPr>
              <a:t>mvn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spring-boot:run</a:t>
            </a:r>
            <a:r>
              <a:rPr lang="en-US" sz="2000" dirty="0">
                <a:latin typeface="+mj-lt"/>
              </a:rPr>
              <a:t> -</a:t>
            </a:r>
            <a:r>
              <a:rPr lang="en-US" sz="2000" dirty="0" err="1">
                <a:latin typeface="+mj-lt"/>
              </a:rPr>
              <a:t>Dspring-boot.run.arguments</a:t>
            </a:r>
            <a:r>
              <a:rPr lang="en-US" sz="2000" dirty="0">
                <a:latin typeface="+mj-lt"/>
              </a:rPr>
              <a:t>="--</a:t>
            </a:r>
            <a:r>
              <a:rPr lang="en-US" sz="2000" dirty="0" err="1">
                <a:latin typeface="+mj-lt"/>
              </a:rPr>
              <a:t>server.port</a:t>
            </a:r>
            <a:r>
              <a:rPr lang="en-US" sz="2000">
                <a:latin typeface="+mj-lt"/>
              </a:rPr>
              <a:t>=9066"</a:t>
            </a:r>
            <a:endParaRPr lang="en-US" sz="2000" dirty="0">
              <a:latin typeface="+mj-lt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D0E90BF-17A4-A441-B7F2-B9950A55F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525" y="1815926"/>
            <a:ext cx="4451652" cy="114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Figura a mano libera 5">
            <a:extLst>
              <a:ext uri="{FF2B5EF4-FFF2-40B4-BE49-F238E27FC236}">
                <a16:creationId xmlns:a16="http://schemas.microsoft.com/office/drawing/2014/main" id="{A3AD83DC-58BD-DD46-9235-6B1AA3C6C4D2}"/>
              </a:ext>
            </a:extLst>
          </p:cNvPr>
          <p:cNvSpPr/>
          <p:nvPr/>
        </p:nvSpPr>
        <p:spPr>
          <a:xfrm>
            <a:off x="2893512" y="2339236"/>
            <a:ext cx="2401501" cy="308272"/>
          </a:xfrm>
          <a:custGeom>
            <a:avLst/>
            <a:gdLst>
              <a:gd name="connsiteX0" fmla="*/ 0 w 2066794"/>
              <a:gd name="connsiteY0" fmla="*/ 0 h 375781"/>
              <a:gd name="connsiteX1" fmla="*/ 175364 w 2066794"/>
              <a:gd name="connsiteY1" fmla="*/ 225469 h 375781"/>
              <a:gd name="connsiteX2" fmla="*/ 651353 w 2066794"/>
              <a:gd name="connsiteY2" fmla="*/ 350729 h 375781"/>
              <a:gd name="connsiteX3" fmla="*/ 2066794 w 2066794"/>
              <a:gd name="connsiteY3" fmla="*/ 375781 h 37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794" h="375781">
                <a:moveTo>
                  <a:pt x="0" y="0"/>
                </a:moveTo>
                <a:cubicBezTo>
                  <a:pt x="33402" y="83507"/>
                  <a:pt x="66805" y="167014"/>
                  <a:pt x="175364" y="225469"/>
                </a:cubicBezTo>
                <a:cubicBezTo>
                  <a:pt x="283923" y="283924"/>
                  <a:pt x="336115" y="325677"/>
                  <a:pt x="651353" y="350729"/>
                </a:cubicBezTo>
                <a:cubicBezTo>
                  <a:pt x="966591" y="375781"/>
                  <a:pt x="1516692" y="375781"/>
                  <a:pt x="2066794" y="375781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31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FDD2AE-B83A-D24D-8B01-8D459397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balancing</a:t>
            </a:r>
          </a:p>
        </p:txBody>
      </p:sp>
    </p:spTree>
    <p:extLst>
      <p:ext uri="{BB962C8B-B14F-4D97-AF65-F5344CB8AC3E}">
        <p14:creationId xmlns:p14="http://schemas.microsoft.com/office/powerpoint/2010/main" val="1960710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58F4C-09B5-4D45-A7B8-1E2FB1AB1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balancing microservices</a:t>
            </a:r>
          </a:p>
        </p:txBody>
      </p:sp>
      <p:pic>
        <p:nvPicPr>
          <p:cNvPr id="5" name="Immagine 4" descr="Immagine che contiene diagramma, testo, Piano, linea&#10;&#10;Descrizione generata automaticamente">
            <a:extLst>
              <a:ext uri="{FF2B5EF4-FFF2-40B4-BE49-F238E27FC236}">
                <a16:creationId xmlns:a16="http://schemas.microsoft.com/office/drawing/2014/main" id="{5701B919-C187-6A44-9A61-66BABF810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461" y="1845684"/>
            <a:ext cx="5769077" cy="386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708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2D74D5-7476-B643-A352-9FF11FEC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Netflix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58D7FA-54C4-CD43-BE62-BE38A2D3E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Spring Cloud Netflix provides tools to realize load balancing by integrating Netflix components</a:t>
            </a:r>
          </a:p>
          <a:p>
            <a:pPr lvl="1"/>
            <a:r>
              <a:rPr lang="en-US" sz="2000" dirty="0"/>
              <a:t>Service discovery (Eureka)</a:t>
            </a:r>
          </a:p>
          <a:p>
            <a:pPr lvl="1"/>
            <a:r>
              <a:rPr lang="en-US" sz="2000" dirty="0"/>
              <a:t>Netflix Eureka has served Netflix for years</a:t>
            </a:r>
          </a:p>
          <a:p>
            <a:pPr lvl="1"/>
            <a:r>
              <a:rPr lang="en-US" sz="2000" dirty="0"/>
              <a:t>Previous version included Ribbon and </a:t>
            </a:r>
            <a:r>
              <a:rPr lang="en-US" sz="2000" dirty="0" err="1"/>
              <a:t>Zuul</a:t>
            </a:r>
            <a:r>
              <a:rPr lang="en-US" sz="2000" dirty="0"/>
              <a:t> for load balancing, </a:t>
            </a:r>
            <a:r>
              <a:rPr lang="en-US" sz="2000" dirty="0" err="1"/>
              <a:t>Hystrix</a:t>
            </a:r>
            <a:r>
              <a:rPr lang="en-US" sz="2000" dirty="0"/>
              <a:t> for fault tolerance</a:t>
            </a:r>
          </a:p>
          <a:p>
            <a:pPr lvl="1"/>
            <a:endParaRPr lang="en-US" sz="2000" dirty="0"/>
          </a:p>
          <a:p>
            <a:r>
              <a:rPr lang="en-US" sz="2400" dirty="0"/>
              <a:t>Eureka client</a:t>
            </a:r>
          </a:p>
          <a:p>
            <a:pPr lvl="1"/>
            <a:r>
              <a:rPr lang="en-US" sz="2000" dirty="0"/>
              <a:t>Eureka client services register to the server and discover client instances</a:t>
            </a:r>
          </a:p>
          <a:p>
            <a:pPr lvl="1"/>
            <a:r>
              <a:rPr lang="en-US" sz="2000" dirty="0"/>
              <a:t>Send heartbeats to the service</a:t>
            </a:r>
          </a:p>
          <a:p>
            <a:r>
              <a:rPr lang="en-US" sz="2400" dirty="0"/>
              <a:t>Eureka server</a:t>
            </a:r>
          </a:p>
          <a:p>
            <a:pPr lvl="1"/>
            <a:r>
              <a:rPr lang="en-US" sz="2000" dirty="0"/>
              <a:t>Provides a home page with a UI and HTTP API endpoints for the normal Eureka functionality</a:t>
            </a:r>
          </a:p>
        </p:txBody>
      </p:sp>
    </p:spTree>
    <p:extLst>
      <p:ext uri="{BB962C8B-B14F-4D97-AF65-F5344CB8AC3E}">
        <p14:creationId xmlns:p14="http://schemas.microsoft.com/office/powerpoint/2010/main" val="17984276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7CE802-8996-2349-B561-9EABF63D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our </a:t>
            </a:r>
            <a:r>
              <a:rPr lang="en-US" dirty="0" err="1"/>
              <a:t>Openjob</a:t>
            </a:r>
            <a:r>
              <a:rPr lang="en-US" dirty="0"/>
              <a:t> system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6E7318-3CF6-2E4E-A2DE-2E2304464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1689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Steps</a:t>
            </a:r>
          </a:p>
          <a:p>
            <a:r>
              <a:rPr lang="en-US" sz="2000" dirty="0"/>
              <a:t>Create a discovery server</a:t>
            </a:r>
          </a:p>
          <a:p>
            <a:r>
              <a:rPr lang="en-US" sz="2000" dirty="0"/>
              <a:t>Update services to work as eureka clients</a:t>
            </a:r>
          </a:p>
          <a:p>
            <a:r>
              <a:rPr lang="en-US" sz="2000" dirty="0"/>
              <a:t>Update the gateway to work as a load balancer</a:t>
            </a:r>
          </a:p>
        </p:txBody>
      </p:sp>
      <p:pic>
        <p:nvPicPr>
          <p:cNvPr id="4" name="Picture 4" descr="Risultati immagini per git repo">
            <a:extLst>
              <a:ext uri="{FF2B5EF4-FFF2-40B4-BE49-F238E27FC236}">
                <a16:creationId xmlns:a16="http://schemas.microsoft.com/office/drawing/2014/main" id="{110A6FFC-B8CB-3245-B149-CDA0316230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9" t="18687" r="33546" b="7169"/>
          <a:stretch/>
        </p:blipFill>
        <p:spPr bwMode="auto">
          <a:xfrm>
            <a:off x="1736971" y="4185244"/>
            <a:ext cx="431053" cy="50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6A66D9BB-AB10-DE42-8C42-7D4FB30CA00A}"/>
              </a:ext>
            </a:extLst>
          </p:cNvPr>
          <p:cNvCxnSpPr>
            <a:cxnSpLocks/>
            <a:stCxn id="25" idx="0"/>
          </p:cNvCxnSpPr>
          <p:nvPr/>
        </p:nvCxnSpPr>
        <p:spPr>
          <a:xfrm>
            <a:off x="8198163" y="3580919"/>
            <a:ext cx="611778" cy="1487098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9">
            <a:extLst>
              <a:ext uri="{FF2B5EF4-FFF2-40B4-BE49-F238E27FC236}">
                <a16:creationId xmlns:a16="http://schemas.microsoft.com/office/drawing/2014/main" id="{BFEAC14B-FAF7-8841-B7B5-1DF4D45C446D}"/>
              </a:ext>
            </a:extLst>
          </p:cNvPr>
          <p:cNvCxnSpPr>
            <a:cxnSpLocks/>
            <a:stCxn id="25" idx="3"/>
          </p:cNvCxnSpPr>
          <p:nvPr/>
        </p:nvCxnSpPr>
        <p:spPr>
          <a:xfrm rot="10800000" flipV="1">
            <a:off x="6240841" y="3580919"/>
            <a:ext cx="432728" cy="1480432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po 6">
            <a:extLst>
              <a:ext uri="{FF2B5EF4-FFF2-40B4-BE49-F238E27FC236}">
                <a16:creationId xmlns:a16="http://schemas.microsoft.com/office/drawing/2014/main" id="{44C43EA0-8291-9140-BBD0-EB3829C341EE}"/>
              </a:ext>
            </a:extLst>
          </p:cNvPr>
          <p:cNvGrpSpPr/>
          <p:nvPr/>
        </p:nvGrpSpPr>
        <p:grpSpPr>
          <a:xfrm>
            <a:off x="2621498" y="4091857"/>
            <a:ext cx="1524594" cy="696577"/>
            <a:chOff x="6096000" y="4209040"/>
            <a:chExt cx="1524594" cy="696577"/>
          </a:xfrm>
        </p:grpSpPr>
        <p:sp>
          <p:nvSpPr>
            <p:cNvPr id="8" name="Esagono 37">
              <a:extLst>
                <a:ext uri="{FF2B5EF4-FFF2-40B4-BE49-F238E27FC236}">
                  <a16:creationId xmlns:a16="http://schemas.microsoft.com/office/drawing/2014/main" id="{E216A241-E65F-994B-9B26-8DF3D603FBD5}"/>
                </a:ext>
              </a:extLst>
            </p:cNvPr>
            <p:cNvSpPr/>
            <p:nvPr/>
          </p:nvSpPr>
          <p:spPr>
            <a:xfrm>
              <a:off x="6096000" y="4209040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</a:t>
              </a:r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config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(8888)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1F5A1945-B925-1043-A3EA-FF2DE6533C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0150" y="4668548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7E24D0A-1517-E244-8A07-A425407FA0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2372" y="4655197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8A0EBF6B-0CF2-9F46-A983-8EC50B77ED56}"/>
              </a:ext>
            </a:extLst>
          </p:cNvPr>
          <p:cNvGrpSpPr/>
          <p:nvPr/>
        </p:nvGrpSpPr>
        <p:grpSpPr>
          <a:xfrm>
            <a:off x="8198163" y="5061351"/>
            <a:ext cx="1278989" cy="740500"/>
            <a:chOff x="5061923" y="5401391"/>
            <a:chExt cx="1278989" cy="740500"/>
          </a:xfrm>
        </p:grpSpPr>
        <p:sp>
          <p:nvSpPr>
            <p:cNvPr id="12" name="Esagono 39">
              <a:extLst>
                <a:ext uri="{FF2B5EF4-FFF2-40B4-BE49-F238E27FC236}">
                  <a16:creationId xmlns:a16="http://schemas.microsoft.com/office/drawing/2014/main" id="{0134F63F-23F9-E34C-A556-7EA044B19B6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3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3CDBF597-5F6C-1B49-9B8E-1C5B325F29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D7AB1AF3-340E-E648-9652-50F0F68E94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EDFC255-215F-7746-B4BC-3FF000BA23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0FB9D20F-B726-2D47-84AF-68FD0CB6A7EC}"/>
              </a:ext>
            </a:extLst>
          </p:cNvPr>
          <p:cNvGrpSpPr/>
          <p:nvPr/>
        </p:nvGrpSpPr>
        <p:grpSpPr>
          <a:xfrm>
            <a:off x="5595198" y="5061351"/>
            <a:ext cx="1278989" cy="740500"/>
            <a:chOff x="7398130" y="5401391"/>
            <a:chExt cx="1278989" cy="740500"/>
          </a:xfrm>
        </p:grpSpPr>
        <p:sp>
          <p:nvSpPr>
            <p:cNvPr id="17" name="Esagono 43">
              <a:extLst>
                <a:ext uri="{FF2B5EF4-FFF2-40B4-BE49-F238E27FC236}">
                  <a16:creationId xmlns:a16="http://schemas.microsoft.com/office/drawing/2014/main" id="{D824A9B1-3C32-4D42-B4DB-9FF28FFAC403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267E38FC-2348-E346-A60D-1CA80488D3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F5B03B2A-8F61-964A-8ADA-4903E1FF3F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7DA1495F-0ABD-A942-BE04-772B231E0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" name="Connettore 2 59">
            <a:extLst>
              <a:ext uri="{FF2B5EF4-FFF2-40B4-BE49-F238E27FC236}">
                <a16:creationId xmlns:a16="http://schemas.microsoft.com/office/drawing/2014/main" id="{ECE6237E-DF04-9A40-ADE4-5B6FA4581DD5}"/>
              </a:ext>
            </a:extLst>
          </p:cNvPr>
          <p:cNvCxnSpPr>
            <a:cxnSpLocks/>
            <a:stCxn id="4" idx="3"/>
            <a:endCxn id="8" idx="3"/>
          </p:cNvCxnSpPr>
          <p:nvPr/>
        </p:nvCxnSpPr>
        <p:spPr>
          <a:xfrm>
            <a:off x="2168024" y="4440146"/>
            <a:ext cx="45347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59">
            <a:extLst>
              <a:ext uri="{FF2B5EF4-FFF2-40B4-BE49-F238E27FC236}">
                <a16:creationId xmlns:a16="http://schemas.microsoft.com/office/drawing/2014/main" id="{1EDC0294-1CDC-904D-BDF5-8493B78EAE6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53551" y="3428999"/>
            <a:ext cx="2590253" cy="1004587"/>
          </a:xfrm>
          <a:prstGeom prst="bentConnector3">
            <a:avLst>
              <a:gd name="adj1" fmla="val 70809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59">
            <a:extLst>
              <a:ext uri="{FF2B5EF4-FFF2-40B4-BE49-F238E27FC236}">
                <a16:creationId xmlns:a16="http://schemas.microsoft.com/office/drawing/2014/main" id="{6F1E15B7-B12B-A84F-BF24-7FE0F7E73633}"/>
              </a:ext>
            </a:extLst>
          </p:cNvPr>
          <p:cNvCxnSpPr>
            <a:cxnSpLocks/>
            <a:endCxn id="17" idx="3"/>
          </p:cNvCxnSpPr>
          <p:nvPr/>
        </p:nvCxnSpPr>
        <p:spPr>
          <a:xfrm rot="16200000" flipH="1">
            <a:off x="4748317" y="4584720"/>
            <a:ext cx="1012734" cy="681027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E01DC51A-A9B2-C747-95F1-13EA584C4ECE}"/>
              </a:ext>
            </a:extLst>
          </p:cNvPr>
          <p:cNvGrpSpPr/>
          <p:nvPr/>
        </p:nvGrpSpPr>
        <p:grpSpPr>
          <a:xfrm>
            <a:off x="6673569" y="3232630"/>
            <a:ext cx="1524594" cy="696577"/>
            <a:chOff x="8230376" y="3604986"/>
            <a:chExt cx="1524594" cy="696577"/>
          </a:xfrm>
        </p:grpSpPr>
        <p:sp>
          <p:nvSpPr>
            <p:cNvPr id="25" name="Esagono 47">
              <a:extLst>
                <a:ext uri="{FF2B5EF4-FFF2-40B4-BE49-F238E27FC236}">
                  <a16:creationId xmlns:a16="http://schemas.microsoft.com/office/drawing/2014/main" id="{7A3B241A-EB9B-1F45-A128-794847B09FA9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26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55DD0B90-5D6A-D548-B074-8464E50D7B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B213CCBD-1A3B-2440-AD6E-E30AC3C4F4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Ovale 40">
            <a:extLst>
              <a:ext uri="{FF2B5EF4-FFF2-40B4-BE49-F238E27FC236}">
                <a16:creationId xmlns:a16="http://schemas.microsoft.com/office/drawing/2014/main" id="{B5457F37-85BA-FB49-8E71-A10B389F024D}"/>
              </a:ext>
            </a:extLst>
          </p:cNvPr>
          <p:cNvSpPr/>
          <p:nvPr/>
        </p:nvSpPr>
        <p:spPr>
          <a:xfrm>
            <a:off x="7365430" y="2891959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42" name="Connettore 1 41">
            <a:extLst>
              <a:ext uri="{FF2B5EF4-FFF2-40B4-BE49-F238E27FC236}">
                <a16:creationId xmlns:a16="http://schemas.microsoft.com/office/drawing/2014/main" id="{75328737-6B3D-B14B-8803-ADA78ADE58D1}"/>
              </a:ext>
            </a:extLst>
          </p:cNvPr>
          <p:cNvCxnSpPr>
            <a:cxnSpLocks/>
            <a:stCxn id="41" idx="4"/>
          </p:cNvCxnSpPr>
          <p:nvPr/>
        </p:nvCxnSpPr>
        <p:spPr>
          <a:xfrm flipH="1">
            <a:off x="7455429" y="3071959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tangolo 42">
            <a:extLst>
              <a:ext uri="{FF2B5EF4-FFF2-40B4-BE49-F238E27FC236}">
                <a16:creationId xmlns:a16="http://schemas.microsoft.com/office/drawing/2014/main" id="{2E448DD7-3091-7343-84D7-CE6CDC3EAABB}"/>
              </a:ext>
            </a:extLst>
          </p:cNvPr>
          <p:cNvSpPr/>
          <p:nvPr/>
        </p:nvSpPr>
        <p:spPr>
          <a:xfrm>
            <a:off x="7153142" y="2623600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cxnSp>
        <p:nvCxnSpPr>
          <p:cNvPr id="47" name="Connettore 4 46">
            <a:extLst>
              <a:ext uri="{FF2B5EF4-FFF2-40B4-BE49-F238E27FC236}">
                <a16:creationId xmlns:a16="http://schemas.microsoft.com/office/drawing/2014/main" id="{484F6D71-39EB-B54A-B4F5-C17371E4101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914170" y="5812617"/>
            <a:ext cx="3941924" cy="266271"/>
          </a:xfrm>
          <a:prstGeom prst="bentConnector3">
            <a:avLst>
              <a:gd name="adj1" fmla="val -56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1 47">
            <a:extLst>
              <a:ext uri="{FF2B5EF4-FFF2-40B4-BE49-F238E27FC236}">
                <a16:creationId xmlns:a16="http://schemas.microsoft.com/office/drawing/2014/main" id="{C192AC2A-26EE-4449-B97E-1B9B387F1290}"/>
              </a:ext>
            </a:extLst>
          </p:cNvPr>
          <p:cNvCxnSpPr>
            <a:cxnSpLocks/>
          </p:cNvCxnSpPr>
          <p:nvPr/>
        </p:nvCxnSpPr>
        <p:spPr>
          <a:xfrm>
            <a:off x="4920887" y="5431601"/>
            <a:ext cx="4097" cy="647288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113D43BD-F282-4A44-8B32-B8978F49D88A}"/>
              </a:ext>
            </a:extLst>
          </p:cNvPr>
          <p:cNvGrpSpPr/>
          <p:nvPr/>
        </p:nvGrpSpPr>
        <p:grpSpPr>
          <a:xfrm>
            <a:off x="9371620" y="3834508"/>
            <a:ext cx="1524594" cy="696577"/>
            <a:chOff x="8230376" y="3604986"/>
            <a:chExt cx="1524594" cy="696577"/>
          </a:xfrm>
        </p:grpSpPr>
        <p:sp>
          <p:nvSpPr>
            <p:cNvPr id="50" name="Esagono 47">
              <a:extLst>
                <a:ext uri="{FF2B5EF4-FFF2-40B4-BE49-F238E27FC236}">
                  <a16:creationId xmlns:a16="http://schemas.microsoft.com/office/drawing/2014/main" id="{32A4EBAB-7DE8-2743-91BA-F27512428B94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discovery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</a:t>
              </a:r>
            </a:p>
            <a:p>
              <a:pPr algn="ctr"/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(8761)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1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21F2092-53DC-3845-BE0F-6356DC1306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364DF9A-3263-ED43-ABF2-E1793F1AC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9594766D-B855-2E49-A86A-7B0F09839738}"/>
              </a:ext>
            </a:extLst>
          </p:cNvPr>
          <p:cNvCxnSpPr>
            <a:endCxn id="17" idx="0"/>
          </p:cNvCxnSpPr>
          <p:nvPr/>
        </p:nvCxnSpPr>
        <p:spPr>
          <a:xfrm flipH="1">
            <a:off x="6874187" y="5431601"/>
            <a:ext cx="1323976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2 59">
            <a:extLst>
              <a:ext uri="{FF2B5EF4-FFF2-40B4-BE49-F238E27FC236}">
                <a16:creationId xmlns:a16="http://schemas.microsoft.com/office/drawing/2014/main" id="{2C256095-AB08-9949-9EF4-225DE0785C0B}"/>
              </a:ext>
            </a:extLst>
          </p:cNvPr>
          <p:cNvCxnSpPr>
            <a:cxnSpLocks/>
            <a:stCxn id="96" idx="0"/>
          </p:cNvCxnSpPr>
          <p:nvPr/>
        </p:nvCxnSpPr>
        <p:spPr>
          <a:xfrm flipV="1">
            <a:off x="9642654" y="4531086"/>
            <a:ext cx="491263" cy="1064910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2 59">
            <a:extLst>
              <a:ext uri="{FF2B5EF4-FFF2-40B4-BE49-F238E27FC236}">
                <a16:creationId xmlns:a16="http://schemas.microsoft.com/office/drawing/2014/main" id="{2D5B8FBD-589A-7F44-A3DF-FCC06D5A9645}"/>
              </a:ext>
            </a:extLst>
          </p:cNvPr>
          <p:cNvCxnSpPr>
            <a:cxnSpLocks/>
          </p:cNvCxnSpPr>
          <p:nvPr/>
        </p:nvCxnSpPr>
        <p:spPr>
          <a:xfrm>
            <a:off x="8127928" y="3428999"/>
            <a:ext cx="2016435" cy="405511"/>
          </a:xfrm>
          <a:prstGeom prst="bentConnector3">
            <a:avLst>
              <a:gd name="adj1" fmla="val 100121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ttore 4 73">
            <a:extLst>
              <a:ext uri="{FF2B5EF4-FFF2-40B4-BE49-F238E27FC236}">
                <a16:creationId xmlns:a16="http://schemas.microsoft.com/office/drawing/2014/main" id="{0517CCF5-EF9F-CA4F-8E0A-A5B4F2012EE2}"/>
              </a:ext>
            </a:extLst>
          </p:cNvPr>
          <p:cNvCxnSpPr>
            <a:cxnSpLocks/>
          </p:cNvCxnSpPr>
          <p:nvPr/>
        </p:nvCxnSpPr>
        <p:spPr>
          <a:xfrm flipV="1">
            <a:off x="6492831" y="4846632"/>
            <a:ext cx="3641086" cy="214718"/>
          </a:xfrm>
          <a:prstGeom prst="bentConnector3">
            <a:avLst>
              <a:gd name="adj1" fmla="val 38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o 84">
            <a:extLst>
              <a:ext uri="{FF2B5EF4-FFF2-40B4-BE49-F238E27FC236}">
                <a16:creationId xmlns:a16="http://schemas.microsoft.com/office/drawing/2014/main" id="{281C7030-D439-CF4B-A244-A3DA630A5092}"/>
              </a:ext>
            </a:extLst>
          </p:cNvPr>
          <p:cNvGrpSpPr/>
          <p:nvPr/>
        </p:nvGrpSpPr>
        <p:grpSpPr>
          <a:xfrm>
            <a:off x="8258133" y="5113103"/>
            <a:ext cx="1278989" cy="740500"/>
            <a:chOff x="5061923" y="5401391"/>
            <a:chExt cx="1278989" cy="740500"/>
          </a:xfrm>
        </p:grpSpPr>
        <p:sp>
          <p:nvSpPr>
            <p:cNvPr id="86" name="Esagono 39">
              <a:extLst>
                <a:ext uri="{FF2B5EF4-FFF2-40B4-BE49-F238E27FC236}">
                  <a16:creationId xmlns:a16="http://schemas.microsoft.com/office/drawing/2014/main" id="{92564471-391C-7547-8A45-6436B6600463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8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32A8112-410A-004A-8373-6AA8E14734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7511C7DE-058C-0543-BE14-5393BECA9D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B5F4DFBA-7383-5A40-AF72-73D2418856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0" name="Gruppo 89">
            <a:extLst>
              <a:ext uri="{FF2B5EF4-FFF2-40B4-BE49-F238E27FC236}">
                <a16:creationId xmlns:a16="http://schemas.microsoft.com/office/drawing/2014/main" id="{47210E86-14CD-5746-95E4-BEFD65D139FD}"/>
              </a:ext>
            </a:extLst>
          </p:cNvPr>
          <p:cNvGrpSpPr/>
          <p:nvPr/>
        </p:nvGrpSpPr>
        <p:grpSpPr>
          <a:xfrm>
            <a:off x="8313374" y="5164855"/>
            <a:ext cx="1278989" cy="740500"/>
            <a:chOff x="5061923" y="5401391"/>
            <a:chExt cx="1278989" cy="740500"/>
          </a:xfrm>
        </p:grpSpPr>
        <p:sp>
          <p:nvSpPr>
            <p:cNvPr id="91" name="Esagono 39">
              <a:extLst>
                <a:ext uri="{FF2B5EF4-FFF2-40B4-BE49-F238E27FC236}">
                  <a16:creationId xmlns:a16="http://schemas.microsoft.com/office/drawing/2014/main" id="{32D9E2DB-EB23-2A40-AD43-D0E729A3A04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7BA1C083-0860-424E-9C16-CADB7DB517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0DC1A133-66E6-9740-BE55-3C2A8E6902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0A94BE58-0E2E-8A4E-8220-A2D6E1E7BB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5" name="Gruppo 94">
            <a:extLst>
              <a:ext uri="{FF2B5EF4-FFF2-40B4-BE49-F238E27FC236}">
                <a16:creationId xmlns:a16="http://schemas.microsoft.com/office/drawing/2014/main" id="{9A9D1F82-8C37-4D4A-89DF-AF008A7A3E9B}"/>
              </a:ext>
            </a:extLst>
          </p:cNvPr>
          <p:cNvGrpSpPr/>
          <p:nvPr/>
        </p:nvGrpSpPr>
        <p:grpSpPr>
          <a:xfrm>
            <a:off x="8363665" y="5225746"/>
            <a:ext cx="1278989" cy="740500"/>
            <a:chOff x="5061923" y="5401391"/>
            <a:chExt cx="1278989" cy="740500"/>
          </a:xfrm>
        </p:grpSpPr>
        <p:sp>
          <p:nvSpPr>
            <p:cNvPr id="96" name="Esagono 39">
              <a:extLst>
                <a:ext uri="{FF2B5EF4-FFF2-40B4-BE49-F238E27FC236}">
                  <a16:creationId xmlns:a16="http://schemas.microsoft.com/office/drawing/2014/main" id="{5D29CDE4-78A2-0F4B-82F3-5CBF20A14F3C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93853F4-82C9-0340-9AE0-994258782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3164D02B-FF0C-AF46-9881-525004FA98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2F26E93E-D027-7844-BE86-533D333A47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10529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3D0C61-EBAE-664C-80E5-66FA1F82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Eureka Server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05264B4-B109-AC4A-B6AE-716E49F23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172" y="1415583"/>
            <a:ext cx="4071352" cy="502601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BEE2146-812B-9B4D-8634-63DDE0207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684" y="1415583"/>
            <a:ext cx="4071351" cy="499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84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E24D94-A46A-AD4E-8A3D-5973682A1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Eureka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B93188-B6D0-6542-9929-5EE7B72A1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Edit Application class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@</a:t>
            </a:r>
            <a:r>
              <a:rPr lang="en-US" sz="1800" dirty="0" err="1">
                <a:latin typeface="+mj-lt"/>
              </a:rPr>
              <a:t>EnableEurekaServer</a:t>
            </a:r>
            <a:r>
              <a:rPr lang="en-US" sz="1800" dirty="0"/>
              <a:t> annotation</a:t>
            </a:r>
          </a:p>
          <a:p>
            <a:endParaRPr lang="en-US" sz="2000" dirty="0"/>
          </a:p>
          <a:p>
            <a:r>
              <a:rPr lang="en-US" sz="2000" dirty="0"/>
              <a:t>We will run the server in the standalone mode</a:t>
            </a:r>
          </a:p>
          <a:p>
            <a:pPr lvl="1"/>
            <a:r>
              <a:rPr lang="en-US" sz="1600" dirty="0"/>
              <a:t>I.e., only one Eureka server instance in our system</a:t>
            </a:r>
          </a:p>
          <a:p>
            <a:pPr lvl="1"/>
            <a:endParaRPr lang="en-US" sz="1600" dirty="0"/>
          </a:p>
          <a:p>
            <a:r>
              <a:rPr lang="en-US" sz="2000" dirty="0"/>
              <a:t>Edit </a:t>
            </a:r>
            <a:r>
              <a:rPr lang="en-US" sz="2000" dirty="0" err="1">
                <a:latin typeface="+mj-lt"/>
              </a:rPr>
              <a:t>application.yml</a:t>
            </a:r>
            <a:r>
              <a:rPr lang="en-US" sz="2000" dirty="0"/>
              <a:t> file to add configuration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That's it</a:t>
            </a:r>
          </a:p>
          <a:p>
            <a:pPr lvl="1"/>
            <a:r>
              <a:rPr lang="en-US" sz="1600" dirty="0"/>
              <a:t>Browse </a:t>
            </a:r>
            <a:r>
              <a:rPr lang="en-US" sz="1600" dirty="0">
                <a:latin typeface="+mj-lt"/>
              </a:rPr>
              <a:t>http://localhost:8761/</a:t>
            </a:r>
            <a:r>
              <a:rPr lang="en-US" sz="1600" dirty="0"/>
              <a:t> to see the Eureka dashboard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37DA95A-0D86-5E47-94FE-F3B495622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932" y="1449916"/>
            <a:ext cx="4267935" cy="11154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80E09DC-1A01-774E-994C-86180ABC8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22600"/>
            <a:ext cx="5698068" cy="15764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2304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C78F4B-ABA3-0F4F-A777-3511AF80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services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311F9B-5FD8-6B4B-AFEA-15D6C27A9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160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Job service</a:t>
            </a:r>
          </a:p>
          <a:p>
            <a:r>
              <a:rPr lang="en-US" sz="2000" dirty="0"/>
              <a:t>Add </a:t>
            </a:r>
            <a:r>
              <a:rPr lang="it-IT" sz="2000" dirty="0" err="1">
                <a:latin typeface="+mj-lt"/>
              </a:rPr>
              <a:t>spring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cloud</a:t>
            </a:r>
            <a:r>
              <a:rPr lang="it-IT" sz="2000" dirty="0">
                <a:latin typeface="+mj-lt"/>
              </a:rPr>
              <a:t>-starter-</a:t>
            </a:r>
            <a:r>
              <a:rPr lang="it-IT" sz="2000" dirty="0" err="1">
                <a:latin typeface="+mj-lt"/>
              </a:rPr>
              <a:t>netflix</a:t>
            </a:r>
            <a:r>
              <a:rPr lang="it-IT" sz="2000" dirty="0">
                <a:latin typeface="+mj-lt"/>
              </a:rPr>
              <a:t>-eureka-client</a:t>
            </a:r>
            <a:r>
              <a:rPr lang="it-IT" sz="2000" dirty="0"/>
              <a:t> </a:t>
            </a:r>
            <a:r>
              <a:rPr lang="it-IT" sz="2000" dirty="0" err="1"/>
              <a:t>dependency</a:t>
            </a:r>
            <a:r>
              <a:rPr lang="it-IT" sz="2000" dirty="0"/>
              <a:t> to </a:t>
            </a:r>
            <a:r>
              <a:rPr lang="it-IT" sz="2000" dirty="0" err="1"/>
              <a:t>pom.xml</a:t>
            </a:r>
            <a:endParaRPr lang="it-IT" sz="20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r>
              <a:rPr lang="it-IT" sz="2000" dirty="0" err="1"/>
              <a:t>Add</a:t>
            </a:r>
            <a:r>
              <a:rPr lang="it-IT" sz="2000" dirty="0"/>
              <a:t> </a:t>
            </a:r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EnableDiscoveryClient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r>
              <a:rPr lang="it-IT" sz="2000" dirty="0"/>
              <a:t> to the Application </a:t>
            </a:r>
            <a:r>
              <a:rPr lang="it-IT" sz="2000" dirty="0" err="1"/>
              <a:t>class</a:t>
            </a:r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r>
              <a:rPr lang="it-IT" sz="2000" dirty="0" err="1"/>
              <a:t>Run</a:t>
            </a:r>
            <a:r>
              <a:rPr lang="it-IT" sz="2000" dirty="0"/>
              <a:t> and </a:t>
            </a:r>
            <a:r>
              <a:rPr lang="it-IT" sz="2000" dirty="0" err="1"/>
              <a:t>browse</a:t>
            </a:r>
            <a:r>
              <a:rPr lang="it-IT" sz="2000" dirty="0"/>
              <a:t> </a:t>
            </a:r>
            <a:r>
              <a:rPr lang="it-IT" sz="2000" dirty="0" err="1"/>
              <a:t>again</a:t>
            </a:r>
            <a:r>
              <a:rPr lang="it-IT" sz="2000" dirty="0"/>
              <a:t> </a:t>
            </a:r>
            <a:r>
              <a:rPr lang="en-US" sz="2000" dirty="0">
                <a:latin typeface="+mj-lt"/>
              </a:rPr>
              <a:t>http://localhost:8761/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5C6DA82-C84F-2A4E-9151-587D238A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456" y="3678289"/>
            <a:ext cx="4108704" cy="14323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340346B-A7A0-AD4A-AD27-6C00B1658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193" y="2192159"/>
            <a:ext cx="5648507" cy="6607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8A5466A-F588-184E-B4A6-44C8696E4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958" y="5760876"/>
            <a:ext cx="6692900" cy="889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02473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D352C4-DACA-E648-8D0D-36A31CCB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 with Eureka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2A4608-3559-CD4F-97BF-3AD29505D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858639"/>
          </a:xfrm>
        </p:spPr>
        <p:txBody>
          <a:bodyPr>
            <a:normAutofit/>
          </a:bodyPr>
          <a:lstStyle/>
          <a:p>
            <a:r>
              <a:rPr lang="en-US" sz="2000" dirty="0"/>
              <a:t>Eureka server by default expects that clients send heartbeats every 30 seconds</a:t>
            </a:r>
          </a:p>
          <a:p>
            <a:pPr lvl="1"/>
            <a:r>
              <a:rPr lang="en-US" sz="1800" dirty="0"/>
              <a:t>If clients have a different interval, a message is shown</a:t>
            </a:r>
          </a:p>
          <a:p>
            <a:pPr lvl="1"/>
            <a:endParaRPr lang="en-US" sz="1600" dirty="0"/>
          </a:p>
          <a:p>
            <a:r>
              <a:rPr lang="en-US" sz="2000" dirty="0"/>
              <a:t>To align clients to this interval, a configuration property is required</a:t>
            </a:r>
          </a:p>
          <a:p>
            <a:pPr lvl="1"/>
            <a:r>
              <a:rPr lang="it-IT" sz="2000" dirty="0" err="1">
                <a:latin typeface="+mj-lt"/>
              </a:rPr>
              <a:t>eureka.instance.lease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renewal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interval</a:t>
            </a:r>
            <a:r>
              <a:rPr lang="it-IT" sz="2000" dirty="0">
                <a:latin typeface="+mj-lt"/>
              </a:rPr>
              <a:t>-in-</a:t>
            </a:r>
            <a:r>
              <a:rPr lang="it-IT" sz="2000" dirty="0" err="1">
                <a:latin typeface="+mj-lt"/>
              </a:rPr>
              <a:t>seconds</a:t>
            </a:r>
            <a:r>
              <a:rPr lang="it-IT" sz="2000" dirty="0">
                <a:latin typeface="+mj-lt"/>
              </a:rPr>
              <a:t>=30</a:t>
            </a:r>
          </a:p>
          <a:p>
            <a:pPr lvl="1"/>
            <a:endParaRPr lang="it-IT" sz="2000" dirty="0">
              <a:latin typeface="+mj-lt"/>
            </a:endParaRPr>
          </a:p>
          <a:p>
            <a:r>
              <a:rPr lang="it-IT" sz="2000" dirty="0"/>
              <a:t>Clients </a:t>
            </a:r>
            <a:r>
              <a:rPr lang="it-IT" sz="2000" dirty="0" err="1"/>
              <a:t>unregister</a:t>
            </a:r>
            <a:r>
              <a:rPr lang="it-IT" sz="2000" dirty="0"/>
              <a:t> </a:t>
            </a:r>
            <a:r>
              <a:rPr lang="it-IT" sz="2000" dirty="0" err="1"/>
              <a:t>thmeselves</a:t>
            </a:r>
            <a:r>
              <a:rPr lang="it-IT" sz="2000" dirty="0"/>
              <a:t> </a:t>
            </a:r>
            <a:r>
              <a:rPr lang="it-IT" sz="2000" dirty="0" err="1"/>
              <a:t>at</a:t>
            </a:r>
            <a:r>
              <a:rPr lang="it-IT" sz="2000" dirty="0"/>
              <a:t> </a:t>
            </a:r>
            <a:r>
              <a:rPr lang="it-IT" sz="2000" dirty="0" err="1"/>
              <a:t>shutdown</a:t>
            </a:r>
            <a:endParaRPr lang="it-IT" sz="2000" dirty="0"/>
          </a:p>
          <a:p>
            <a:pPr lvl="1"/>
            <a:endParaRPr lang="it-IT" sz="1600" dirty="0"/>
          </a:p>
          <a:p>
            <a:pPr lvl="2"/>
            <a:endParaRPr lang="it-IT" sz="1200" dirty="0"/>
          </a:p>
          <a:p>
            <a:pPr lvl="2"/>
            <a:endParaRPr lang="it-IT" sz="1200" dirty="0"/>
          </a:p>
          <a:p>
            <a:pPr lvl="2"/>
            <a:endParaRPr lang="it-IT" sz="1200" dirty="0"/>
          </a:p>
          <a:p>
            <a:r>
              <a:rPr lang="it-IT" sz="2000" dirty="0" err="1"/>
              <a:t>Let's</a:t>
            </a:r>
            <a:r>
              <a:rPr lang="it-IT" sz="2000" dirty="0"/>
              <a:t> test a network </a:t>
            </a:r>
            <a:r>
              <a:rPr lang="it-IT" sz="2000" dirty="0" err="1"/>
              <a:t>problem</a:t>
            </a:r>
            <a:r>
              <a:rPr lang="it-IT" sz="2000" dirty="0"/>
              <a:t>:</a:t>
            </a:r>
          </a:p>
          <a:p>
            <a:pPr lvl="1"/>
            <a:r>
              <a:rPr lang="it-IT" sz="1600" dirty="0" err="1"/>
              <a:t>Add</a:t>
            </a:r>
            <a:r>
              <a:rPr lang="it-IT" sz="1600" dirty="0"/>
              <a:t> the </a:t>
            </a:r>
            <a:r>
              <a:rPr lang="it-IT" sz="1600" dirty="0" err="1">
                <a:latin typeface="+mj-lt"/>
              </a:rPr>
              <a:t>eureka.client.should</a:t>
            </a:r>
            <a:r>
              <a:rPr lang="it-IT" sz="1600" dirty="0">
                <a:latin typeface="+mj-lt"/>
              </a:rPr>
              <a:t>-</a:t>
            </a:r>
            <a:r>
              <a:rPr lang="it-IT" sz="1600" dirty="0" err="1">
                <a:latin typeface="+mj-lt"/>
              </a:rPr>
              <a:t>unregister</a:t>
            </a:r>
            <a:r>
              <a:rPr lang="it-IT" sz="1600" dirty="0">
                <a:latin typeface="+mj-lt"/>
              </a:rPr>
              <a:t>-on-</a:t>
            </a:r>
            <a:r>
              <a:rPr lang="it-IT" sz="1600" dirty="0" err="1">
                <a:latin typeface="+mj-lt"/>
              </a:rPr>
              <a:t>shutdown</a:t>
            </a:r>
            <a:r>
              <a:rPr lang="it-IT" sz="1600" dirty="0">
                <a:latin typeface="+mj-lt"/>
              </a:rPr>
              <a:t>=false</a:t>
            </a:r>
            <a:r>
              <a:rPr lang="it-IT" sz="1600" dirty="0"/>
              <a:t> </a:t>
            </a:r>
            <a:r>
              <a:rPr lang="it-IT" sz="1600" dirty="0" err="1"/>
              <a:t>property</a:t>
            </a:r>
            <a:r>
              <a:rPr lang="it-IT" sz="1600" dirty="0"/>
              <a:t> to the client service</a:t>
            </a:r>
          </a:p>
          <a:p>
            <a:pPr lvl="1"/>
            <a:r>
              <a:rPr lang="it-IT" sz="1600" dirty="0"/>
              <a:t>Stop the service</a:t>
            </a:r>
          </a:p>
          <a:p>
            <a:pPr lvl="1"/>
            <a:endParaRPr lang="en-US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1115853-9CD9-7D40-AFDD-3F198EC8A7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3"/>
          <a:stretch/>
        </p:blipFill>
        <p:spPr>
          <a:xfrm>
            <a:off x="2203703" y="3814572"/>
            <a:ext cx="7818121" cy="6978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72DBE44-0B3B-1C4D-AFCD-EB56FE34D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285" y="5632703"/>
            <a:ext cx="3844863" cy="8620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66643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3EE494-18CC-8343-83EE-D1C4BE56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the gateway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889596-2550-E346-8BAA-E9E87E04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Same steps as before:</a:t>
            </a:r>
          </a:p>
          <a:p>
            <a:pPr lvl="1"/>
            <a:r>
              <a:rPr lang="en-US" sz="2000" dirty="0"/>
              <a:t>Add </a:t>
            </a:r>
            <a:r>
              <a:rPr lang="it-IT" sz="2000" dirty="0" err="1">
                <a:latin typeface="+mj-lt"/>
              </a:rPr>
              <a:t>spring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cloud</a:t>
            </a:r>
            <a:r>
              <a:rPr lang="it-IT" sz="2000" dirty="0">
                <a:latin typeface="+mj-lt"/>
              </a:rPr>
              <a:t>-starter-</a:t>
            </a:r>
            <a:r>
              <a:rPr lang="it-IT" sz="2000" dirty="0" err="1">
                <a:latin typeface="+mj-lt"/>
              </a:rPr>
              <a:t>netflix</a:t>
            </a:r>
            <a:r>
              <a:rPr lang="it-IT" sz="2000" dirty="0">
                <a:latin typeface="+mj-lt"/>
              </a:rPr>
              <a:t>-eureka-client</a:t>
            </a:r>
            <a:r>
              <a:rPr lang="it-IT" sz="2000" dirty="0"/>
              <a:t> </a:t>
            </a:r>
            <a:r>
              <a:rPr lang="it-IT" sz="2000" dirty="0" err="1"/>
              <a:t>dependency</a:t>
            </a:r>
            <a:r>
              <a:rPr lang="it-IT" sz="2000" dirty="0"/>
              <a:t> to </a:t>
            </a:r>
            <a:r>
              <a:rPr lang="it-IT" sz="2000" dirty="0" err="1"/>
              <a:t>pom.xml</a:t>
            </a:r>
            <a:endParaRPr lang="it-IT" sz="2000" dirty="0"/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EnableDiscoveryClient</a:t>
            </a:r>
            <a:r>
              <a:rPr lang="en-US" sz="2000" dirty="0"/>
              <a:t> annotation to the Application class</a:t>
            </a:r>
          </a:p>
          <a:p>
            <a:endParaRPr lang="en-US" sz="2400" dirty="0"/>
          </a:p>
          <a:p>
            <a:r>
              <a:rPr lang="en-US" sz="2400" dirty="0"/>
              <a:t>Add configuration properties</a:t>
            </a:r>
          </a:p>
          <a:p>
            <a:pPr lvl="1"/>
            <a:r>
              <a:rPr lang="en-US" sz="2000" dirty="0"/>
              <a:t>Edit </a:t>
            </a:r>
            <a:r>
              <a:rPr lang="en-US" sz="2000" dirty="0" err="1">
                <a:latin typeface="+mj-lt"/>
              </a:rPr>
              <a:t>application.yml</a:t>
            </a:r>
            <a:endParaRPr lang="en-US" sz="2000" dirty="0">
              <a:latin typeface="+mj-lt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8626DE8-07E5-5B4A-9589-874E41078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507" y="3822192"/>
            <a:ext cx="4064986" cy="14721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45070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AF0114-C65C-454F-BBC3-DB9C53B9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balance instances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0CC611-1BBD-FF45-B19B-1FCC53804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739767"/>
          </a:xfrm>
        </p:spPr>
        <p:txBody>
          <a:bodyPr>
            <a:normAutofit/>
          </a:bodyPr>
          <a:lstStyle/>
          <a:p>
            <a:r>
              <a:rPr lang="en-US" sz="2400" dirty="0"/>
              <a:t>Update the gateway configuration</a:t>
            </a:r>
          </a:p>
          <a:p>
            <a:pPr lvl="1"/>
            <a:r>
              <a:rPr lang="en-US" sz="2000" dirty="0"/>
              <a:t>Instruct the gateway to lookup services via the Eureka server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Test the load balancer</a:t>
            </a:r>
          </a:p>
          <a:p>
            <a:pPr lvl="1"/>
            <a:r>
              <a:rPr lang="en-US" sz="2000" dirty="0"/>
              <a:t>Start (or </a:t>
            </a:r>
            <a:r>
              <a:rPr lang="en-US" sz="2000" dirty="0">
                <a:latin typeface="+mj-lt"/>
              </a:rPr>
              <a:t>POST</a:t>
            </a:r>
            <a:r>
              <a:rPr lang="en-US" sz="2000" dirty="0"/>
              <a:t> to </a:t>
            </a:r>
            <a:r>
              <a:rPr lang="en-US" sz="2000" dirty="0">
                <a:latin typeface="+mj-lt"/>
              </a:rPr>
              <a:t>http://localhost:9000/actuator/refresh</a:t>
            </a:r>
            <a:r>
              <a:rPr lang="en-US" sz="2000" dirty="0"/>
              <a:t>) the gateway</a:t>
            </a:r>
          </a:p>
          <a:p>
            <a:pPr lvl="1"/>
            <a:r>
              <a:rPr lang="en-US" sz="2000" dirty="0"/>
              <a:t>Send a request to </a:t>
            </a:r>
            <a:r>
              <a:rPr lang="en-US" sz="2000" dirty="0">
                <a:latin typeface="+mj-lt"/>
              </a:rPr>
              <a:t>http://localhost:9000/job</a:t>
            </a:r>
            <a:r>
              <a:rPr lang="en-US" sz="2000" dirty="0"/>
              <a:t> to test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5E41721-C85D-344B-8C9F-69F5259CB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37" y="2333022"/>
            <a:ext cx="4077038" cy="10959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A119C21-758D-4449-8D20-832DBC41E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063" y="2333022"/>
            <a:ext cx="4018586" cy="10959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4D9073F2-814F-B949-80A7-B0D2046E31C3}"/>
              </a:ext>
            </a:extLst>
          </p:cNvPr>
          <p:cNvSpPr/>
          <p:nvPr/>
        </p:nvSpPr>
        <p:spPr>
          <a:xfrm>
            <a:off x="1700784" y="2514600"/>
            <a:ext cx="1810512" cy="20116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99CEB953-61CF-444B-8E93-E637E3657999}"/>
              </a:ext>
            </a:extLst>
          </p:cNvPr>
          <p:cNvSpPr/>
          <p:nvPr/>
        </p:nvSpPr>
        <p:spPr>
          <a:xfrm>
            <a:off x="7412736" y="2514600"/>
            <a:ext cx="1731264" cy="20116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a a mano libera 11">
            <a:extLst>
              <a:ext uri="{FF2B5EF4-FFF2-40B4-BE49-F238E27FC236}">
                <a16:creationId xmlns:a16="http://schemas.microsoft.com/office/drawing/2014/main" id="{C351DE1B-9CBB-0D49-AA73-74330AE88D34}"/>
              </a:ext>
            </a:extLst>
          </p:cNvPr>
          <p:cNvSpPr/>
          <p:nvPr/>
        </p:nvSpPr>
        <p:spPr>
          <a:xfrm>
            <a:off x="3602736" y="2340784"/>
            <a:ext cx="3703320" cy="182960"/>
          </a:xfrm>
          <a:custGeom>
            <a:avLst/>
            <a:gdLst>
              <a:gd name="connsiteX0" fmla="*/ 0 w 3703320"/>
              <a:gd name="connsiteY0" fmla="*/ 164672 h 182960"/>
              <a:gd name="connsiteX1" fmla="*/ 1746504 w 3703320"/>
              <a:gd name="connsiteY1" fmla="*/ 80 h 182960"/>
              <a:gd name="connsiteX2" fmla="*/ 3703320 w 3703320"/>
              <a:gd name="connsiteY2" fmla="*/ 182960 h 18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03320" h="182960">
                <a:moveTo>
                  <a:pt x="0" y="164672"/>
                </a:moveTo>
                <a:cubicBezTo>
                  <a:pt x="564642" y="80852"/>
                  <a:pt x="1129284" y="-2968"/>
                  <a:pt x="1746504" y="80"/>
                </a:cubicBezTo>
                <a:cubicBezTo>
                  <a:pt x="2363724" y="3128"/>
                  <a:pt x="3033522" y="93044"/>
                  <a:pt x="3703320" y="18296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FE262CDF-DD62-284D-9081-2D1E9E185EDB}"/>
              </a:ext>
            </a:extLst>
          </p:cNvPr>
          <p:cNvCxnSpPr>
            <a:stCxn id="11" idx="2"/>
          </p:cNvCxnSpPr>
          <p:nvPr/>
        </p:nvCxnSpPr>
        <p:spPr>
          <a:xfrm flipH="1">
            <a:off x="8275320" y="2715768"/>
            <a:ext cx="3048" cy="1060704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2355391-1CFE-1D42-B0AA-415D2EE40390}"/>
              </a:ext>
            </a:extLst>
          </p:cNvPr>
          <p:cNvSpPr txBox="1"/>
          <p:nvPr/>
        </p:nvSpPr>
        <p:spPr>
          <a:xfrm>
            <a:off x="5376672" y="3776472"/>
            <a:ext cx="6373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job-microservice </a:t>
            </a:r>
            <a:r>
              <a:rPr lang="en-US" u="sng" dirty="0"/>
              <a:t>must</a:t>
            </a:r>
            <a:r>
              <a:rPr lang="en-US" dirty="0"/>
              <a:t> be defined through the </a:t>
            </a:r>
            <a:r>
              <a:rPr lang="it-IT" dirty="0" err="1">
                <a:solidFill>
                  <a:schemeClr val="accent2"/>
                </a:solidFill>
              </a:rPr>
              <a:t>spring.application.name</a:t>
            </a:r>
            <a:r>
              <a:rPr lang="en-US" dirty="0"/>
              <a:t> property in its service properties!!!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596080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C3361E-3FAB-D64C-92B1-F06C845C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load balancing</a:t>
            </a:r>
          </a:p>
        </p:txBody>
      </p:sp>
    </p:spTree>
    <p:extLst>
      <p:ext uri="{BB962C8B-B14F-4D97-AF65-F5344CB8AC3E}">
        <p14:creationId xmlns:p14="http://schemas.microsoft.com/office/powerpoint/2010/main" val="39270548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A48667-E093-014D-AC47-9443D1BC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load balancer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A30FFF-C0C1-BB45-9C70-FAB8829AF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When running multiple instances of the User microservice, load balancing is needed to route requests from Job microservice to User</a:t>
            </a:r>
          </a:p>
          <a:p>
            <a:endParaRPr lang="en-US" sz="2400" dirty="0"/>
          </a:p>
          <a:p>
            <a:r>
              <a:rPr lang="en-US" sz="2400" dirty="0"/>
              <a:t>First solution (1)</a:t>
            </a:r>
          </a:p>
          <a:p>
            <a:pPr lvl="1"/>
            <a:r>
              <a:rPr lang="en-US" sz="2000" dirty="0"/>
              <a:t>Send requests through the API Gateway and its load balancer</a:t>
            </a:r>
          </a:p>
          <a:p>
            <a:pPr lvl="1"/>
            <a:r>
              <a:rPr lang="en-US" sz="2000" dirty="0"/>
              <a:t>Realize a centralized approach</a:t>
            </a:r>
          </a:p>
          <a:p>
            <a:pPr lvl="1"/>
            <a:endParaRPr lang="en-US" sz="2000" dirty="0"/>
          </a:p>
          <a:p>
            <a:r>
              <a:rPr lang="en-US" sz="2400" dirty="0"/>
              <a:t>More decentralized solution (2)</a:t>
            </a:r>
          </a:p>
          <a:p>
            <a:pPr lvl="1"/>
            <a:r>
              <a:rPr lang="en-US" sz="2000" dirty="0"/>
              <a:t>Use a client-side load balancer</a:t>
            </a:r>
          </a:p>
        </p:txBody>
      </p:sp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E507E038-14D7-754B-9081-8EFCB04FDD8E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8336386" y="4308958"/>
            <a:ext cx="611778" cy="1487098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A830AB32-5533-9049-8FBB-3FDE05A9E901}"/>
              </a:ext>
            </a:extLst>
          </p:cNvPr>
          <p:cNvCxnSpPr>
            <a:cxnSpLocks/>
            <a:stCxn id="17" idx="3"/>
          </p:cNvCxnSpPr>
          <p:nvPr/>
        </p:nvCxnSpPr>
        <p:spPr>
          <a:xfrm rot="10800000" flipV="1">
            <a:off x="6379064" y="4308958"/>
            <a:ext cx="432728" cy="1480432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po 5">
            <a:extLst>
              <a:ext uri="{FF2B5EF4-FFF2-40B4-BE49-F238E27FC236}">
                <a16:creationId xmlns:a16="http://schemas.microsoft.com/office/drawing/2014/main" id="{4B1C6004-BAC5-E347-88B2-0AD59F2506B8}"/>
              </a:ext>
            </a:extLst>
          </p:cNvPr>
          <p:cNvGrpSpPr/>
          <p:nvPr/>
        </p:nvGrpSpPr>
        <p:grpSpPr>
          <a:xfrm>
            <a:off x="8336386" y="5789390"/>
            <a:ext cx="1278989" cy="740500"/>
            <a:chOff x="5061923" y="5401391"/>
            <a:chExt cx="1278989" cy="740500"/>
          </a:xfrm>
        </p:grpSpPr>
        <p:sp>
          <p:nvSpPr>
            <p:cNvPr id="7" name="Esagono 39">
              <a:extLst>
                <a:ext uri="{FF2B5EF4-FFF2-40B4-BE49-F238E27FC236}">
                  <a16:creationId xmlns:a16="http://schemas.microsoft.com/office/drawing/2014/main" id="{8D06A45C-DD2F-8D4F-B199-AA9D5C7581E8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3712487-5083-834D-951A-41B3485D8B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CBC4AFF7-A39F-7147-A10F-537F5DED58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0F331927-6B94-5948-8F6E-FE4F5BE941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E58ABA0E-A4C9-FE4A-A95C-DA944C7E271A}"/>
              </a:ext>
            </a:extLst>
          </p:cNvPr>
          <p:cNvGrpSpPr/>
          <p:nvPr/>
        </p:nvGrpSpPr>
        <p:grpSpPr>
          <a:xfrm>
            <a:off x="5733421" y="5789390"/>
            <a:ext cx="1278989" cy="740500"/>
            <a:chOff x="7398130" y="5401391"/>
            <a:chExt cx="1278989" cy="740500"/>
          </a:xfrm>
        </p:grpSpPr>
        <p:sp>
          <p:nvSpPr>
            <p:cNvPr id="12" name="Esagono 43">
              <a:extLst>
                <a:ext uri="{FF2B5EF4-FFF2-40B4-BE49-F238E27FC236}">
                  <a16:creationId xmlns:a16="http://schemas.microsoft.com/office/drawing/2014/main" id="{EEA4FD34-9754-C346-8749-453209CBC821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3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4B9484F-B6E7-C74C-856C-009E28D801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54F21CDF-9C04-AC4F-BBF8-9D8A3233C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DAA94D3-DCBC-004C-91F1-984D400FBB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3593CF03-6E3B-E048-876F-8DD8DE57A102}"/>
              </a:ext>
            </a:extLst>
          </p:cNvPr>
          <p:cNvGrpSpPr/>
          <p:nvPr/>
        </p:nvGrpSpPr>
        <p:grpSpPr>
          <a:xfrm>
            <a:off x="6811792" y="3960669"/>
            <a:ext cx="1524594" cy="696577"/>
            <a:chOff x="8230376" y="3604986"/>
            <a:chExt cx="1524594" cy="696577"/>
          </a:xfrm>
        </p:grpSpPr>
        <p:sp>
          <p:nvSpPr>
            <p:cNvPr id="17" name="Esagono 47">
              <a:extLst>
                <a:ext uri="{FF2B5EF4-FFF2-40B4-BE49-F238E27FC236}">
                  <a16:creationId xmlns:a16="http://schemas.microsoft.com/office/drawing/2014/main" id="{A4935069-48EB-0E43-8577-04957017E0B1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17555CC7-4F2B-964F-BEB5-6453AF200D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0FC8E62-EE8C-A44C-9723-3D23DAE203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Ovale 19">
            <a:extLst>
              <a:ext uri="{FF2B5EF4-FFF2-40B4-BE49-F238E27FC236}">
                <a16:creationId xmlns:a16="http://schemas.microsoft.com/office/drawing/2014/main" id="{22262AB1-333A-744B-9E35-CA8A75250DD2}"/>
              </a:ext>
            </a:extLst>
          </p:cNvPr>
          <p:cNvSpPr/>
          <p:nvPr/>
        </p:nvSpPr>
        <p:spPr>
          <a:xfrm>
            <a:off x="7503653" y="3619998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AB66566B-30C2-4B4A-B054-00DE8EB4A59E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7593652" y="3799998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5F628B5A-F6CE-5745-BFA6-58E11F546536}"/>
              </a:ext>
            </a:extLst>
          </p:cNvPr>
          <p:cNvSpPr/>
          <p:nvPr/>
        </p:nvSpPr>
        <p:spPr>
          <a:xfrm>
            <a:off x="7291365" y="3351639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7F42A64A-685D-434D-BB99-3B1532C9FF2A}"/>
              </a:ext>
            </a:extLst>
          </p:cNvPr>
          <p:cNvCxnSpPr>
            <a:cxnSpLocks/>
            <a:stCxn id="35" idx="3"/>
            <a:endCxn id="50" idx="0"/>
          </p:cNvCxnSpPr>
          <p:nvPr/>
        </p:nvCxnSpPr>
        <p:spPr>
          <a:xfrm flipH="1">
            <a:off x="7164661" y="6324035"/>
            <a:ext cx="1337227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68B7AF5B-F05C-084E-9200-1A0C6B08B6F4}"/>
              </a:ext>
            </a:extLst>
          </p:cNvPr>
          <p:cNvGrpSpPr/>
          <p:nvPr/>
        </p:nvGrpSpPr>
        <p:grpSpPr>
          <a:xfrm>
            <a:off x="8396356" y="5841142"/>
            <a:ext cx="1278989" cy="740500"/>
            <a:chOff x="5061923" y="5401391"/>
            <a:chExt cx="1278989" cy="740500"/>
          </a:xfrm>
        </p:grpSpPr>
        <p:sp>
          <p:nvSpPr>
            <p:cNvPr id="25" name="Esagono 39">
              <a:extLst>
                <a:ext uri="{FF2B5EF4-FFF2-40B4-BE49-F238E27FC236}">
                  <a16:creationId xmlns:a16="http://schemas.microsoft.com/office/drawing/2014/main" id="{A04278BB-2663-4847-9793-4EE5020EFB2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2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8FA9188C-0944-454C-A698-72B152429B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45EAA4E4-1AC5-ED47-A53F-E419A8CA51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BD064C09-A819-8C40-8582-6E46E621B2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B6CBF908-635D-C242-8A0B-435F115434F3}"/>
              </a:ext>
            </a:extLst>
          </p:cNvPr>
          <p:cNvGrpSpPr/>
          <p:nvPr/>
        </p:nvGrpSpPr>
        <p:grpSpPr>
          <a:xfrm>
            <a:off x="8451597" y="5892894"/>
            <a:ext cx="1278989" cy="740500"/>
            <a:chOff x="5061923" y="5401391"/>
            <a:chExt cx="1278989" cy="740500"/>
          </a:xfrm>
        </p:grpSpPr>
        <p:sp>
          <p:nvSpPr>
            <p:cNvPr id="30" name="Esagono 39">
              <a:extLst>
                <a:ext uri="{FF2B5EF4-FFF2-40B4-BE49-F238E27FC236}">
                  <a16:creationId xmlns:a16="http://schemas.microsoft.com/office/drawing/2014/main" id="{5E1F869B-855C-4E43-A3CF-D4150E04A538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CFFF13E-C6B1-CF42-8161-F9FEAF7E4A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5771183-92D6-3C47-AD0D-CD472C06A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DFAC04D6-A0DC-784F-B5CA-A5F2D9CD00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31BEEE12-EB35-5A46-A77B-63E6B501449B}"/>
              </a:ext>
            </a:extLst>
          </p:cNvPr>
          <p:cNvGrpSpPr/>
          <p:nvPr/>
        </p:nvGrpSpPr>
        <p:grpSpPr>
          <a:xfrm>
            <a:off x="8501888" y="5953785"/>
            <a:ext cx="1278989" cy="740500"/>
            <a:chOff x="5061923" y="5401391"/>
            <a:chExt cx="1278989" cy="740500"/>
          </a:xfrm>
        </p:grpSpPr>
        <p:sp>
          <p:nvSpPr>
            <p:cNvPr id="35" name="Esagono 39">
              <a:extLst>
                <a:ext uri="{FF2B5EF4-FFF2-40B4-BE49-F238E27FC236}">
                  <a16:creationId xmlns:a16="http://schemas.microsoft.com/office/drawing/2014/main" id="{18A63338-8CF1-044F-BABC-3B0C7660BFE5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891BB7D-9F23-D040-810E-60FAF758D8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9A3EDE29-4DC2-2E46-B682-C5F7B60EB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8D1C283-CE9E-2540-BAE7-336838786A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4A17F0F0-257B-ED4F-B53E-9FCD76667F76}"/>
              </a:ext>
            </a:extLst>
          </p:cNvPr>
          <p:cNvGrpSpPr/>
          <p:nvPr/>
        </p:nvGrpSpPr>
        <p:grpSpPr>
          <a:xfrm>
            <a:off x="5789714" y="5841142"/>
            <a:ext cx="1278989" cy="740500"/>
            <a:chOff x="7398130" y="5401391"/>
            <a:chExt cx="1278989" cy="740500"/>
          </a:xfrm>
        </p:grpSpPr>
        <p:sp>
          <p:nvSpPr>
            <p:cNvPr id="40" name="Esagono 43">
              <a:extLst>
                <a:ext uri="{FF2B5EF4-FFF2-40B4-BE49-F238E27FC236}">
                  <a16:creationId xmlns:a16="http://schemas.microsoft.com/office/drawing/2014/main" id="{3EE5A150-458C-B846-B076-EF1D2B6FB822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4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FB6D53F-3EAD-1049-A991-674835F26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EAC179FF-B950-7342-8CF2-CCB1B2D438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C296204F-4D72-7245-A8C4-623AD660F9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99708D72-E45E-2F4A-9AF0-DF8F67433C20}"/>
              </a:ext>
            </a:extLst>
          </p:cNvPr>
          <p:cNvGrpSpPr/>
          <p:nvPr/>
        </p:nvGrpSpPr>
        <p:grpSpPr>
          <a:xfrm>
            <a:off x="5849684" y="5891570"/>
            <a:ext cx="1278989" cy="740500"/>
            <a:chOff x="7398130" y="5401391"/>
            <a:chExt cx="1278989" cy="740500"/>
          </a:xfrm>
        </p:grpSpPr>
        <p:sp>
          <p:nvSpPr>
            <p:cNvPr id="45" name="Esagono 43">
              <a:extLst>
                <a:ext uri="{FF2B5EF4-FFF2-40B4-BE49-F238E27FC236}">
                  <a16:creationId xmlns:a16="http://schemas.microsoft.com/office/drawing/2014/main" id="{97474CA4-70E8-EC40-8E99-8C97A98A8A6D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4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F45A4A40-9548-2F4F-9E88-949E6F36B5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84A61E36-6483-8D42-8C21-3CDA5DCBA3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ABEF842-A5B7-A049-B146-CF9CE26012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B0E2AA67-98A2-FE4E-8527-F19304AFAB0F}"/>
              </a:ext>
            </a:extLst>
          </p:cNvPr>
          <p:cNvGrpSpPr/>
          <p:nvPr/>
        </p:nvGrpSpPr>
        <p:grpSpPr>
          <a:xfrm>
            <a:off x="5885672" y="5953785"/>
            <a:ext cx="1278989" cy="740500"/>
            <a:chOff x="7398130" y="5401391"/>
            <a:chExt cx="1278989" cy="740500"/>
          </a:xfrm>
        </p:grpSpPr>
        <p:sp>
          <p:nvSpPr>
            <p:cNvPr id="50" name="Esagono 43">
              <a:extLst>
                <a:ext uri="{FF2B5EF4-FFF2-40B4-BE49-F238E27FC236}">
                  <a16:creationId xmlns:a16="http://schemas.microsoft.com/office/drawing/2014/main" id="{F1A461E6-EF2D-0B44-B974-9AB5FAE0B39D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4D53541F-FFF9-A84B-B6B2-F68017FBE5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37A2419-634E-BB4B-932E-6B48471776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8A4FB544-7FCF-E14A-8B8E-09D3A40465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" name="Gruppo 55">
            <a:extLst>
              <a:ext uri="{FF2B5EF4-FFF2-40B4-BE49-F238E27FC236}">
                <a16:creationId xmlns:a16="http://schemas.microsoft.com/office/drawing/2014/main" id="{26D10A33-7FE0-0E48-BF4E-51AF840750A9}"/>
              </a:ext>
            </a:extLst>
          </p:cNvPr>
          <p:cNvGrpSpPr/>
          <p:nvPr/>
        </p:nvGrpSpPr>
        <p:grpSpPr>
          <a:xfrm>
            <a:off x="9526323" y="4567481"/>
            <a:ext cx="1524594" cy="696577"/>
            <a:chOff x="8230376" y="3604986"/>
            <a:chExt cx="1524594" cy="696577"/>
          </a:xfrm>
        </p:grpSpPr>
        <p:sp>
          <p:nvSpPr>
            <p:cNvPr id="57" name="Esagono 47">
              <a:extLst>
                <a:ext uri="{FF2B5EF4-FFF2-40B4-BE49-F238E27FC236}">
                  <a16:creationId xmlns:a16="http://schemas.microsoft.com/office/drawing/2014/main" id="{F3DA9188-1431-AB4D-804A-42515975D21C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discovery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</a:t>
              </a:r>
            </a:p>
            <a:p>
              <a:pPr algn="ctr"/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(8761)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1B652B8-5892-1E48-B0EF-975F81EB65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AAE30100-4E51-3A44-9CEA-93FDD19427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B4E9414E-948D-794C-906E-FE58D31B9E6D}"/>
              </a:ext>
            </a:extLst>
          </p:cNvPr>
          <p:cNvCxnSpPr>
            <a:cxnSpLocks/>
          </p:cNvCxnSpPr>
          <p:nvPr/>
        </p:nvCxnSpPr>
        <p:spPr>
          <a:xfrm flipV="1">
            <a:off x="9797357" y="5264059"/>
            <a:ext cx="491263" cy="1064910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2 59">
            <a:extLst>
              <a:ext uri="{FF2B5EF4-FFF2-40B4-BE49-F238E27FC236}">
                <a16:creationId xmlns:a16="http://schemas.microsoft.com/office/drawing/2014/main" id="{2F39057E-02DA-AE4C-B086-076549AB9ED2}"/>
              </a:ext>
            </a:extLst>
          </p:cNvPr>
          <p:cNvCxnSpPr>
            <a:cxnSpLocks/>
          </p:cNvCxnSpPr>
          <p:nvPr/>
        </p:nvCxnSpPr>
        <p:spPr>
          <a:xfrm>
            <a:off x="8282631" y="4161972"/>
            <a:ext cx="2016435" cy="405511"/>
          </a:xfrm>
          <a:prstGeom prst="bentConnector3">
            <a:avLst>
              <a:gd name="adj1" fmla="val 100121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4 61">
            <a:extLst>
              <a:ext uri="{FF2B5EF4-FFF2-40B4-BE49-F238E27FC236}">
                <a16:creationId xmlns:a16="http://schemas.microsoft.com/office/drawing/2014/main" id="{CE089A64-4972-C44E-AC26-410FDA8210FB}"/>
              </a:ext>
            </a:extLst>
          </p:cNvPr>
          <p:cNvCxnSpPr>
            <a:cxnSpLocks/>
          </p:cNvCxnSpPr>
          <p:nvPr/>
        </p:nvCxnSpPr>
        <p:spPr>
          <a:xfrm flipV="1">
            <a:off x="6639315" y="5579605"/>
            <a:ext cx="3649305" cy="204606"/>
          </a:xfrm>
          <a:prstGeom prst="bentConnector3">
            <a:avLst>
              <a:gd name="adj1" fmla="val -114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ttore 4 66">
            <a:extLst>
              <a:ext uri="{FF2B5EF4-FFF2-40B4-BE49-F238E27FC236}">
                <a16:creationId xmlns:a16="http://schemas.microsoft.com/office/drawing/2014/main" id="{5EB0E2AA-33BA-7D42-AF1F-0907626B0C36}"/>
              </a:ext>
            </a:extLst>
          </p:cNvPr>
          <p:cNvCxnSpPr>
            <a:cxnSpLocks/>
          </p:cNvCxnSpPr>
          <p:nvPr/>
        </p:nvCxnSpPr>
        <p:spPr>
          <a:xfrm rot="16200000" flipV="1">
            <a:off x="7374357" y="4876545"/>
            <a:ext cx="1296539" cy="857942"/>
          </a:xfrm>
          <a:prstGeom prst="bentConnector3">
            <a:avLst>
              <a:gd name="adj1" fmla="val -25"/>
            </a:avLst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87C3D575-041D-8247-AA83-9AB4E1A14C9F}"/>
              </a:ext>
            </a:extLst>
          </p:cNvPr>
          <p:cNvSpPr txBox="1"/>
          <p:nvPr/>
        </p:nvSpPr>
        <p:spPr>
          <a:xfrm>
            <a:off x="7554523" y="473022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0BECC8EF-2F1B-9F4F-B142-6DE29408DCE5}"/>
              </a:ext>
            </a:extLst>
          </p:cNvPr>
          <p:cNvSpPr txBox="1"/>
          <p:nvPr/>
        </p:nvSpPr>
        <p:spPr>
          <a:xfrm>
            <a:off x="7323572" y="632078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40368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8BAAE3-F824-2B44-868F-206B2E5F6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</a:t>
            </a:r>
            <a:r>
              <a:rPr lang="en-US" dirty="0" err="1"/>
              <a:t>OpenFeign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38A5A2-E2A2-1F4A-9A3A-E3568D51F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>
            <a:normAutofit/>
          </a:bodyPr>
          <a:lstStyle/>
          <a:p>
            <a:r>
              <a:rPr lang="en-US" sz="2400" dirty="0"/>
              <a:t>Spring Cloud supports Feign, a declarative service client</a:t>
            </a:r>
          </a:p>
          <a:p>
            <a:pPr lvl="1"/>
            <a:r>
              <a:rPr lang="en-US" sz="2000" dirty="0"/>
              <a:t>Feign creates a dynamic implementation of an interface decorated with JAX-RS annotations (e.g., 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r>
              <a:rPr lang="en-US" sz="2000" dirty="0"/>
              <a:t>, etc.) </a:t>
            </a:r>
          </a:p>
          <a:p>
            <a:pPr lvl="1"/>
            <a:r>
              <a:rPr lang="en-US" sz="2000" dirty="0"/>
              <a:t>Integrates discovery, load balancing, circuit breaking, etc. from Spring Cloud</a:t>
            </a:r>
          </a:p>
          <a:p>
            <a:endParaRPr lang="en-US" sz="2400" dirty="0"/>
          </a:p>
          <a:p>
            <a:r>
              <a:rPr lang="en-US" sz="2400" dirty="0"/>
              <a:t>Integrate </a:t>
            </a:r>
            <a:r>
              <a:rPr lang="en-US" sz="2400" dirty="0" err="1"/>
              <a:t>OpenFeign</a:t>
            </a:r>
            <a:endParaRPr lang="en-US" sz="2400" dirty="0"/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spring-cloud-starter-</a:t>
            </a:r>
            <a:r>
              <a:rPr lang="en-US" sz="2000" dirty="0" err="1">
                <a:latin typeface="+mj-lt"/>
              </a:rPr>
              <a:t>openfeign</a:t>
            </a:r>
            <a:r>
              <a:rPr lang="en-US" sz="2000" dirty="0"/>
              <a:t> pom dependency</a:t>
            </a:r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EnableFeignClients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/>
              <a:t>annotation to Application class</a:t>
            </a:r>
          </a:p>
          <a:p>
            <a:endParaRPr lang="en-US" sz="2400" dirty="0">
              <a:latin typeface="+mj-lt"/>
            </a:endParaRPr>
          </a:p>
          <a:p>
            <a:r>
              <a:rPr lang="en-US" sz="2400" dirty="0"/>
              <a:t>Create a dynamic client</a:t>
            </a:r>
          </a:p>
          <a:p>
            <a:pPr lvl="1"/>
            <a:r>
              <a:rPr lang="en-US" sz="2000" dirty="0"/>
              <a:t>Create an interface and annotate it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FeignClient</a:t>
            </a:r>
            <a:r>
              <a:rPr lang="en-US" sz="2000" dirty="0"/>
              <a:t> annotation</a:t>
            </a:r>
          </a:p>
          <a:p>
            <a:pPr lvl="1"/>
            <a:r>
              <a:rPr lang="en-US" sz="2000" dirty="0"/>
              <a:t>Annotate methods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9758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83FD63-46ED-3445-B029-856C980D2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Job microservice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3F0E70-7E2E-2741-9176-5D3EBE111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35943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Job microservice has an invoker class to call User microservice</a:t>
            </a:r>
          </a:p>
          <a:p>
            <a:pPr lvl="1"/>
            <a:r>
              <a:rPr lang="en-US" sz="2000" dirty="0"/>
              <a:t>Update and use a dynamic Feign client</a:t>
            </a:r>
          </a:p>
          <a:p>
            <a:endParaRPr lang="en-US" sz="2400" dirty="0"/>
          </a:p>
          <a:p>
            <a:r>
              <a:rPr lang="en-US" sz="2400" dirty="0"/>
              <a:t>Create a new package and a new interface</a:t>
            </a:r>
          </a:p>
          <a:p>
            <a:pPr lvl="1"/>
            <a:r>
              <a:rPr lang="en-US" sz="2000" dirty="0"/>
              <a:t>Annotate the interface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FeignClient</a:t>
            </a:r>
            <a:endParaRPr lang="en-US" sz="2000" dirty="0">
              <a:latin typeface="+mj-lt"/>
            </a:endParaRPr>
          </a:p>
          <a:p>
            <a:pPr lvl="2"/>
            <a:r>
              <a:rPr lang="en-US" sz="1600" dirty="0"/>
              <a:t>Name of the Feign client, </a:t>
            </a:r>
            <a:r>
              <a:rPr lang="en-US" sz="1600" dirty="0" err="1"/>
              <a:t>url</a:t>
            </a:r>
            <a:r>
              <a:rPr lang="en-US" sz="1600" dirty="0"/>
              <a:t> of the service to call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Add a new method</a:t>
            </a:r>
          </a:p>
          <a:p>
            <a:pPr lvl="1"/>
            <a:r>
              <a:rPr lang="en-US" sz="2000" dirty="0"/>
              <a:t>Annotate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r>
              <a:rPr lang="en-US" sz="2000" dirty="0"/>
              <a:t> as in JAX-RS services</a:t>
            </a:r>
          </a:p>
          <a:p>
            <a:pPr lvl="1"/>
            <a:endParaRPr lang="en-US" sz="2000" dirty="0">
              <a:latin typeface="+mj-lt"/>
            </a:endParaRPr>
          </a:p>
          <a:p>
            <a:r>
              <a:rPr lang="en-US" sz="2400" dirty="0"/>
              <a:t>Update the controller class to use the Feign client</a:t>
            </a:r>
          </a:p>
          <a:p>
            <a:pPr lvl="1"/>
            <a:r>
              <a:rPr lang="en-US" sz="2000" dirty="0"/>
              <a:t>Change the </a:t>
            </a:r>
            <a:r>
              <a:rPr lang="en-US" sz="2000" dirty="0" err="1"/>
              <a:t>autowired</a:t>
            </a:r>
            <a:r>
              <a:rPr lang="en-US" sz="2000" dirty="0"/>
              <a:t> service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4A96F25-0253-144A-B3BB-4A2F68F59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536" y="3429000"/>
            <a:ext cx="6436927" cy="9460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8050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4049BE-BA5F-664F-BAF8-555763E60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load balancing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FE1728-FBC7-4A40-9ACD-E8AFA9B1A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the current implementation we set the URL of the invoked service</a:t>
            </a:r>
          </a:p>
          <a:p>
            <a:pPr lvl="1"/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FeignClient</a:t>
            </a:r>
            <a:r>
              <a:rPr lang="it-IT" sz="2000" dirty="0">
                <a:latin typeface="+mj-lt"/>
              </a:rPr>
              <a:t>(</a:t>
            </a:r>
            <a:r>
              <a:rPr lang="it-IT" sz="2000" dirty="0" err="1">
                <a:latin typeface="+mj-lt"/>
              </a:rPr>
              <a:t>name</a:t>
            </a:r>
            <a:r>
              <a:rPr lang="it-IT" sz="2000" dirty="0">
                <a:latin typeface="+mj-lt"/>
              </a:rPr>
              <a:t>="</a:t>
            </a:r>
            <a:r>
              <a:rPr lang="it-IT" sz="2000" dirty="0" err="1">
                <a:latin typeface="+mj-lt"/>
              </a:rPr>
              <a:t>userMicroserviceFeignClient</a:t>
            </a:r>
            <a:r>
              <a:rPr lang="it-IT" sz="2000" dirty="0">
                <a:latin typeface="+mj-lt"/>
              </a:rPr>
              <a:t>", </a:t>
            </a:r>
            <a:r>
              <a:rPr lang="it-IT" sz="2000" dirty="0" err="1">
                <a:latin typeface="+mj-lt"/>
              </a:rPr>
              <a:t>url</a:t>
            </a:r>
            <a:r>
              <a:rPr lang="it-IT" sz="2000" dirty="0">
                <a:latin typeface="+mj-lt"/>
              </a:rPr>
              <a:t>="${</a:t>
            </a:r>
            <a:r>
              <a:rPr lang="it-IT" sz="2000" dirty="0" err="1">
                <a:latin typeface="+mj-lt"/>
              </a:rPr>
              <a:t>microservice.user.find.uri</a:t>
            </a:r>
            <a:r>
              <a:rPr lang="it-IT" sz="2000" dirty="0">
                <a:latin typeface="+mj-lt"/>
              </a:rPr>
              <a:t>}")</a:t>
            </a:r>
          </a:p>
          <a:p>
            <a:endParaRPr lang="it-IT" sz="2400" dirty="0">
              <a:latin typeface="+mj-lt"/>
            </a:endParaRPr>
          </a:p>
          <a:p>
            <a:r>
              <a:rPr lang="it-IT" sz="2400" dirty="0" err="1"/>
              <a:t>Feign</a:t>
            </a:r>
            <a:r>
              <a:rPr lang="it-IT" sz="2400" dirty="0"/>
              <a:t> </a:t>
            </a:r>
            <a:r>
              <a:rPr lang="it-IT" sz="2400" dirty="0" err="1"/>
              <a:t>supports</a:t>
            </a:r>
            <a:r>
              <a:rPr lang="it-IT" sz="2400" dirty="0"/>
              <a:t> Eureka service </a:t>
            </a:r>
            <a:r>
              <a:rPr lang="it-IT" sz="2400" dirty="0" err="1"/>
              <a:t>discovery</a:t>
            </a:r>
            <a:endParaRPr lang="it-IT" sz="2400" dirty="0"/>
          </a:p>
          <a:p>
            <a:pPr lvl="1"/>
            <a:r>
              <a:rPr lang="it-IT" sz="2000" dirty="0"/>
              <a:t>Update the @</a:t>
            </a:r>
            <a:r>
              <a:rPr lang="it-IT" sz="2000" dirty="0" err="1"/>
              <a:t>FeignClient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r>
              <a:rPr lang="it-IT" sz="2000" dirty="0"/>
              <a:t> to use the service </a:t>
            </a:r>
            <a:r>
              <a:rPr lang="it-IT" sz="2000" dirty="0" err="1"/>
              <a:t>discovery</a:t>
            </a:r>
            <a:endParaRPr lang="it-IT" sz="2000" dirty="0"/>
          </a:p>
          <a:p>
            <a:pPr lvl="1"/>
            <a:endParaRPr lang="it-IT" sz="2000" dirty="0"/>
          </a:p>
          <a:p>
            <a:pPr lvl="1"/>
            <a:endParaRPr lang="it-IT" sz="2000" dirty="0"/>
          </a:p>
          <a:p>
            <a:pPr lvl="1"/>
            <a:endParaRPr lang="it-IT" sz="2000" dirty="0"/>
          </a:p>
          <a:p>
            <a:pPr lvl="1"/>
            <a:r>
              <a:rPr lang="it-IT" sz="2000" dirty="0"/>
              <a:t>Update the </a:t>
            </a:r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RequestMapping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endParaRPr lang="it-IT" sz="2000" dirty="0"/>
          </a:p>
          <a:p>
            <a:pPr lvl="1"/>
            <a:endParaRPr lang="en-US" sz="2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21FC808-3E7F-7C44-AA45-BF35B0E1B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509" y="3429000"/>
            <a:ext cx="5064937" cy="6122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DB6E758B-0DF1-9D45-8366-6A7C9EC19A0D}"/>
              </a:ext>
            </a:extLst>
          </p:cNvPr>
          <p:cNvSpPr/>
          <p:nvPr/>
        </p:nvSpPr>
        <p:spPr>
          <a:xfrm>
            <a:off x="3880884" y="3476845"/>
            <a:ext cx="1967023" cy="22637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99C2C0DD-230B-DD4A-816E-2F178952CE6D}"/>
              </a:ext>
            </a:extLst>
          </p:cNvPr>
          <p:cNvCxnSpPr/>
          <p:nvPr/>
        </p:nvCxnSpPr>
        <p:spPr>
          <a:xfrm>
            <a:off x="5847907" y="3593805"/>
            <a:ext cx="1892595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17B00E3-1108-814D-ADF0-CBB8C395DA42}"/>
              </a:ext>
            </a:extLst>
          </p:cNvPr>
          <p:cNvSpPr txBox="1"/>
          <p:nvPr/>
        </p:nvSpPr>
        <p:spPr>
          <a:xfrm>
            <a:off x="7814930" y="3405368"/>
            <a:ext cx="361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Application name of the user service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6B440068-74DB-4846-B29A-D0517CF18900}"/>
              </a:ext>
            </a:extLst>
          </p:cNvPr>
          <p:cNvSpPr/>
          <p:nvPr/>
        </p:nvSpPr>
        <p:spPr>
          <a:xfrm>
            <a:off x="6895217" y="1594749"/>
            <a:ext cx="3397100" cy="369285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7F866E11-8DAA-484C-AEAA-1A2E6F960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217" y="4834100"/>
            <a:ext cx="7969566" cy="5977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37937781-869F-8E46-B8C5-460B8111DA4B}"/>
              </a:ext>
            </a:extLst>
          </p:cNvPr>
          <p:cNvSpPr/>
          <p:nvPr/>
        </p:nvSpPr>
        <p:spPr>
          <a:xfrm>
            <a:off x="7167398" y="4901805"/>
            <a:ext cx="1572565" cy="212455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AB5C2F0F-D91C-0948-B827-811DDC86E0EB}"/>
              </a:ext>
            </a:extLst>
          </p:cNvPr>
          <p:cNvCxnSpPr>
            <a:cxnSpLocks/>
          </p:cNvCxnSpPr>
          <p:nvPr/>
        </p:nvCxnSpPr>
        <p:spPr>
          <a:xfrm>
            <a:off x="7954207" y="5114260"/>
            <a:ext cx="0" cy="691117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665EBF9-F10F-B848-9A08-A0366A1C7AAA}"/>
              </a:ext>
            </a:extLst>
          </p:cNvPr>
          <p:cNvSpPr txBox="1"/>
          <p:nvPr/>
        </p:nvSpPr>
        <p:spPr>
          <a:xfrm>
            <a:off x="6545025" y="5833166"/>
            <a:ext cx="2841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 path for the API call</a:t>
            </a:r>
          </a:p>
        </p:txBody>
      </p:sp>
    </p:spTree>
    <p:extLst>
      <p:ext uri="{BB962C8B-B14F-4D97-AF65-F5344CB8AC3E}">
        <p14:creationId xmlns:p14="http://schemas.microsoft.com/office/powerpoint/2010/main" val="32075495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15AA0F-BFBB-134D-8E40-09DE62E7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issues with </a:t>
            </a:r>
            <a:r>
              <a:rPr lang="en-US"/>
              <a:t>the databases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2CF223-02EF-1045-BC96-306224E75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are running the services with an H2 in-memory DB.</a:t>
            </a:r>
          </a:p>
          <a:p>
            <a:r>
              <a:rPr lang="en-US" sz="2400" dirty="0"/>
              <a:t>When running multiple instances, each instance will own its data</a:t>
            </a:r>
          </a:p>
          <a:p>
            <a:endParaRPr lang="en-US" sz="2400" dirty="0"/>
          </a:p>
          <a:p>
            <a:r>
              <a:rPr lang="en-US" sz="2400" dirty="0"/>
              <a:t>We need to switch to a standalone DB</a:t>
            </a:r>
          </a:p>
          <a:p>
            <a:r>
              <a:rPr lang="en-US" sz="2400" dirty="0"/>
              <a:t>Update User and Job microservices:</a:t>
            </a:r>
          </a:p>
          <a:p>
            <a:pPr lvl="1"/>
            <a:r>
              <a:rPr lang="en-US" sz="2000" dirty="0"/>
              <a:t>Remove the H2 pom dependency, add </a:t>
            </a:r>
            <a:r>
              <a:rPr lang="en-US" sz="2000" dirty="0" err="1">
                <a:latin typeface="+mj-lt"/>
              </a:rPr>
              <a:t>mysql</a:t>
            </a:r>
            <a:r>
              <a:rPr lang="en-US" sz="2000" dirty="0">
                <a:latin typeface="+mj-lt"/>
              </a:rPr>
              <a:t>-connector-j</a:t>
            </a:r>
          </a:p>
          <a:p>
            <a:pPr lvl="1"/>
            <a:r>
              <a:rPr lang="en-US" sz="2000" dirty="0"/>
              <a:t>Update properties file</a:t>
            </a:r>
          </a:p>
          <a:p>
            <a:pPr lvl="1"/>
            <a:r>
              <a:rPr lang="en-US" sz="2000" dirty="0"/>
              <a:t>Remove the H2-related properties</a:t>
            </a:r>
          </a:p>
          <a:p>
            <a:pPr lvl="1"/>
            <a:r>
              <a:rPr lang="en-US" sz="2000" dirty="0"/>
              <a:t>Update the </a:t>
            </a:r>
            <a:r>
              <a:rPr lang="en-US" sz="2000" dirty="0" err="1"/>
              <a:t>data.sql</a:t>
            </a:r>
            <a:r>
              <a:rPr lang="en-US" sz="2000" dirty="0"/>
              <a:t> to comply with the SQL syntax (e.g., use ` instead of ")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47756C8-32C3-C843-8FA6-EFA12DFC8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244236"/>
            <a:ext cx="10515600" cy="7832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68356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BFE08A-A095-084D-925C-33BC3085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microservices on Docker</a:t>
            </a:r>
          </a:p>
        </p:txBody>
      </p:sp>
    </p:spTree>
    <p:extLst>
      <p:ext uri="{BB962C8B-B14F-4D97-AF65-F5344CB8AC3E}">
        <p14:creationId xmlns:p14="http://schemas.microsoft.com/office/powerpoint/2010/main" val="22082888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72DE70-9845-C84D-95E6-618531AC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 image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C5D629-0094-D544-81CC-FC75DE296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4744500"/>
          </a:xfrm>
        </p:spPr>
        <p:txBody>
          <a:bodyPr>
            <a:normAutofit/>
          </a:bodyPr>
          <a:lstStyle/>
          <a:p>
            <a:r>
              <a:rPr lang="en-US" sz="2000" dirty="0"/>
              <a:t>Let's do it with the </a:t>
            </a:r>
            <a:r>
              <a:rPr lang="en-US" sz="2000" dirty="0" err="1"/>
              <a:t>Openjob</a:t>
            </a:r>
            <a:r>
              <a:rPr lang="en-US" sz="2000" dirty="0"/>
              <a:t> </a:t>
            </a:r>
            <a:r>
              <a:rPr lang="en-US" sz="2000" i="1" dirty="0"/>
              <a:t>monolith</a:t>
            </a:r>
          </a:p>
          <a:p>
            <a:r>
              <a:rPr lang="en-US" sz="2000" dirty="0"/>
              <a:t>Create a </a:t>
            </a:r>
            <a:r>
              <a:rPr lang="en-US" sz="2000" dirty="0" err="1">
                <a:latin typeface="+mj-lt"/>
              </a:rPr>
              <a:t>Dockerfile</a:t>
            </a:r>
            <a:r>
              <a:rPr lang="en-US" sz="2000" dirty="0"/>
              <a:t> on the root folder of the project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r>
              <a:rPr lang="en-US" sz="2000" dirty="0"/>
              <a:t>Run the command </a:t>
            </a:r>
            <a:r>
              <a:rPr lang="en-US" sz="2000" dirty="0">
                <a:latin typeface="+mj-lt"/>
              </a:rPr>
              <a:t>docker </a:t>
            </a:r>
            <a:r>
              <a:rPr lang="en-US" sz="2000">
                <a:latin typeface="+mj-lt"/>
              </a:rPr>
              <a:t>build -t </a:t>
            </a:r>
            <a:r>
              <a:rPr lang="en-US" sz="2000" dirty="0" err="1">
                <a:latin typeface="+mj-lt"/>
              </a:rPr>
              <a:t>openjob</a:t>
            </a:r>
            <a:r>
              <a:rPr lang="en-US" sz="2000" dirty="0">
                <a:latin typeface="+mj-lt"/>
              </a:rPr>
              <a:t> .</a:t>
            </a:r>
            <a:r>
              <a:rPr lang="en-US" sz="2000" dirty="0"/>
              <a:t> from terminal</a:t>
            </a:r>
          </a:p>
          <a:p>
            <a:r>
              <a:rPr lang="en-US" sz="2000" dirty="0"/>
              <a:t>Check the created image with </a:t>
            </a:r>
            <a:r>
              <a:rPr lang="en-US" sz="2000" dirty="0">
                <a:latin typeface="+mj-lt"/>
              </a:rPr>
              <a:t>docker images</a:t>
            </a:r>
            <a:r>
              <a:rPr lang="en-US" sz="2000" dirty="0"/>
              <a:t> command (or from Docker Desktop)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10F61AA-C6BD-BF43-B506-6F12584D68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49"/>
          <a:stretch/>
        </p:blipFill>
        <p:spPr>
          <a:xfrm>
            <a:off x="896028" y="2196638"/>
            <a:ext cx="3022600" cy="19614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19C28ACD-37EB-5D40-A871-687A203C5D8E}"/>
              </a:ext>
            </a:extLst>
          </p:cNvPr>
          <p:cNvSpPr/>
          <p:nvPr/>
        </p:nvSpPr>
        <p:spPr>
          <a:xfrm>
            <a:off x="1254870" y="3706239"/>
            <a:ext cx="1152458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D49DA194-614B-8446-8566-AC0C2BCC437A}"/>
              </a:ext>
            </a:extLst>
          </p:cNvPr>
          <p:cNvSpPr/>
          <p:nvPr/>
        </p:nvSpPr>
        <p:spPr>
          <a:xfrm>
            <a:off x="2402734" y="3404681"/>
            <a:ext cx="2266544" cy="428017"/>
          </a:xfrm>
          <a:custGeom>
            <a:avLst/>
            <a:gdLst>
              <a:gd name="connsiteX0" fmla="*/ 0 w 2266544"/>
              <a:gd name="connsiteY0" fmla="*/ 428017 h 428017"/>
              <a:gd name="connsiteX1" fmla="*/ 1108953 w 2266544"/>
              <a:gd name="connsiteY1" fmla="*/ 330740 h 428017"/>
              <a:gd name="connsiteX2" fmla="*/ 2266544 w 2266544"/>
              <a:gd name="connsiteY2" fmla="*/ 0 h 42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66544" h="428017">
                <a:moveTo>
                  <a:pt x="0" y="428017"/>
                </a:moveTo>
                <a:cubicBezTo>
                  <a:pt x="365598" y="415046"/>
                  <a:pt x="731196" y="402076"/>
                  <a:pt x="1108953" y="330740"/>
                </a:cubicBezTo>
                <a:cubicBezTo>
                  <a:pt x="1486710" y="259404"/>
                  <a:pt x="1876627" y="129702"/>
                  <a:pt x="2266544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51D99859-75CD-FC4B-A896-5A5AE2542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490" y="2421119"/>
            <a:ext cx="4152900" cy="1511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9F629000-5405-3748-86FD-41A9181973E4}"/>
              </a:ext>
            </a:extLst>
          </p:cNvPr>
          <p:cNvSpPr/>
          <p:nvPr/>
        </p:nvSpPr>
        <p:spPr>
          <a:xfrm>
            <a:off x="5191329" y="2397789"/>
            <a:ext cx="3524655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495B075-AF7E-A040-A8B7-CD6B3A302616}"/>
              </a:ext>
            </a:extLst>
          </p:cNvPr>
          <p:cNvSpPr txBox="1"/>
          <p:nvPr/>
        </p:nvSpPr>
        <p:spPr>
          <a:xfrm>
            <a:off x="8407259" y="1478552"/>
            <a:ext cx="3036793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600" dirty="0"/>
              <a:t>Base image for next instructions</a:t>
            </a:r>
          </a:p>
          <a:p>
            <a:r>
              <a:rPr lang="en-US" sz="1600" dirty="0"/>
              <a:t>It will be pulled from a public repo</a:t>
            </a:r>
          </a:p>
          <a:p>
            <a:r>
              <a:rPr lang="en-US" sz="1600">
                <a:ea typeface="Calibri" panose="020F0502020204030204"/>
                <a:cs typeface="Calibri" panose="020F0502020204030204"/>
              </a:rPr>
              <a:t>(use "...temurin-25-…"!)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Figura a mano libera 15">
            <a:extLst>
              <a:ext uri="{FF2B5EF4-FFF2-40B4-BE49-F238E27FC236}">
                <a16:creationId xmlns:a16="http://schemas.microsoft.com/office/drawing/2014/main" id="{DA7AD7ED-1FC7-5446-8D82-B42E39DF075E}"/>
              </a:ext>
            </a:extLst>
          </p:cNvPr>
          <p:cNvSpPr/>
          <p:nvPr/>
        </p:nvSpPr>
        <p:spPr>
          <a:xfrm>
            <a:off x="7850223" y="2003898"/>
            <a:ext cx="564204" cy="369651"/>
          </a:xfrm>
          <a:custGeom>
            <a:avLst/>
            <a:gdLst>
              <a:gd name="connsiteX0" fmla="*/ 0 w 564204"/>
              <a:gd name="connsiteY0" fmla="*/ 369651 h 369651"/>
              <a:gd name="connsiteX1" fmla="*/ 175098 w 564204"/>
              <a:gd name="connsiteY1" fmla="*/ 107004 h 369651"/>
              <a:gd name="connsiteX2" fmla="*/ 564204 w 564204"/>
              <a:gd name="connsiteY2" fmla="*/ 0 h 36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4204" h="369651">
                <a:moveTo>
                  <a:pt x="0" y="369651"/>
                </a:moveTo>
                <a:cubicBezTo>
                  <a:pt x="40532" y="269131"/>
                  <a:pt x="81064" y="168612"/>
                  <a:pt x="175098" y="107004"/>
                </a:cubicBezTo>
                <a:cubicBezTo>
                  <a:pt x="269132" y="45396"/>
                  <a:pt x="416668" y="22698"/>
                  <a:pt x="564204" y="0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58CC9DA9-270F-494D-9FE3-1829399D221B}"/>
              </a:ext>
            </a:extLst>
          </p:cNvPr>
          <p:cNvSpPr/>
          <p:nvPr/>
        </p:nvSpPr>
        <p:spPr>
          <a:xfrm>
            <a:off x="4669279" y="2716607"/>
            <a:ext cx="1653702" cy="475589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AAF7003-29CE-B243-8C54-E878BF37E5C4}"/>
              </a:ext>
            </a:extLst>
          </p:cNvPr>
          <p:cNvSpPr txBox="1"/>
          <p:nvPr/>
        </p:nvSpPr>
        <p:spPr>
          <a:xfrm>
            <a:off x="8132325" y="2865953"/>
            <a:ext cx="3670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Create the </a:t>
            </a:r>
            <a:r>
              <a:rPr lang="en-US" sz="1600" dirty="0">
                <a:latin typeface="+mj-lt"/>
              </a:rPr>
              <a:t>/</a:t>
            </a:r>
            <a:r>
              <a:rPr lang="en-US" sz="1600" dirty="0" err="1">
                <a:latin typeface="+mj-lt"/>
              </a:rPr>
              <a:t>openjob</a:t>
            </a:r>
            <a:r>
              <a:rPr lang="en-US" sz="1600" dirty="0"/>
              <a:t> folder, move into it and copy the content of the project inside</a:t>
            </a:r>
          </a:p>
        </p:txBody>
      </p:sp>
      <p:sp>
        <p:nvSpPr>
          <p:cNvPr id="19" name="Figura a mano libera 18">
            <a:extLst>
              <a:ext uri="{FF2B5EF4-FFF2-40B4-BE49-F238E27FC236}">
                <a16:creationId xmlns:a16="http://schemas.microsoft.com/office/drawing/2014/main" id="{0AB26296-9A95-CA42-A987-65E964845792}"/>
              </a:ext>
            </a:extLst>
          </p:cNvPr>
          <p:cNvSpPr/>
          <p:nvPr/>
        </p:nvSpPr>
        <p:spPr>
          <a:xfrm>
            <a:off x="6322980" y="2937753"/>
            <a:ext cx="1867711" cy="116732"/>
          </a:xfrm>
          <a:custGeom>
            <a:avLst/>
            <a:gdLst>
              <a:gd name="connsiteX0" fmla="*/ 0 w 1867711"/>
              <a:gd name="connsiteY0" fmla="*/ 0 h 116732"/>
              <a:gd name="connsiteX1" fmla="*/ 992222 w 1867711"/>
              <a:gd name="connsiteY1" fmla="*/ 29183 h 116732"/>
              <a:gd name="connsiteX2" fmla="*/ 1867711 w 1867711"/>
              <a:gd name="connsiteY2" fmla="*/ 116732 h 11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7711" h="116732">
                <a:moveTo>
                  <a:pt x="0" y="0"/>
                </a:moveTo>
                <a:cubicBezTo>
                  <a:pt x="340468" y="4864"/>
                  <a:pt x="680937" y="9728"/>
                  <a:pt x="992222" y="29183"/>
                </a:cubicBezTo>
                <a:cubicBezTo>
                  <a:pt x="1303507" y="48638"/>
                  <a:pt x="1585609" y="82685"/>
                  <a:pt x="1867711" y="11673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2930EFD0-DFC0-C546-99F8-8858783C5361}"/>
              </a:ext>
            </a:extLst>
          </p:cNvPr>
          <p:cNvSpPr/>
          <p:nvPr/>
        </p:nvSpPr>
        <p:spPr>
          <a:xfrm>
            <a:off x="4716295" y="3278182"/>
            <a:ext cx="2083342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091E5BC-2DF5-234F-8B6D-12EA6FA3AFCA}"/>
              </a:ext>
            </a:extLst>
          </p:cNvPr>
          <p:cNvSpPr txBox="1"/>
          <p:nvPr/>
        </p:nvSpPr>
        <p:spPr>
          <a:xfrm>
            <a:off x="8542325" y="3480126"/>
            <a:ext cx="18340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Compile the project</a:t>
            </a:r>
          </a:p>
        </p:txBody>
      </p:sp>
      <p:sp>
        <p:nvSpPr>
          <p:cNvPr id="22" name="Figura a mano libera 21">
            <a:extLst>
              <a:ext uri="{FF2B5EF4-FFF2-40B4-BE49-F238E27FC236}">
                <a16:creationId xmlns:a16="http://schemas.microsoft.com/office/drawing/2014/main" id="{96DC2490-45B9-E449-8BE9-B1AF2BEF2401}"/>
              </a:ext>
            </a:extLst>
          </p:cNvPr>
          <p:cNvSpPr/>
          <p:nvPr/>
        </p:nvSpPr>
        <p:spPr>
          <a:xfrm>
            <a:off x="6809366" y="3391694"/>
            <a:ext cx="1834028" cy="198263"/>
          </a:xfrm>
          <a:custGeom>
            <a:avLst/>
            <a:gdLst>
              <a:gd name="connsiteX0" fmla="*/ 0 w 1867711"/>
              <a:gd name="connsiteY0" fmla="*/ 0 h 116732"/>
              <a:gd name="connsiteX1" fmla="*/ 992222 w 1867711"/>
              <a:gd name="connsiteY1" fmla="*/ 29183 h 116732"/>
              <a:gd name="connsiteX2" fmla="*/ 1867711 w 1867711"/>
              <a:gd name="connsiteY2" fmla="*/ 116732 h 11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7711" h="116732">
                <a:moveTo>
                  <a:pt x="0" y="0"/>
                </a:moveTo>
                <a:cubicBezTo>
                  <a:pt x="340468" y="4864"/>
                  <a:pt x="680937" y="9728"/>
                  <a:pt x="992222" y="29183"/>
                </a:cubicBezTo>
                <a:cubicBezTo>
                  <a:pt x="1303507" y="48638"/>
                  <a:pt x="1585609" y="82685"/>
                  <a:pt x="1867711" y="11673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0A3FD392-7AF7-D448-8BB4-CB72525A98E8}"/>
              </a:ext>
            </a:extLst>
          </p:cNvPr>
          <p:cNvSpPr/>
          <p:nvPr/>
        </p:nvSpPr>
        <p:spPr>
          <a:xfrm>
            <a:off x="4664093" y="3628378"/>
            <a:ext cx="2266544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433424C7-5A96-4843-9A04-A894FFFEA871}"/>
              </a:ext>
            </a:extLst>
          </p:cNvPr>
          <p:cNvSpPr txBox="1"/>
          <p:nvPr/>
        </p:nvSpPr>
        <p:spPr>
          <a:xfrm>
            <a:off x="6322980" y="4103117"/>
            <a:ext cx="4277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Specify the programs/commands to execute while initializing a container from the image</a:t>
            </a:r>
          </a:p>
          <a:p>
            <a:r>
              <a:rPr lang="en-US" sz="1600" dirty="0"/>
              <a:t>(Run the </a:t>
            </a:r>
            <a:r>
              <a:rPr lang="en-US" sz="1600" dirty="0" err="1"/>
              <a:t>openjob</a:t>
            </a:r>
            <a:r>
              <a:rPr lang="en-US" sz="1600" dirty="0"/>
              <a:t> application)</a:t>
            </a:r>
          </a:p>
        </p:txBody>
      </p:sp>
      <p:sp>
        <p:nvSpPr>
          <p:cNvPr id="25" name="Figura a mano libera 24">
            <a:extLst>
              <a:ext uri="{FF2B5EF4-FFF2-40B4-BE49-F238E27FC236}">
                <a16:creationId xmlns:a16="http://schemas.microsoft.com/office/drawing/2014/main" id="{0C2E8F04-2FEF-4443-87AE-F45479FC2683}"/>
              </a:ext>
            </a:extLst>
          </p:cNvPr>
          <p:cNvSpPr/>
          <p:nvPr/>
        </p:nvSpPr>
        <p:spPr>
          <a:xfrm>
            <a:off x="5739321" y="3871608"/>
            <a:ext cx="632298" cy="603115"/>
          </a:xfrm>
          <a:custGeom>
            <a:avLst/>
            <a:gdLst>
              <a:gd name="connsiteX0" fmla="*/ 0 w 632298"/>
              <a:gd name="connsiteY0" fmla="*/ 0 h 603115"/>
              <a:gd name="connsiteX1" fmla="*/ 194553 w 632298"/>
              <a:gd name="connsiteY1" fmla="*/ 466928 h 603115"/>
              <a:gd name="connsiteX2" fmla="*/ 632298 w 632298"/>
              <a:gd name="connsiteY2" fmla="*/ 603115 h 60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2298" h="603115">
                <a:moveTo>
                  <a:pt x="0" y="0"/>
                </a:moveTo>
                <a:cubicBezTo>
                  <a:pt x="44585" y="183204"/>
                  <a:pt x="89170" y="366409"/>
                  <a:pt x="194553" y="466928"/>
                </a:cubicBezTo>
                <a:cubicBezTo>
                  <a:pt x="299936" y="567447"/>
                  <a:pt x="466117" y="585281"/>
                  <a:pt x="632298" y="603115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631C6801-E7DB-CA4D-A62C-ABDAD095F3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7" t="-13371"/>
          <a:stretch/>
        </p:blipFill>
        <p:spPr>
          <a:xfrm>
            <a:off x="2334638" y="5966621"/>
            <a:ext cx="6865028" cy="4319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9036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BE5593-F8FC-5F47-944A-A1B3B936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container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77275E-195D-0B46-9191-7104868C6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Run the command </a:t>
            </a:r>
            <a:r>
              <a:rPr lang="it-IT" sz="2400" dirty="0" err="1">
                <a:latin typeface="+mj-lt"/>
              </a:rPr>
              <a:t>docker</a:t>
            </a:r>
            <a:r>
              <a:rPr lang="it-IT" sz="2400" dirty="0">
                <a:latin typeface="+mj-lt"/>
              </a:rPr>
              <a:t> </a:t>
            </a:r>
            <a:r>
              <a:rPr lang="it-IT" sz="2400" dirty="0" err="1">
                <a:latin typeface="+mj-lt"/>
              </a:rPr>
              <a:t>run</a:t>
            </a:r>
            <a:r>
              <a:rPr lang="it-IT" sz="2400" dirty="0">
                <a:latin typeface="+mj-lt"/>
              </a:rPr>
              <a:t> --</a:t>
            </a:r>
            <a:r>
              <a:rPr lang="it-IT" sz="2400" dirty="0" err="1">
                <a:latin typeface="+mj-lt"/>
              </a:rPr>
              <a:t>name</a:t>
            </a:r>
            <a:r>
              <a:rPr lang="it-IT" sz="2400" dirty="0">
                <a:latin typeface="+mj-lt"/>
              </a:rPr>
              <a:t> </a:t>
            </a:r>
            <a:r>
              <a:rPr lang="it-IT" sz="2400" dirty="0" err="1">
                <a:latin typeface="+mj-lt"/>
              </a:rPr>
              <a:t>openjob-app</a:t>
            </a:r>
            <a:r>
              <a:rPr lang="it-IT" sz="2400" dirty="0">
                <a:latin typeface="+mj-lt"/>
              </a:rPr>
              <a:t> -</a:t>
            </a:r>
            <a:r>
              <a:rPr lang="it-IT" sz="2400" dirty="0" err="1">
                <a:latin typeface="+mj-lt"/>
              </a:rPr>
              <a:t>p</a:t>
            </a:r>
            <a:r>
              <a:rPr lang="it-IT" sz="2400" dirty="0">
                <a:latin typeface="+mj-lt"/>
              </a:rPr>
              <a:t> 9090:9092 -d </a:t>
            </a:r>
            <a:r>
              <a:rPr lang="it-IT" sz="2400" dirty="0" err="1">
                <a:latin typeface="+mj-lt"/>
              </a:rPr>
              <a:t>openjob</a:t>
            </a:r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/>
          </a:p>
          <a:p>
            <a:r>
              <a:rPr lang="it-IT" sz="2400" dirty="0" err="1"/>
              <a:t>Run</a:t>
            </a:r>
            <a:r>
              <a:rPr lang="it-IT" sz="2400" dirty="0"/>
              <a:t> </a:t>
            </a:r>
            <a:r>
              <a:rPr lang="it-IT" sz="2400" dirty="0" err="1">
                <a:latin typeface="+mj-lt"/>
              </a:rPr>
              <a:t>docker</a:t>
            </a:r>
            <a:r>
              <a:rPr lang="it-IT" sz="2400" dirty="0">
                <a:latin typeface="+mj-lt"/>
              </a:rPr>
              <a:t> container </a:t>
            </a:r>
            <a:r>
              <a:rPr lang="it-IT" sz="2400" dirty="0" err="1">
                <a:latin typeface="+mj-lt"/>
              </a:rPr>
              <a:t>ls</a:t>
            </a:r>
            <a:r>
              <a:rPr lang="it-IT" sz="2400" dirty="0"/>
              <a:t> to </a:t>
            </a:r>
            <a:r>
              <a:rPr lang="it-IT" sz="2400" dirty="0" err="1"/>
              <a:t>check</a:t>
            </a:r>
            <a:r>
              <a:rPr lang="it-IT" sz="2400" dirty="0"/>
              <a:t> the list of </a:t>
            </a:r>
            <a:r>
              <a:rPr lang="it-IT" sz="2400" dirty="0" err="1"/>
              <a:t>running</a:t>
            </a:r>
            <a:r>
              <a:rPr lang="it-IT" sz="2400" dirty="0"/>
              <a:t> containers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C6BD83F1-AAB8-F744-BEB5-69BE51E51883}"/>
              </a:ext>
            </a:extLst>
          </p:cNvPr>
          <p:cNvSpPr/>
          <p:nvPr/>
        </p:nvSpPr>
        <p:spPr>
          <a:xfrm>
            <a:off x="4863829" y="1222121"/>
            <a:ext cx="2558375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6A6E6296-6F3B-E34A-9F2A-6719C6A3EAE3}"/>
              </a:ext>
            </a:extLst>
          </p:cNvPr>
          <p:cNvSpPr/>
          <p:nvPr/>
        </p:nvSpPr>
        <p:spPr>
          <a:xfrm>
            <a:off x="7448142" y="1228606"/>
            <a:ext cx="1695859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F61E5E42-1AFE-0145-8A27-8FD727E33C96}"/>
              </a:ext>
            </a:extLst>
          </p:cNvPr>
          <p:cNvSpPr/>
          <p:nvPr/>
        </p:nvSpPr>
        <p:spPr>
          <a:xfrm>
            <a:off x="9487709" y="1228606"/>
            <a:ext cx="1086258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03DDAAE-C531-E848-9359-6320CACD2656}"/>
              </a:ext>
            </a:extLst>
          </p:cNvPr>
          <p:cNvSpPr txBox="1"/>
          <p:nvPr/>
        </p:nvSpPr>
        <p:spPr>
          <a:xfrm>
            <a:off x="2675107" y="1798167"/>
            <a:ext cx="3604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 of the container to be created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54364BD-5B87-834A-BE60-EBF39BBBEA8C}"/>
              </a:ext>
            </a:extLst>
          </p:cNvPr>
          <p:cNvSpPr txBox="1"/>
          <p:nvPr/>
        </p:nvSpPr>
        <p:spPr>
          <a:xfrm>
            <a:off x="3849183" y="2475793"/>
            <a:ext cx="4587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 mapping:</a:t>
            </a:r>
          </a:p>
          <a:p>
            <a:r>
              <a:rPr lang="en-US" dirty="0"/>
              <a:t>Host port 9090 mapped to container port 9092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A9FE45C-4FDA-AE4D-8A51-553515C5B6EE}"/>
              </a:ext>
            </a:extLst>
          </p:cNvPr>
          <p:cNvSpPr txBox="1"/>
          <p:nvPr/>
        </p:nvSpPr>
        <p:spPr>
          <a:xfrm>
            <a:off x="9803928" y="2106461"/>
            <a:ext cx="1979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 of the image</a:t>
            </a:r>
          </a:p>
        </p:txBody>
      </p:sp>
      <p:sp>
        <p:nvSpPr>
          <p:cNvPr id="10" name="Figura a mano libera 9">
            <a:extLst>
              <a:ext uri="{FF2B5EF4-FFF2-40B4-BE49-F238E27FC236}">
                <a16:creationId xmlns:a16="http://schemas.microsoft.com/office/drawing/2014/main" id="{9E8A18CE-E64A-5D4B-B58D-B24F001985E4}"/>
              </a:ext>
            </a:extLst>
          </p:cNvPr>
          <p:cNvSpPr/>
          <p:nvPr/>
        </p:nvSpPr>
        <p:spPr>
          <a:xfrm>
            <a:off x="5933872" y="1624519"/>
            <a:ext cx="155643" cy="282102"/>
          </a:xfrm>
          <a:custGeom>
            <a:avLst/>
            <a:gdLst>
              <a:gd name="connsiteX0" fmla="*/ 155643 w 155643"/>
              <a:gd name="connsiteY0" fmla="*/ 0 h 282102"/>
              <a:gd name="connsiteX1" fmla="*/ 116732 w 155643"/>
              <a:gd name="connsiteY1" fmla="*/ 126460 h 282102"/>
              <a:gd name="connsiteX2" fmla="*/ 0 w 155643"/>
              <a:gd name="connsiteY2" fmla="*/ 282102 h 282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643" h="282102">
                <a:moveTo>
                  <a:pt x="155643" y="0"/>
                </a:moveTo>
                <a:cubicBezTo>
                  <a:pt x="149157" y="39721"/>
                  <a:pt x="142672" y="79443"/>
                  <a:pt x="116732" y="126460"/>
                </a:cubicBezTo>
                <a:cubicBezTo>
                  <a:pt x="90791" y="173477"/>
                  <a:pt x="45395" y="227789"/>
                  <a:pt x="0" y="28210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18DA481C-5257-7842-805E-F12B0598A247}"/>
              </a:ext>
            </a:extLst>
          </p:cNvPr>
          <p:cNvSpPr/>
          <p:nvPr/>
        </p:nvSpPr>
        <p:spPr>
          <a:xfrm>
            <a:off x="5311302" y="1634247"/>
            <a:ext cx="2937753" cy="982493"/>
          </a:xfrm>
          <a:custGeom>
            <a:avLst/>
            <a:gdLst>
              <a:gd name="connsiteX0" fmla="*/ 1682885 w 1682885"/>
              <a:gd name="connsiteY0" fmla="*/ 0 h 933855"/>
              <a:gd name="connsiteX1" fmla="*/ 1274324 w 1682885"/>
              <a:gd name="connsiteY1" fmla="*/ 535021 h 933855"/>
              <a:gd name="connsiteX2" fmla="*/ 0 w 1682885"/>
              <a:gd name="connsiteY2" fmla="*/ 933855 h 933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2885" h="933855">
                <a:moveTo>
                  <a:pt x="1682885" y="0"/>
                </a:moveTo>
                <a:cubicBezTo>
                  <a:pt x="1618845" y="189689"/>
                  <a:pt x="1554805" y="379379"/>
                  <a:pt x="1274324" y="535021"/>
                </a:cubicBezTo>
                <a:cubicBezTo>
                  <a:pt x="993843" y="690664"/>
                  <a:pt x="496921" y="812259"/>
                  <a:pt x="0" y="933855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a a mano libera 11">
            <a:extLst>
              <a:ext uri="{FF2B5EF4-FFF2-40B4-BE49-F238E27FC236}">
                <a16:creationId xmlns:a16="http://schemas.microsoft.com/office/drawing/2014/main" id="{E4826CBD-68A6-D741-9BE6-0B0CFEC84922}"/>
              </a:ext>
            </a:extLst>
          </p:cNvPr>
          <p:cNvSpPr/>
          <p:nvPr/>
        </p:nvSpPr>
        <p:spPr>
          <a:xfrm>
            <a:off x="9990306" y="1634247"/>
            <a:ext cx="175098" cy="583659"/>
          </a:xfrm>
          <a:custGeom>
            <a:avLst/>
            <a:gdLst>
              <a:gd name="connsiteX0" fmla="*/ 0 w 175098"/>
              <a:gd name="connsiteY0" fmla="*/ 0 h 583659"/>
              <a:gd name="connsiteX1" fmla="*/ 58366 w 175098"/>
              <a:gd name="connsiteY1" fmla="*/ 301557 h 583659"/>
              <a:gd name="connsiteX2" fmla="*/ 175098 w 175098"/>
              <a:gd name="connsiteY2" fmla="*/ 583659 h 58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098" h="583659">
                <a:moveTo>
                  <a:pt x="0" y="0"/>
                </a:moveTo>
                <a:cubicBezTo>
                  <a:pt x="14591" y="102140"/>
                  <a:pt x="29183" y="204280"/>
                  <a:pt x="58366" y="301557"/>
                </a:cubicBezTo>
                <a:cubicBezTo>
                  <a:pt x="87549" y="398834"/>
                  <a:pt x="131323" y="491246"/>
                  <a:pt x="175098" y="583659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C721FA7A-C4D1-E245-8B71-EE2E1B66ED5B}"/>
              </a:ext>
            </a:extLst>
          </p:cNvPr>
          <p:cNvSpPr/>
          <p:nvPr/>
        </p:nvSpPr>
        <p:spPr>
          <a:xfrm>
            <a:off x="9297209" y="1541834"/>
            <a:ext cx="190499" cy="1191638"/>
          </a:xfrm>
          <a:custGeom>
            <a:avLst/>
            <a:gdLst>
              <a:gd name="connsiteX0" fmla="*/ 0 w 175098"/>
              <a:gd name="connsiteY0" fmla="*/ 0 h 583659"/>
              <a:gd name="connsiteX1" fmla="*/ 58366 w 175098"/>
              <a:gd name="connsiteY1" fmla="*/ 301557 h 583659"/>
              <a:gd name="connsiteX2" fmla="*/ 175098 w 175098"/>
              <a:gd name="connsiteY2" fmla="*/ 583659 h 58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098" h="583659">
                <a:moveTo>
                  <a:pt x="0" y="0"/>
                </a:moveTo>
                <a:cubicBezTo>
                  <a:pt x="14591" y="102140"/>
                  <a:pt x="29183" y="204280"/>
                  <a:pt x="58366" y="301557"/>
                </a:cubicBezTo>
                <a:cubicBezTo>
                  <a:pt x="87549" y="398834"/>
                  <a:pt x="131323" y="491246"/>
                  <a:pt x="175098" y="583659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FAEE5E7-9305-C749-BD7E-8C990FE8AA95}"/>
              </a:ext>
            </a:extLst>
          </p:cNvPr>
          <p:cNvSpPr txBox="1"/>
          <p:nvPr/>
        </p:nvSpPr>
        <p:spPr>
          <a:xfrm>
            <a:off x="9068013" y="2728393"/>
            <a:ext cx="2504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in dethatched mode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525D8C04-D3A8-F14B-A586-830F5042F2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71" b="3063"/>
          <a:stretch/>
        </p:blipFill>
        <p:spPr>
          <a:xfrm>
            <a:off x="831715" y="4854421"/>
            <a:ext cx="10515600" cy="3693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58234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36A20F-5DB1-FC4D-BA3A-816119071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Dockerize</a:t>
            </a:r>
            <a:r>
              <a:rPr lang="en-US" dirty="0"/>
              <a:t> the </a:t>
            </a:r>
            <a:r>
              <a:rPr lang="en-US" dirty="0" err="1"/>
              <a:t>Mysql</a:t>
            </a:r>
            <a:r>
              <a:rPr lang="en-US" dirty="0"/>
              <a:t> database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0ED885-E161-2945-B84F-78192FD0E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/>
              <a:t>Create a network to let containers communicate</a:t>
            </a:r>
          </a:p>
          <a:p>
            <a:pPr lvl="1"/>
            <a:r>
              <a:rPr lang="en-US" sz="1800" dirty="0">
                <a:latin typeface="+mj-lt"/>
              </a:rPr>
              <a:t>docker network create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lvl="2"/>
            <a:endParaRPr lang="en-US" sz="1400" dirty="0">
              <a:latin typeface="+mj-lt"/>
            </a:endParaRPr>
          </a:p>
          <a:p>
            <a:r>
              <a:rPr lang="en-US" sz="2000" dirty="0"/>
              <a:t>Pull the </a:t>
            </a:r>
            <a:r>
              <a:rPr lang="en-US" sz="2000" dirty="0" err="1"/>
              <a:t>mysql</a:t>
            </a:r>
            <a:r>
              <a:rPr lang="en-US" sz="2000" dirty="0"/>
              <a:t> Docker image</a:t>
            </a:r>
          </a:p>
          <a:p>
            <a:pPr lvl="1"/>
            <a:r>
              <a:rPr lang="en-US" sz="1800" dirty="0">
                <a:latin typeface="+mj-lt"/>
              </a:rPr>
              <a:t>docker pull </a:t>
            </a:r>
            <a:r>
              <a:rPr lang="en-US" sz="1800" dirty="0" err="1">
                <a:latin typeface="+mj-lt"/>
              </a:rPr>
              <a:t>mysql:latest</a:t>
            </a:r>
            <a:endParaRPr lang="en-US" sz="1800" dirty="0">
              <a:latin typeface="+mj-lt"/>
            </a:endParaRPr>
          </a:p>
          <a:p>
            <a:r>
              <a:rPr lang="en-US" sz="2000" dirty="0"/>
              <a:t>Run the container</a:t>
            </a:r>
          </a:p>
          <a:p>
            <a:pPr lvl="1"/>
            <a:r>
              <a:rPr lang="en-US" sz="1800" dirty="0">
                <a:latin typeface="+mj-lt"/>
              </a:rPr>
              <a:t>docker run -d --name </a:t>
            </a:r>
            <a:r>
              <a:rPr lang="en-US" sz="1800" dirty="0" err="1">
                <a:latin typeface="+mj-lt"/>
              </a:rPr>
              <a:t>openjob-mysql</a:t>
            </a:r>
            <a:r>
              <a:rPr lang="en-US" sz="1800" dirty="0">
                <a:latin typeface="+mj-lt"/>
              </a:rPr>
              <a:t> --network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-v </a:t>
            </a:r>
            <a:r>
              <a:rPr lang="en-US" sz="1800" dirty="0" err="1">
                <a:latin typeface="+mj-lt"/>
              </a:rPr>
              <a:t>mysql</a:t>
            </a:r>
            <a:r>
              <a:rPr lang="en-US" sz="1800" dirty="0">
                <a:latin typeface="+mj-lt"/>
              </a:rPr>
              <a:t>-data:/var/lib/</a:t>
            </a:r>
            <a:r>
              <a:rPr lang="en-US" sz="1800" dirty="0" err="1">
                <a:latin typeface="+mj-lt"/>
              </a:rPr>
              <a:t>mysql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-e MYSQL_ROOT_PASSWORD=root </a:t>
            </a:r>
            <a:r>
              <a:rPr lang="en-US" sz="1800" dirty="0" err="1">
                <a:latin typeface="+mj-lt"/>
              </a:rPr>
              <a:t>mysql:latest</a:t>
            </a:r>
            <a:endParaRPr lang="en-US" sz="1800" dirty="0">
              <a:latin typeface="+mj-lt"/>
            </a:endParaRP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	</a:t>
            </a:r>
          </a:p>
          <a:p>
            <a:r>
              <a:rPr lang="en-US" sz="2000" dirty="0"/>
              <a:t>Run a container with </a:t>
            </a:r>
            <a:r>
              <a:rPr lang="en-US" sz="2000" dirty="0" err="1"/>
              <a:t>Phpmyadmin</a:t>
            </a:r>
            <a:r>
              <a:rPr lang="en-US" sz="2000" dirty="0"/>
              <a:t> (not required, just to check)</a:t>
            </a:r>
          </a:p>
          <a:p>
            <a:pPr lvl="1"/>
            <a:r>
              <a:rPr lang="en-US" sz="1800" dirty="0">
                <a:latin typeface="+mj-lt"/>
              </a:rPr>
              <a:t>docker pull </a:t>
            </a:r>
            <a:r>
              <a:rPr lang="en-US" sz="1800" dirty="0" err="1">
                <a:latin typeface="+mj-lt"/>
              </a:rPr>
              <a:t>phpmyadmin:latest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>
                <a:latin typeface="+mj-lt"/>
              </a:rPr>
              <a:t>docker run --name </a:t>
            </a:r>
            <a:r>
              <a:rPr lang="en-US" sz="1800" dirty="0" err="1">
                <a:latin typeface="+mj-lt"/>
              </a:rPr>
              <a:t>openjob-phpmyadmin</a:t>
            </a:r>
            <a:r>
              <a:rPr lang="en-US" sz="1800" dirty="0">
                <a:latin typeface="+mj-lt"/>
              </a:rPr>
              <a:t> –d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--network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--link </a:t>
            </a:r>
            <a:r>
              <a:rPr lang="en-US" sz="1800" dirty="0" err="1">
                <a:latin typeface="+mj-lt"/>
              </a:rPr>
              <a:t>openjob-mysql:db</a:t>
            </a:r>
            <a:r>
              <a:rPr lang="en-US" sz="1800" dirty="0">
                <a:latin typeface="+mj-lt"/>
              </a:rPr>
              <a:t> -p 8081:80 </a:t>
            </a:r>
            <a:r>
              <a:rPr lang="en-US" sz="1800" dirty="0" err="1">
                <a:latin typeface="+mj-lt"/>
              </a:rPr>
              <a:t>phpmyadmin:latest</a:t>
            </a:r>
            <a:endParaRPr lang="en-US" sz="18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r>
              <a:rPr lang="en-US" sz="2000" dirty="0"/>
              <a:t>Check at </a:t>
            </a:r>
            <a:r>
              <a:rPr lang="en-US" sz="2000" dirty="0">
                <a:latin typeface="+mj-lt"/>
              </a:rPr>
              <a:t>http://localhost:8081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347F92B-4054-9940-B61E-2B2EC220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159" y="3286245"/>
            <a:ext cx="3035072" cy="33129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Figura a mano libera 6">
            <a:extLst>
              <a:ext uri="{FF2B5EF4-FFF2-40B4-BE49-F238E27FC236}">
                <a16:creationId xmlns:a16="http://schemas.microsoft.com/office/drawing/2014/main" id="{B252864C-8DEB-6143-B0BC-5895F08117E4}"/>
              </a:ext>
            </a:extLst>
          </p:cNvPr>
          <p:cNvSpPr/>
          <p:nvPr/>
        </p:nvSpPr>
        <p:spPr>
          <a:xfrm>
            <a:off x="4348264" y="5807413"/>
            <a:ext cx="3667327" cy="496110"/>
          </a:xfrm>
          <a:custGeom>
            <a:avLst/>
            <a:gdLst>
              <a:gd name="connsiteX0" fmla="*/ 0 w 3667327"/>
              <a:gd name="connsiteY0" fmla="*/ 418289 h 418289"/>
              <a:gd name="connsiteX1" fmla="*/ 1741251 w 3667327"/>
              <a:gd name="connsiteY1" fmla="*/ 330740 h 418289"/>
              <a:gd name="connsiteX2" fmla="*/ 3667327 w 3667327"/>
              <a:gd name="connsiteY2" fmla="*/ 0 h 41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7327" h="418289">
                <a:moveTo>
                  <a:pt x="0" y="418289"/>
                </a:moveTo>
                <a:cubicBezTo>
                  <a:pt x="565015" y="409372"/>
                  <a:pt x="1130030" y="400455"/>
                  <a:pt x="1741251" y="330740"/>
                </a:cubicBezTo>
                <a:cubicBezTo>
                  <a:pt x="2352472" y="261025"/>
                  <a:pt x="3009899" y="130512"/>
                  <a:pt x="3667327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498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2A248B-178B-6648-B1A7-76D7439F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</a:t>
            </a:r>
            <a:r>
              <a:rPr lang="en-US" dirty="0" err="1"/>
              <a:t>dockerizing</a:t>
            </a:r>
            <a:r>
              <a:rPr lang="en-US" dirty="0"/>
              <a:t> services…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E716AD-591A-4D49-A6E9-D0E36409A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168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Let's recall that</a:t>
            </a:r>
          </a:p>
          <a:p>
            <a:r>
              <a:rPr lang="en-US" sz="2000" dirty="0"/>
              <a:t>We are using a configuration server</a:t>
            </a:r>
          </a:p>
          <a:p>
            <a:pPr lvl="1"/>
            <a:r>
              <a:rPr lang="en-US" sz="1800" dirty="0"/>
              <a:t>With configuration files stored in a git repository…</a:t>
            </a:r>
          </a:p>
          <a:p>
            <a:pPr lvl="1"/>
            <a:r>
              <a:rPr lang="en-US" sz="1800" dirty="0"/>
              <a:t>Push files to a remote git repository (so it can be accessible from everywhere)</a:t>
            </a:r>
          </a:p>
          <a:p>
            <a:pPr lvl="1"/>
            <a:r>
              <a:rPr lang="en-US" sz="1800" dirty="0"/>
              <a:t>I created my own, e.g., https://</a:t>
            </a:r>
            <a:r>
              <a:rPr lang="en-US" sz="1800" dirty="0" err="1"/>
              <a:t>github.com</a:t>
            </a:r>
            <a:r>
              <a:rPr lang="en-US" sz="1800" dirty="0"/>
              <a:t>/</a:t>
            </a:r>
            <a:r>
              <a:rPr lang="en-US" sz="1800" dirty="0" err="1"/>
              <a:t>gianlucafilippone</a:t>
            </a:r>
            <a:r>
              <a:rPr lang="en-US" sz="1800" dirty="0"/>
              <a:t>/</a:t>
            </a:r>
            <a:r>
              <a:rPr lang="en-US" sz="1800" dirty="0" err="1"/>
              <a:t>openjob</a:t>
            </a:r>
            <a:r>
              <a:rPr lang="en-US" sz="1800" dirty="0"/>
              <a:t>-properties-repository</a:t>
            </a:r>
          </a:p>
          <a:p>
            <a:pPr lvl="1"/>
            <a:endParaRPr lang="en-US" sz="1800" dirty="0"/>
          </a:p>
          <a:p>
            <a:r>
              <a:rPr lang="en-US" sz="2000" dirty="0"/>
              <a:t>When put on containers, service addresses should not be hard-coded</a:t>
            </a:r>
          </a:p>
          <a:p>
            <a:pPr lvl="1"/>
            <a:r>
              <a:rPr lang="en-US" sz="1800" dirty="0"/>
              <a:t>We hard-coded the configuration server address</a:t>
            </a:r>
          </a:p>
          <a:p>
            <a:pPr lvl="1"/>
            <a:r>
              <a:rPr lang="en-US" sz="1800" dirty="0"/>
              <a:t>…the Eureka server</a:t>
            </a:r>
          </a:p>
          <a:p>
            <a:pPr lvl="1"/>
            <a:r>
              <a:rPr lang="en-US" sz="1800" dirty="0"/>
              <a:t>…the database address and parameters</a:t>
            </a:r>
          </a:p>
          <a:p>
            <a:pPr lvl="1"/>
            <a:endParaRPr lang="en-US" sz="1800" dirty="0"/>
          </a:p>
          <a:p>
            <a:r>
              <a:rPr lang="en-US" sz="2000" dirty="0"/>
              <a:t>Update properties files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327B8B5-9AFF-B54D-859D-BA3A218E6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337" y="3806595"/>
            <a:ext cx="3596161" cy="10936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D44B086-672B-314D-8B0C-80011F5B4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29" y="5101283"/>
            <a:ext cx="6637371" cy="5237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66A4BF8-691F-3440-99CA-7E7DD57B7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566" y="5826045"/>
            <a:ext cx="5607726" cy="8269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66425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8FD48-9BDD-C9C0-3628-CA7F7735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Regarding remote repository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AA771-A3B8-5D07-7952-77D5C5F7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In the development approach, we can also use local repos to update services properties.</a:t>
            </a:r>
            <a:endParaRPr lang="en-US"/>
          </a:p>
          <a:p>
            <a:r>
              <a:rPr lang="en-US" dirty="0">
                <a:ea typeface="Calibri"/>
                <a:cs typeface="Calibri"/>
              </a:rPr>
              <a:t>It's more </a:t>
            </a:r>
            <a:r>
              <a:rPr lang="en-US">
                <a:ea typeface="Calibri"/>
                <a:cs typeface="Calibri"/>
              </a:rPr>
              <a:t>convenient, because the ".yaml" and ".properties" files in the folder differ from step to step</a:t>
            </a:r>
          </a:p>
          <a:p>
            <a:r>
              <a:rPr lang="en-US">
                <a:ea typeface="Calibri"/>
                <a:cs typeface="Calibri"/>
              </a:rPr>
              <a:t>To effectively use the remote repo, it's possible to setup different branches to have different configuration repos to use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22310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8812A0-C359-B54B-BBB0-C7C6FBDA9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Images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E35C77-C5C1-4F49-95DA-F4F14F63A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400" dirty="0"/>
              <a:t>Create a </a:t>
            </a:r>
            <a:r>
              <a:rPr lang="en-US" sz="2400" err="1"/>
              <a:t>Dockerfile</a:t>
            </a:r>
            <a:r>
              <a:rPr lang="en-US" sz="2400" dirty="0"/>
              <a:t> for each maven project (using the right Java version, i.e. 25 </a:t>
            </a:r>
            <a:r>
              <a:rPr lang="en-US" sz="2400"/>
              <a:t>"…temurin-25...")</a:t>
            </a:r>
          </a:p>
          <a:p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Run the command </a:t>
            </a:r>
            <a:r>
              <a:rPr lang="en-US" sz="2400" dirty="0">
                <a:latin typeface="+mj-lt"/>
              </a:rPr>
              <a:t>docker build -t </a:t>
            </a:r>
            <a:r>
              <a:rPr lang="en-US" sz="2400" i="1" dirty="0">
                <a:latin typeface="+mj-lt"/>
              </a:rPr>
              <a:t>&lt;IMAGE-NAME&gt;</a:t>
            </a:r>
            <a:r>
              <a:rPr lang="en-US" sz="2400" dirty="0">
                <a:latin typeface="+mj-lt"/>
              </a:rPr>
              <a:t> .</a:t>
            </a:r>
            <a:r>
              <a:rPr lang="en-US" sz="2400" dirty="0"/>
              <a:t> for each project</a:t>
            </a:r>
          </a:p>
          <a:p>
            <a:pPr lvl="1"/>
            <a:r>
              <a:rPr lang="en-US" sz="2000" dirty="0"/>
              <a:t>Check the images by running </a:t>
            </a:r>
            <a:r>
              <a:rPr lang="en-US" sz="2000" dirty="0">
                <a:latin typeface="+mj-lt"/>
              </a:rPr>
              <a:t>docker image list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77C1C2-B310-3C4C-A806-E830DFEDB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15" y="1951476"/>
            <a:ext cx="3617068" cy="11792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F3AAA09-7921-2548-9335-685EEB8E6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081" y="2463665"/>
            <a:ext cx="3617068" cy="11221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970B2F3-E92E-694B-8176-0E179CDB1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013" y="3025033"/>
            <a:ext cx="3461831" cy="11215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DC1C7C1-282C-6245-B3B5-A3FB25D61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328" y="3824209"/>
            <a:ext cx="3461831" cy="11283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8CF18408-4667-A549-BFDF-BCD6C40036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456" y="4424974"/>
            <a:ext cx="3538436" cy="11258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74832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7F03AB-35FA-6F4A-A193-6B500A20A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containers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74DC3C-41A5-6E46-A707-DEE42904F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32459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/>
              <a:t>Containers can be created and started with </a:t>
            </a:r>
            <a:r>
              <a:rPr lang="en-US" sz="2400" dirty="0">
                <a:latin typeface="+mj-lt"/>
              </a:rPr>
              <a:t>docker run </a:t>
            </a:r>
            <a:r>
              <a:rPr lang="en-US" sz="2400" i="1" dirty="0">
                <a:latin typeface="+mj-lt"/>
              </a:rPr>
              <a:t>&lt;IMAGE-NAME&gt;</a:t>
            </a:r>
          </a:p>
          <a:p>
            <a:pPr lvl="1"/>
            <a:r>
              <a:rPr lang="en-US" sz="2000" dirty="0"/>
              <a:t>We must specify the environment variables to instantiate configuration parameters</a:t>
            </a:r>
          </a:p>
          <a:p>
            <a:endParaRPr lang="en-US" sz="2400" dirty="0"/>
          </a:p>
          <a:p>
            <a:r>
              <a:rPr lang="en-US" sz="2400" dirty="0"/>
              <a:t>Since running on the same network, containers can communicate through their name (instead of, e.g., localhost).</a:t>
            </a:r>
          </a:p>
          <a:p>
            <a:pPr lvl="1"/>
            <a:r>
              <a:rPr lang="en-US" sz="2000" dirty="0"/>
              <a:t>Each container has its own IP address</a:t>
            </a:r>
          </a:p>
          <a:p>
            <a:pPr lvl="1"/>
            <a:endParaRPr lang="en-US" sz="2000" dirty="0"/>
          </a:p>
          <a:p>
            <a:r>
              <a:rPr lang="en-US" sz="2400" dirty="0"/>
              <a:t>Example</a:t>
            </a:r>
          </a:p>
          <a:p>
            <a:pPr lvl="1"/>
            <a:r>
              <a:rPr lang="en-US" sz="2000" dirty="0">
                <a:latin typeface="+mj-lt"/>
              </a:rPr>
              <a:t>docker run --name user-microservice --network </a:t>
            </a:r>
            <a:r>
              <a:rPr lang="en-US" sz="2000" dirty="0" err="1">
                <a:latin typeface="+mj-lt"/>
              </a:rPr>
              <a:t>openjob</a:t>
            </a:r>
            <a:r>
              <a:rPr lang="en-US" sz="2000" dirty="0">
                <a:latin typeface="+mj-lt"/>
              </a:rPr>
              <a:t>-network -</a:t>
            </a:r>
            <a:r>
              <a:rPr lang="en-US" sz="2000" dirty="0" err="1">
                <a:latin typeface="+mj-lt"/>
              </a:rPr>
              <a:t>dp</a:t>
            </a:r>
            <a:r>
              <a:rPr lang="en-US" sz="2000" dirty="0">
                <a:latin typeface="+mj-lt"/>
              </a:rPr>
              <a:t> 9044:9044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CONFIG_SERVER_HOST=config-server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CONFIG_SERVER_PORT=8888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EUREKA_SERVER=http://discovery-server:8761/eureka/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MYSQL_HOST=openjob-mysql:3306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MYSQL_DB=</a:t>
            </a:r>
            <a:r>
              <a:rPr lang="en-US" sz="2000" dirty="0" err="1">
                <a:latin typeface="+mj-lt"/>
              </a:rPr>
              <a:t>user_db</a:t>
            </a:r>
            <a:r>
              <a:rPr lang="en-US" sz="2000" dirty="0">
                <a:latin typeface="+mj-lt"/>
              </a:rPr>
              <a:t> </a:t>
            </a:r>
            <a:endParaRPr lang="en-US" sz="2000" dirty="0">
              <a:latin typeface="+mj-lt"/>
              <a:ea typeface="Calibri Light"/>
              <a:cs typeface="Calibri Light"/>
            </a:endParaRP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MYSQL_USER=root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MYSQL_PASSWORD=root user-microservice</a:t>
            </a:r>
          </a:p>
        </p:txBody>
      </p:sp>
    </p:spTree>
    <p:extLst>
      <p:ext uri="{BB962C8B-B14F-4D97-AF65-F5344CB8AC3E}">
        <p14:creationId xmlns:p14="http://schemas.microsoft.com/office/powerpoint/2010/main" val="27754526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DD27DE-9B21-7542-B675-7BE27E68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665D62-9A05-A049-8307-70A38A7A4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When applications are made as a composition of many services, we can leverage docker compose instead of manually create images and run containers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334EDA6-851D-1A4F-8480-AF19CBE90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381" y="2039474"/>
            <a:ext cx="3074451" cy="40672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740953A-4903-194B-9868-DD15B07F4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1" y="2421886"/>
            <a:ext cx="3725693" cy="40523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9136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6F83B6-AD28-164C-B1BC-8F22AC2B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docker compose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DC7674-CA14-7E4F-96D6-766224861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3537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Run the command </a:t>
            </a:r>
            <a:r>
              <a:rPr lang="en-US" sz="2400" dirty="0">
                <a:latin typeface="+mj-lt"/>
              </a:rPr>
              <a:t>docker compose -p </a:t>
            </a:r>
            <a:r>
              <a:rPr lang="en-US" sz="2400" dirty="0" err="1">
                <a:latin typeface="+mj-lt"/>
              </a:rPr>
              <a:t>openjob</a:t>
            </a:r>
            <a:r>
              <a:rPr lang="en-US" sz="2400" dirty="0">
                <a:latin typeface="+mj-lt"/>
              </a:rPr>
              <a:t> up -d</a:t>
            </a:r>
          </a:p>
          <a:p>
            <a:pPr lvl="1"/>
            <a:r>
              <a:rPr lang="en-US" sz="2000" dirty="0"/>
              <a:t>Containers will be created and started</a:t>
            </a:r>
          </a:p>
          <a:p>
            <a:pPr lvl="1"/>
            <a:endParaRPr lang="en-US" sz="2000" dirty="0"/>
          </a:p>
          <a:p>
            <a:r>
              <a:rPr lang="en-US" sz="2400" dirty="0"/>
              <a:t>Make your application resilient!</a:t>
            </a:r>
          </a:p>
          <a:p>
            <a:pPr lvl="1"/>
            <a:r>
              <a:rPr lang="en-US" sz="2000" dirty="0"/>
              <a:t>Dependencies ensure that containers are started in sequence</a:t>
            </a:r>
          </a:p>
          <a:p>
            <a:pPr lvl="1"/>
            <a:r>
              <a:rPr lang="en-US" sz="2000" dirty="0"/>
              <a:t>Does not ensure that services are ready</a:t>
            </a:r>
          </a:p>
          <a:p>
            <a:pPr lvl="1"/>
            <a:r>
              <a:rPr lang="en-US" sz="2000" dirty="0"/>
              <a:t>Use Spring Retry to get configuration and avoid failures</a:t>
            </a:r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spring-retry</a:t>
            </a:r>
            <a:r>
              <a:rPr lang="en-US" sz="2000" dirty="0"/>
              <a:t> and </a:t>
            </a:r>
            <a:r>
              <a:rPr lang="en-US" sz="2000" dirty="0">
                <a:latin typeface="+mj-lt"/>
              </a:rPr>
              <a:t>spring-boot-starter-</a:t>
            </a:r>
            <a:r>
              <a:rPr lang="en-US" sz="2000" dirty="0" err="1">
                <a:latin typeface="+mj-lt"/>
              </a:rPr>
              <a:t>aop</a:t>
            </a:r>
            <a:r>
              <a:rPr lang="en-US" sz="2000" dirty="0"/>
              <a:t> dependencies</a:t>
            </a:r>
          </a:p>
          <a:p>
            <a:pPr lvl="1"/>
            <a:endParaRPr lang="en-US" sz="2000" dirty="0"/>
          </a:p>
          <a:p>
            <a:r>
              <a:rPr lang="en-US" sz="2400" dirty="0"/>
              <a:t>Scale services dynamically</a:t>
            </a:r>
          </a:p>
          <a:p>
            <a:pPr lvl="1"/>
            <a:r>
              <a:rPr lang="en-US" sz="2000" dirty="0"/>
              <a:t>Use </a:t>
            </a:r>
            <a:r>
              <a:rPr lang="en-US" sz="2000">
                <a:latin typeface="+mj-lt"/>
              </a:rPr>
              <a:t>docker compose up --scale &lt;SERVICE-NAME&gt;=&lt;NUMBER&gt; -d</a:t>
            </a:r>
            <a:endParaRPr lang="en-US" sz="2000">
              <a:latin typeface="+mj-lt"/>
              <a:ea typeface="Calibri Light"/>
              <a:cs typeface="Calibri Light"/>
            </a:endParaRPr>
          </a:p>
          <a:p>
            <a:pPr lvl="1"/>
            <a:r>
              <a:rPr lang="en-US" sz="2000" dirty="0"/>
              <a:t>Update the docker-</a:t>
            </a:r>
            <a:r>
              <a:rPr lang="en-US" sz="2000" dirty="0" err="1"/>
              <a:t>compose.yml</a:t>
            </a:r>
            <a:r>
              <a:rPr lang="en-US" sz="2000" dirty="0"/>
              <a:t> file to make the port selection dynamic</a:t>
            </a:r>
          </a:p>
          <a:p>
            <a:pPr lvl="2"/>
            <a:r>
              <a:rPr lang="en-US" sz="1600" dirty="0"/>
              <a:t>Use "expose" to randomly map host ports to the exposed container port</a:t>
            </a:r>
          </a:p>
          <a:p>
            <a:pPr lvl="2"/>
            <a:r>
              <a:rPr lang="en-US" sz="1600" dirty="0"/>
              <a:t>Select a range of host ports to be mapped to the exposed container port (</a:t>
            </a:r>
            <a:r>
              <a:rPr lang="en-US" sz="1600"/>
              <a:t>e.g., "9044-9049:9044")</a:t>
            </a:r>
            <a:endParaRPr lang="en-US" sz="16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120631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30660"/>
            <a:ext cx="11353800" cy="778117"/>
          </a:xfrm>
        </p:spPr>
        <p:txBody>
          <a:bodyPr>
            <a:normAutofit fontScale="90000"/>
          </a:bodyPr>
          <a:lstStyle/>
          <a:p>
            <a:r>
              <a:rPr dirty="0"/>
              <a:t>Beyond Basic </a:t>
            </a:r>
            <a:r>
              <a:rPr dirty="0" err="1"/>
              <a:t>Dockerization</a:t>
            </a:r>
            <a:r>
              <a:rPr dirty="0"/>
              <a:t> - Full-Stack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1800" dirty="0"/>
              <a:t>Until </a:t>
            </a:r>
            <a:r>
              <a:rPr lang="it-IT" sz="1800" dirty="0"/>
              <a:t>last slide</a:t>
            </a:r>
            <a:r>
              <a:rPr sz="1800" dirty="0"/>
              <a:t>: The system ran core backend microservices via Docker Compose.</a:t>
            </a:r>
          </a:p>
          <a:p>
            <a:pPr>
              <a:defRPr sz="1800"/>
            </a:pPr>
            <a:r>
              <a:rPr sz="1800" b="1" dirty="0"/>
              <a:t>New Architectural Challenges &amp; Evolutionary Steps:</a:t>
            </a:r>
          </a:p>
          <a:p>
            <a:pPr>
              <a:defRPr sz="1600"/>
            </a:pPr>
            <a:r>
              <a:rPr sz="1800" dirty="0"/>
              <a:t>User Experience &amp; Interactivity: </a:t>
            </a:r>
            <a:r>
              <a:rPr lang="it-IT" sz="1800" dirty="0" err="1"/>
              <a:t>Added</a:t>
            </a:r>
            <a:r>
              <a:rPr lang="it-IT" sz="1800" dirty="0"/>
              <a:t> </a:t>
            </a:r>
            <a:r>
              <a:rPr sz="1800" dirty="0"/>
              <a:t>a reactive Single-Page Application (SPA)</a:t>
            </a:r>
            <a:r>
              <a:rPr lang="it-IT" sz="1800" dirty="0"/>
              <a:t> </a:t>
            </a:r>
            <a:r>
              <a:rPr lang="it-IT" sz="1800" dirty="0" err="1"/>
              <a:t>as</a:t>
            </a:r>
            <a:r>
              <a:rPr lang="it-IT" sz="1800" dirty="0"/>
              <a:t> a </a:t>
            </a:r>
            <a:r>
              <a:rPr lang="it-IT" sz="1800" dirty="0" err="1"/>
              <a:t>frontend</a:t>
            </a:r>
            <a:r>
              <a:rPr sz="1800" dirty="0"/>
              <a:t>.</a:t>
            </a:r>
          </a:p>
          <a:p>
            <a:pPr>
              <a:defRPr sz="1600"/>
            </a:pPr>
            <a:r>
              <a:rPr sz="1800" dirty="0"/>
              <a:t>Domain Business Intelligence: Clear separation between Business/Domain metrics and Infrastructure metrics.</a:t>
            </a:r>
          </a:p>
          <a:p>
            <a:pPr>
              <a:defRPr sz="1600"/>
            </a:pPr>
            <a:r>
              <a:rPr sz="1800" dirty="0"/>
              <a:t>Data Integrity &amp; Persistence: Upgrade MySQL schema from VARCHAR(255) to TEXT (4096 chars) for rich job descriptions.</a:t>
            </a:r>
          </a:p>
          <a:p>
            <a:pPr>
              <a:defRPr sz="1600"/>
            </a:pPr>
            <a:r>
              <a:rPr sz="1800" dirty="0"/>
              <a:t>Automated Load Testing: Introduce Python Locust to simulate realistic multi-user concurrent traffic.</a:t>
            </a:r>
          </a:p>
          <a:p>
            <a:pPr>
              <a:defRPr sz="1600"/>
            </a:pPr>
            <a:r>
              <a:rPr sz="1800" dirty="0"/>
              <a:t>Enterprise Full-Stack Telemetry: Real-time Prometheus TSDB scraping &amp; Grafana dashboards (JVM, </a:t>
            </a:r>
            <a:r>
              <a:rPr sz="1800" dirty="0" err="1"/>
              <a:t>HikariCP</a:t>
            </a:r>
            <a:r>
              <a:rPr sz="1800" dirty="0"/>
              <a:t>, Gateway HTTP).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755" y="163715"/>
            <a:ext cx="11057556" cy="778117"/>
          </a:xfrm>
        </p:spPr>
        <p:txBody>
          <a:bodyPr>
            <a:noAutofit/>
          </a:bodyPr>
          <a:lstStyle/>
          <a:p>
            <a:r>
              <a:rPr sz="3000" dirty="0"/>
              <a:t>Modern SPA Frontend Re-Architecture (React + Vite +</a:t>
            </a:r>
            <a:r>
              <a:rPr lang="it-IT" sz="3000" dirty="0"/>
              <a:t> </a:t>
            </a:r>
            <a:r>
              <a:rPr sz="3000" dirty="0"/>
              <a:t>Tailwind)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State-of-the-Art Frontend Tech Stack:</a:t>
            </a:r>
          </a:p>
          <a:p>
            <a:pPr lvl="1">
              <a:defRPr sz="1500"/>
            </a:pPr>
            <a:r>
              <a:rPr dirty="0"/>
              <a:t>Core Logic: React 18 with strict TypeScript typing across all entities (User, Job, </a:t>
            </a:r>
            <a:r>
              <a:rPr dirty="0" err="1"/>
              <a:t>ApplicationRow</a:t>
            </a:r>
            <a:r>
              <a:rPr dirty="0"/>
              <a:t>).</a:t>
            </a:r>
          </a:p>
          <a:p>
            <a:pPr lvl="1">
              <a:defRPr sz="1500"/>
            </a:pPr>
            <a:r>
              <a:rPr dirty="0"/>
              <a:t>Build Engine: Vite with ultra-fast Hot Module Replacement (HMR) and optimized static production builds.</a:t>
            </a:r>
          </a:p>
          <a:p>
            <a:pPr lvl="1">
              <a:defRPr sz="1500"/>
            </a:pPr>
            <a:r>
              <a:rPr dirty="0"/>
              <a:t>Design System: Tailwind CSS + Radix UI Primitives + </a:t>
            </a:r>
            <a:r>
              <a:rPr dirty="0" err="1"/>
              <a:t>Lucide</a:t>
            </a:r>
            <a:r>
              <a:rPr dirty="0"/>
              <a:t> Icons for premium enterprise-grade aesthetics.</a:t>
            </a:r>
          </a:p>
          <a:p>
            <a:pPr>
              <a:defRPr sz="1800"/>
            </a:pPr>
            <a:r>
              <a:rPr dirty="0"/>
              <a:t>Decoupled &amp; Secure API Gateway Integration:</a:t>
            </a:r>
          </a:p>
          <a:p>
            <a:pPr>
              <a:defRPr sz="1600"/>
            </a:pPr>
            <a:r>
              <a:rPr dirty="0"/>
              <a:t>All client-side API requests are cleanly routed via Spring Cloud Gateway (:9000/</a:t>
            </a:r>
            <a:r>
              <a:rPr dirty="0" err="1"/>
              <a:t>api</a:t>
            </a:r>
            <a:r>
              <a:rPr dirty="0"/>
              <a:t>/*).</a:t>
            </a:r>
          </a:p>
          <a:p>
            <a:pPr>
              <a:defRPr sz="1600"/>
            </a:pPr>
            <a:r>
              <a:rPr dirty="0"/>
              <a:t>Gateway handles downstream load balancing to User (:9044+) and Job (:9055) microservice instances.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A4F8696-5FCB-9FD6-A525-551FCB926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5" y="3925075"/>
            <a:ext cx="10756490" cy="178244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/>
              <a:t>Domain Business Intelligence Dashboard (/</a:t>
            </a:r>
            <a:r>
              <a:rPr sz="3000" dirty="0" err="1"/>
              <a:t>statistiche</a:t>
            </a:r>
            <a:r>
              <a:rPr sz="3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1800" b="1" dirty="0"/>
              <a:t>Separation of Concerns: Domain vs. Infrastructure Metrics</a:t>
            </a:r>
          </a:p>
          <a:p>
            <a:pPr>
              <a:defRPr sz="1600"/>
            </a:pPr>
            <a:r>
              <a:rPr sz="1800" dirty="0"/>
              <a:t>Grafana is dedicated exclusively to Infrastructure &amp; System Health (CPU, Memory, Network Latency).</a:t>
            </a:r>
          </a:p>
          <a:p>
            <a:pPr>
              <a:defRPr sz="1600"/>
            </a:pPr>
            <a:r>
              <a:rPr sz="1800" dirty="0"/>
              <a:t>Frontend React (/</a:t>
            </a:r>
            <a:r>
              <a:rPr sz="1800" dirty="0" err="1"/>
              <a:t>statistiche</a:t>
            </a:r>
            <a:r>
              <a:rPr sz="1800" dirty="0"/>
              <a:t>) hosts the dedicated Domain Business Intelligence dashboard for Admins and Recruiters.</a:t>
            </a:r>
          </a:p>
          <a:p>
            <a:pPr>
              <a:defRPr sz="1800"/>
            </a:pPr>
            <a:r>
              <a:rPr sz="1800" b="1" dirty="0"/>
              <a:t>Key Performance Indicators (KPIs) &amp; Live Domain Metrics:</a:t>
            </a:r>
          </a:p>
          <a:p>
            <a:pPr>
              <a:defRPr sz="1800"/>
            </a:pPr>
            <a:r>
              <a:rPr sz="1800" dirty="0"/>
              <a:t>Total Registered Users &amp; Active User ratios.</a:t>
            </a:r>
          </a:p>
          <a:p>
            <a:pPr>
              <a:defRPr sz="1600"/>
            </a:pPr>
            <a:r>
              <a:rPr sz="1800" dirty="0"/>
              <a:t>Published Job Offers &amp; Total Candidatures submitted in the last 24 hours.</a:t>
            </a:r>
          </a:p>
          <a:p>
            <a:pPr>
              <a:defRPr sz="1600"/>
            </a:pPr>
            <a:r>
              <a:rPr sz="1800" dirty="0"/>
              <a:t>Candidate-to-Job conversion rates and Recruiter Leaderboards (Top recruiters ranked by active offers).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000" dirty="0"/>
              <a:t>Dynamic UX - Drawers, Multi-Criteria Sorting &amp; Live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1800" b="1" dirty="0"/>
              <a:t>Non-Destructive Inspection via Drawers (Sheet/Drawer UX):</a:t>
            </a:r>
          </a:p>
          <a:p>
            <a:pPr>
              <a:defRPr sz="1600"/>
            </a:pPr>
            <a:r>
              <a:rPr sz="1800" dirty="0"/>
              <a:t>Sliding side panels (</a:t>
            </a:r>
            <a:r>
              <a:rPr sz="1800" dirty="0" err="1"/>
              <a:t>JobDetailDrawer</a:t>
            </a:r>
            <a:r>
              <a:rPr sz="1800" dirty="0"/>
              <a:t>, </a:t>
            </a:r>
            <a:r>
              <a:rPr sz="1800" dirty="0" err="1"/>
              <a:t>UserDetailDrawer</a:t>
            </a:r>
            <a:r>
              <a:rPr sz="1800" dirty="0"/>
              <a:t>) allow deep inspection of candidates without navigating away.</a:t>
            </a:r>
          </a:p>
          <a:p>
            <a:pPr>
              <a:defRPr sz="1800"/>
            </a:pPr>
            <a:r>
              <a:rPr sz="1800" b="1" dirty="0"/>
              <a:t>Upgrading All Frontend Lists &amp; Tables (</a:t>
            </a:r>
            <a:r>
              <a:rPr sz="1800" b="1" dirty="0" err="1"/>
              <a:t>DataTable</a:t>
            </a:r>
            <a:r>
              <a:rPr sz="1800" b="1" dirty="0"/>
              <a:t>):</a:t>
            </a:r>
          </a:p>
          <a:p>
            <a:pPr>
              <a:defRPr sz="1600"/>
            </a:pPr>
            <a:r>
              <a:rPr sz="1800" dirty="0"/>
              <a:t>Universal Multi-Criteria Sorting: Client-side </a:t>
            </a:r>
            <a:r>
              <a:rPr sz="1800" dirty="0" err="1"/>
              <a:t>useMemo</a:t>
            </a:r>
            <a:r>
              <a:rPr sz="1800" dirty="0"/>
              <a:t> sorting implemented across all tables.</a:t>
            </a:r>
          </a:p>
          <a:p>
            <a:pPr>
              <a:defRPr sz="1600"/>
            </a:pPr>
            <a:r>
              <a:rPr sz="1800" dirty="0"/>
              <a:t>Sort by: Chronological order (Newest/Oldest), Candidate Name (A-Z/Z-A), Job ID, and User ID (</a:t>
            </a:r>
            <a:r>
              <a:rPr sz="1800" dirty="0" err="1"/>
              <a:t>Asc</a:t>
            </a:r>
            <a:r>
              <a:rPr sz="1800" dirty="0"/>
              <a:t>/Desc).</a:t>
            </a:r>
          </a:p>
          <a:p>
            <a:pPr>
              <a:defRPr sz="1600"/>
            </a:pPr>
            <a:r>
              <a:rPr sz="1800" dirty="0"/>
              <a:t>Instant Textual Search Bars: Filter live lists by candidate name, username, email, ID, or job title.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Frontend Containerization &amp; Nginx Reverse 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Multi-Stage Docker Build Optimization (frontend/</a:t>
            </a:r>
            <a:r>
              <a:rPr dirty="0" err="1"/>
              <a:t>Dockerfile</a:t>
            </a:r>
            <a:r>
              <a:rPr dirty="0"/>
              <a:t>):</a:t>
            </a:r>
          </a:p>
          <a:p>
            <a:pPr lvl="1">
              <a:defRPr sz="1500"/>
            </a:pPr>
            <a:r>
              <a:rPr dirty="0"/>
              <a:t>Stage 1 (Build): node:22-alpine installs dependencies (</a:t>
            </a:r>
            <a:r>
              <a:rPr dirty="0" err="1"/>
              <a:t>npm</a:t>
            </a:r>
            <a:r>
              <a:rPr dirty="0"/>
              <a:t> ci) and compiles the production static bundle.</a:t>
            </a:r>
          </a:p>
          <a:p>
            <a:pPr lvl="1">
              <a:defRPr sz="1500"/>
            </a:pPr>
            <a:r>
              <a:rPr dirty="0"/>
              <a:t>Stage 2 (Runtime): Ultra-lightweight nginx:1.27-alpine (~25MB) serves the static assets from /</a:t>
            </a:r>
            <a:r>
              <a:rPr dirty="0" err="1"/>
              <a:t>usr</a:t>
            </a:r>
            <a:r>
              <a:rPr dirty="0"/>
              <a:t>/share/nginx/html.</a:t>
            </a:r>
          </a:p>
          <a:p>
            <a:pPr>
              <a:defRPr sz="1800"/>
            </a:pPr>
            <a:r>
              <a:rPr dirty="0"/>
              <a:t>Enterprise Nginx Configuration (</a:t>
            </a:r>
            <a:r>
              <a:rPr dirty="0" err="1"/>
              <a:t>nginx.conf</a:t>
            </a:r>
            <a:r>
              <a:rPr dirty="0"/>
              <a:t>):</a:t>
            </a:r>
          </a:p>
          <a:p>
            <a:pPr lvl="1">
              <a:defRPr sz="1500"/>
            </a:pPr>
            <a:r>
              <a:rPr dirty="0"/>
              <a:t>SPA History API Fallback: Configured </a:t>
            </a:r>
            <a:r>
              <a:rPr dirty="0" err="1"/>
              <a:t>try_files</a:t>
            </a:r>
            <a:r>
              <a:rPr dirty="0"/>
              <a:t> $</a:t>
            </a:r>
            <a:r>
              <a:rPr dirty="0" err="1"/>
              <a:t>uri</a:t>
            </a:r>
            <a:r>
              <a:rPr dirty="0"/>
              <a:t> $</a:t>
            </a:r>
            <a:r>
              <a:rPr dirty="0" err="1"/>
              <a:t>uri</a:t>
            </a:r>
            <a:r>
              <a:rPr dirty="0"/>
              <a:t>/ /index.html; to prevent 404 errors on deep links.</a:t>
            </a:r>
          </a:p>
          <a:p>
            <a:pPr lvl="1">
              <a:defRPr sz="1500"/>
            </a:pPr>
            <a:r>
              <a:rPr dirty="0"/>
              <a:t>Internal Docker DNS Resolution: Seamless proxying of /</a:t>
            </a:r>
            <a:r>
              <a:rPr dirty="0" err="1"/>
              <a:t>api</a:t>
            </a:r>
            <a:r>
              <a:rPr dirty="0"/>
              <a:t>/* calls to http://gateway:9000/.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Database Evolution - JPA Rich Text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1800" b="1" dirty="0"/>
              <a:t>Overcoming Data Truncation Limitations (</a:t>
            </a:r>
            <a:r>
              <a:rPr sz="1800" b="1" dirty="0" err="1"/>
              <a:t>DataIntegrityViolationException</a:t>
            </a:r>
            <a:r>
              <a:rPr sz="1800" b="1" dirty="0"/>
              <a:t>):</a:t>
            </a:r>
          </a:p>
          <a:p>
            <a:pPr>
              <a:defRPr sz="1600"/>
            </a:pPr>
            <a:r>
              <a:rPr sz="1800" dirty="0"/>
              <a:t>Originally, </a:t>
            </a:r>
            <a:r>
              <a:rPr sz="1800" dirty="0" err="1"/>
              <a:t>Job.description</a:t>
            </a:r>
            <a:r>
              <a:rPr sz="1800" dirty="0"/>
              <a:t> was mapped to default VARCHAR(255), causing crashes on realistic, multi-paragraph postings.</a:t>
            </a:r>
          </a:p>
          <a:p>
            <a:pPr>
              <a:defRPr sz="1800"/>
            </a:pPr>
            <a:r>
              <a:rPr sz="1800" b="1" dirty="0"/>
              <a:t>JPA &amp; Spring Boot Architectural Upgrade:</a:t>
            </a:r>
          </a:p>
          <a:p>
            <a:pPr>
              <a:defRPr sz="1600"/>
            </a:pPr>
            <a:r>
              <a:rPr sz="1800" dirty="0"/>
              <a:t>Updated Job.java entity mapping: </a:t>
            </a:r>
            <a:r>
              <a:rPr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@Column(columnDefinition = "TEXT", length = 4096) private String description;</a:t>
            </a:r>
          </a:p>
          <a:p>
            <a:pPr>
              <a:defRPr sz="1600"/>
            </a:pPr>
            <a:r>
              <a:rPr sz="1800" dirty="0"/>
              <a:t>Automated Schema Evolution: Succeeded seamlessly via </a:t>
            </a:r>
            <a:r>
              <a:rPr sz="1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spring.jpa.hibernate.ddl</a:t>
            </a:r>
            <a:r>
              <a:rPr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-auto=update </a:t>
            </a:r>
            <a:r>
              <a:rPr sz="1800" dirty="0"/>
              <a:t>with MySQL 8 containerized storage.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/>
              <a:t>Automated Load Testing &amp; Concurrency Simulation (Locust)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Why Introduce Automated Load Testing?</a:t>
            </a:r>
          </a:p>
          <a:p>
            <a:pPr>
              <a:defRPr sz="1600"/>
            </a:pPr>
            <a:r>
              <a:rPr dirty="0"/>
              <a:t>To validate Gateway throughput, Eureka discovery resilience, and database connection pools under concurrent load.</a:t>
            </a:r>
          </a:p>
          <a:p>
            <a:pPr>
              <a:defRPr sz="1800"/>
            </a:pPr>
            <a:r>
              <a:rPr dirty="0"/>
              <a:t>Locust Simulation Suite (locust/locustfile.py):</a:t>
            </a:r>
          </a:p>
          <a:p>
            <a:pPr>
              <a:defRPr sz="1600"/>
            </a:pPr>
            <a:r>
              <a:rPr dirty="0"/>
              <a:t> Declarative Python swarming engine simulating realistic probabilistic user journeys:</a:t>
            </a:r>
          </a:p>
          <a:p>
            <a:pPr lvl="1">
              <a:defRPr sz="1500"/>
            </a:pPr>
            <a:r>
              <a:rPr dirty="0" err="1"/>
              <a:t>UserBehavior</a:t>
            </a:r>
            <a:r>
              <a:rPr dirty="0"/>
              <a:t> (Candidate Flow): Account registration, querying job postings, and submitting candidatures.</a:t>
            </a:r>
          </a:p>
          <a:p>
            <a:pPr lvl="1">
              <a:defRPr sz="1500"/>
            </a:pPr>
            <a:r>
              <a:rPr dirty="0" err="1"/>
              <a:t>RecruiterBehavior</a:t>
            </a:r>
            <a:r>
              <a:rPr dirty="0"/>
              <a:t> (Admin Flow): Publishing new job offers with extended descriptions and reviewing candidate pools.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95AD152-CC67-E7F5-49F9-036C368C5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31" y="3287211"/>
            <a:ext cx="8062538" cy="328623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Locust Execution Modes - Headless CLI vs Web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1800" b="1" dirty="0"/>
              <a:t>Method 1: Headless Continuous Testing (CLI Mode)</a:t>
            </a:r>
          </a:p>
          <a:p>
            <a:pPr>
              <a:defRPr sz="1800"/>
            </a:pPr>
            <a:r>
              <a:rPr sz="1800" dirty="0"/>
              <a:t>Perfect for CI/CD automated integration validation.</a:t>
            </a:r>
          </a:p>
          <a:p>
            <a:pPr>
              <a:defRPr sz="1600"/>
            </a:pPr>
            <a:r>
              <a:rPr sz="1800" dirty="0"/>
              <a:t>Command: python -m locust --headless -u 10 -r 2 -t 60s -f locust/locustfile.py --host http://localhost:9000</a:t>
            </a:r>
          </a:p>
          <a:p>
            <a:pPr>
              <a:defRPr sz="1800"/>
            </a:pPr>
            <a:r>
              <a:rPr sz="1800" b="1" dirty="0"/>
              <a:t>Method 2: Interactive Web UI Swarming (Browser Mode)</a:t>
            </a:r>
          </a:p>
          <a:p>
            <a:pPr>
              <a:defRPr sz="1600"/>
            </a:pPr>
            <a:r>
              <a:rPr sz="1800" dirty="0"/>
              <a:t>Launched via python -m locust -f locust/locustfile.py --host http://localhost:9000</a:t>
            </a:r>
          </a:p>
          <a:p>
            <a:pPr>
              <a:defRPr sz="1800"/>
            </a:pPr>
            <a:r>
              <a:rPr sz="1800" dirty="0"/>
              <a:t>Exposes real-time control console on http://localhost:8089.</a:t>
            </a:r>
          </a:p>
          <a:p>
            <a:pPr>
              <a:defRPr sz="1600"/>
            </a:pPr>
            <a:r>
              <a:rPr sz="1800" dirty="0"/>
              <a:t>Allows real-time tuning of Peak Users and Spawn Rates while observing live RPS and p50/p95/p99 latency curves.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360° Observability Stack (Prometheus + Grafana)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From Passive Checks to Active Enterprise Telemetry Pipeline:</a:t>
            </a:r>
          </a:p>
          <a:p>
            <a:pPr>
              <a:defRPr sz="1600"/>
            </a:pPr>
            <a:r>
              <a:rPr dirty="0"/>
              <a:t>All 5 Spring Boot containers (config, discovery, gateway, user, job) instrumented with Spring Boot Actuator.</a:t>
            </a:r>
          </a:p>
          <a:p>
            <a:pPr>
              <a:defRPr sz="1600"/>
            </a:pPr>
            <a:r>
              <a:rPr dirty="0"/>
              <a:t>Added Micrometer Prometheus Registry dependency to expose standardized time-series metrics on /actuator/</a:t>
            </a:r>
            <a:r>
              <a:rPr dirty="0" err="1"/>
              <a:t>prometheus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Pull-Based Time-Series Architecture:</a:t>
            </a:r>
          </a:p>
          <a:p>
            <a:pPr>
              <a:defRPr sz="1600"/>
            </a:pPr>
            <a:r>
              <a:rPr dirty="0"/>
              <a:t>Prometheus (:9090): Containerized scraper querying each microservice endpoint every 5 seconds.</a:t>
            </a:r>
          </a:p>
          <a:p>
            <a:pPr>
              <a:defRPr sz="1600"/>
            </a:pPr>
            <a:r>
              <a:rPr dirty="0"/>
              <a:t>Grafana (:3001): Enterprise visualization console with Zero-Config Automated Provisioning for </a:t>
            </a:r>
            <a:r>
              <a:rPr dirty="0" err="1"/>
              <a:t>datasources</a:t>
            </a:r>
            <a:r>
              <a:rPr dirty="0"/>
              <a:t> and dashboards.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A8AEE2B-4A12-F665-5958-98EAEE423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860" y="3797148"/>
            <a:ext cx="6578279" cy="2897137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 err="1"/>
              <a:t>OpenJob</a:t>
            </a:r>
            <a:r>
              <a:rPr sz="3000" dirty="0"/>
              <a:t> Infrastructure Monitoring Console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6-Layer Enterprise Diagnostic Dashboard (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openjob_infrastructure.json</a:t>
            </a:r>
            <a:r>
              <a:rPr dirty="0"/>
              <a:t>):</a:t>
            </a:r>
          </a:p>
          <a:p>
            <a:pPr>
              <a:defRPr sz="1800"/>
            </a:pPr>
            <a:r>
              <a:rPr dirty="0"/>
              <a:t>1. API Gateway &amp; Ingress Traffic:</a:t>
            </a:r>
          </a:p>
          <a:p>
            <a:pPr lvl="1">
              <a:defRPr sz="1500"/>
            </a:pPr>
            <a:r>
              <a:rPr dirty="0"/>
              <a:t>Real-time Throughput (req/sec) and Latency Spectrum (Max vs Avg </a:t>
            </a:r>
            <a:r>
              <a:rPr dirty="0" err="1"/>
              <a:t>ms</a:t>
            </a:r>
            <a:r>
              <a:rPr dirty="0"/>
              <a:t>).</a:t>
            </a:r>
          </a:p>
          <a:p>
            <a:pPr lvl="1">
              <a:defRPr sz="1500"/>
            </a:pPr>
            <a:r>
              <a:rPr dirty="0"/>
              <a:t>HTTP Status Code Distribution: Instant breakdown of 2xx successes, 4xx client errors, and 5xx server errors.</a:t>
            </a:r>
          </a:p>
          <a:p>
            <a:pPr>
              <a:defRPr sz="1800"/>
            </a:pPr>
            <a:r>
              <a:rPr dirty="0"/>
              <a:t>2. Top 5 Slowest API Endpoints:</a:t>
            </a:r>
          </a:p>
          <a:p>
            <a:pPr lvl="1">
              <a:defRPr sz="1500"/>
            </a:pPr>
            <a:r>
              <a:rPr dirty="0"/>
              <a:t>Dynamic table ranking route bottlenecks via </a:t>
            </a:r>
            <a:r>
              <a:rPr dirty="0" err="1"/>
              <a:t>PromQL</a:t>
            </a:r>
            <a:r>
              <a:rPr dirty="0"/>
              <a:t> </a:t>
            </a:r>
            <a:r>
              <a:rPr dirty="0" err="1"/>
              <a:t>topk</a:t>
            </a:r>
            <a:r>
              <a:rPr dirty="0"/>
              <a:t>() aggregation.</a:t>
            </a:r>
          </a:p>
          <a:p>
            <a:pPr>
              <a:defRPr sz="1800"/>
            </a:pPr>
            <a:r>
              <a:rPr dirty="0"/>
              <a:t>3. Inter-Service Feign &amp; HTTP Client Latency:</a:t>
            </a:r>
          </a:p>
          <a:p>
            <a:pPr lvl="1">
              <a:defRPr sz="1500"/>
            </a:pPr>
            <a:r>
              <a:rPr dirty="0"/>
              <a:t>Tracking outbound REST calls from job-microservice to user-microservice to detect cascading network delays.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 err="1"/>
              <a:t>OpenJob</a:t>
            </a:r>
            <a:r>
              <a:rPr sz="3000" dirty="0"/>
              <a:t> Infrastructure Monitoring Console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Advanced Diagnostics - Layers 4, 5, and 6:</a:t>
            </a:r>
          </a:p>
          <a:p>
            <a:pPr>
              <a:defRPr sz="1800"/>
            </a:pPr>
            <a:r>
              <a:rPr dirty="0"/>
              <a:t>4. </a:t>
            </a:r>
            <a:r>
              <a:rPr dirty="0" err="1"/>
              <a:t>HikariCP</a:t>
            </a:r>
            <a:r>
              <a:rPr dirty="0"/>
              <a:t> Database Connection Pool Saturation:</a:t>
            </a:r>
          </a:p>
          <a:p>
            <a:pPr lvl="1">
              <a:defRPr sz="1500"/>
            </a:pPr>
            <a:r>
              <a:rPr dirty="0"/>
              <a:t>Tracks connection acquisition wait times (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hikaricp_connections_acquire_seconds_max</a:t>
            </a:r>
            <a:r>
              <a:rPr dirty="0"/>
              <a:t>) and active/idle pool usage.</a:t>
            </a:r>
          </a:p>
          <a:p>
            <a:pPr>
              <a:defRPr sz="1800"/>
            </a:pPr>
            <a:r>
              <a:rPr dirty="0"/>
              <a:t>5. JVM Compute &amp; Live Thread States:</a:t>
            </a:r>
          </a:p>
          <a:p>
            <a:pPr lvl="1">
              <a:defRPr sz="1500"/>
            </a:pPr>
            <a:r>
              <a:rPr dirty="0"/>
              <a:t>Real-time Heap memory saturation, Garbage Collection Stop-the-World pauses (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jvm_gc_pause_seconds_max</a:t>
            </a:r>
            <a:r>
              <a:rPr dirty="0"/>
              <a:t>).</a:t>
            </a:r>
          </a:p>
          <a:p>
            <a:pPr lvl="1">
              <a:defRPr sz="1500"/>
            </a:pPr>
            <a:r>
              <a:rPr dirty="0"/>
              <a:t>Thread state matrix: Tracking RUNNABLE, WAITING, and BLOCKED threads to prevent deadlocks.</a:t>
            </a:r>
          </a:p>
          <a:p>
            <a:pPr>
              <a:defRPr sz="1800"/>
            </a:pPr>
            <a:r>
              <a:rPr dirty="0"/>
              <a:t>6. Real-Time Application Log Event Counter:</a:t>
            </a:r>
          </a:p>
          <a:p>
            <a:pPr lvl="1">
              <a:defRPr sz="1500"/>
            </a:pPr>
            <a:r>
              <a:rPr dirty="0"/>
              <a:t>Intercepts Slf4j/</a:t>
            </a:r>
            <a:r>
              <a:rPr dirty="0" err="1"/>
              <a:t>Logback</a:t>
            </a:r>
            <a:r>
              <a:rPr dirty="0"/>
              <a:t> error bursts (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logback_events_total</a:t>
            </a:r>
            <a:r>
              <a:rPr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{level="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error"|"warn</a:t>
            </a:r>
            <a:r>
              <a:rPr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"}</a:t>
            </a:r>
            <a:r>
              <a:rPr dirty="0"/>
              <a:t>) to alert operators instantly.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Complete Full-Stack Docker Compose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Unified Multi-Container Orchestration (docker-</a:t>
            </a:r>
            <a:r>
              <a:rPr dirty="0" err="1"/>
              <a:t>compose.yml</a:t>
            </a:r>
            <a:r>
              <a:rPr dirty="0"/>
              <a:t>):</a:t>
            </a:r>
          </a:p>
          <a:p>
            <a:pPr>
              <a:defRPr sz="1800"/>
            </a:pPr>
            <a:r>
              <a:rPr dirty="0"/>
              <a:t>10 interconnected containers running over isolated </a:t>
            </a:r>
            <a:r>
              <a:rPr dirty="0" err="1"/>
              <a:t>openjob</a:t>
            </a:r>
            <a:r>
              <a:rPr dirty="0"/>
              <a:t>-network:</a:t>
            </a:r>
          </a:p>
          <a:p>
            <a:pPr lvl="1">
              <a:defRPr sz="1500"/>
            </a:pPr>
            <a:r>
              <a:rPr dirty="0"/>
              <a:t>  - config-server (:8888), discovery-server (:8761), gateway (:9000)</a:t>
            </a:r>
          </a:p>
          <a:p>
            <a:pPr lvl="1">
              <a:defRPr sz="1500"/>
            </a:pPr>
            <a:r>
              <a:rPr dirty="0"/>
              <a:t>  - user-microservice (:9044-9049), job-microservice (:9055)</a:t>
            </a:r>
          </a:p>
          <a:p>
            <a:pPr lvl="1">
              <a:defRPr sz="1500"/>
            </a:pPr>
            <a:r>
              <a:rPr dirty="0"/>
              <a:t>  - </a:t>
            </a:r>
            <a:r>
              <a:rPr dirty="0" err="1"/>
              <a:t>openjob-mysql</a:t>
            </a:r>
            <a:r>
              <a:rPr dirty="0"/>
              <a:t> (:3306), </a:t>
            </a:r>
            <a:r>
              <a:rPr dirty="0" err="1"/>
              <a:t>openjob-phpmyadmin</a:t>
            </a:r>
            <a:r>
              <a:rPr dirty="0"/>
              <a:t> (:8081)</a:t>
            </a:r>
          </a:p>
          <a:p>
            <a:pPr lvl="1">
              <a:defRPr sz="1500"/>
            </a:pPr>
            <a:r>
              <a:rPr dirty="0"/>
              <a:t>  - frontend (:3000 Nginx SPA)</a:t>
            </a:r>
          </a:p>
          <a:p>
            <a:pPr lvl="1">
              <a:defRPr sz="1500"/>
            </a:pPr>
            <a:r>
              <a:rPr dirty="0"/>
              <a:t>  - </a:t>
            </a:r>
            <a:r>
              <a:rPr dirty="0" err="1"/>
              <a:t>prometheus</a:t>
            </a:r>
            <a:r>
              <a:rPr dirty="0"/>
              <a:t> (:9090 TSDB scraper)</a:t>
            </a:r>
          </a:p>
          <a:p>
            <a:pPr lvl="1">
              <a:defRPr sz="1500"/>
            </a:pPr>
            <a:r>
              <a:rPr dirty="0"/>
              <a:t>  - </a:t>
            </a:r>
            <a:r>
              <a:rPr dirty="0" err="1"/>
              <a:t>grafana</a:t>
            </a:r>
            <a:r>
              <a:rPr dirty="0"/>
              <a:t> (:3001 Monitoring Dashboard)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Summary &amp; Architectural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Key Achievements of the Complete </a:t>
            </a:r>
            <a:r>
              <a:rPr dirty="0" err="1"/>
              <a:t>OpenJob</a:t>
            </a:r>
            <a:r>
              <a:rPr dirty="0"/>
              <a:t> Platform:</a:t>
            </a:r>
          </a:p>
          <a:p>
            <a:pPr>
              <a:defRPr sz="1600"/>
            </a:pPr>
            <a:r>
              <a:rPr dirty="0"/>
              <a:t>Decoupled Architecture: Transitioned from monolithic origins to a fully </a:t>
            </a:r>
            <a:r>
              <a:rPr dirty="0" err="1"/>
              <a:t>dockerized</a:t>
            </a:r>
            <a:r>
              <a:rPr dirty="0"/>
              <a:t>, resilient microservice ecosystem.</a:t>
            </a:r>
          </a:p>
          <a:p>
            <a:pPr>
              <a:defRPr sz="1600"/>
            </a:pPr>
            <a:r>
              <a:rPr dirty="0"/>
              <a:t>Separation of Concerns: Domain BI (/</a:t>
            </a:r>
            <a:r>
              <a:rPr dirty="0" err="1"/>
              <a:t>statistiche</a:t>
            </a:r>
            <a:r>
              <a:rPr dirty="0"/>
              <a:t> in React) vs. Infrastructure Health (Grafana/Prometheus).</a:t>
            </a:r>
          </a:p>
          <a:p>
            <a:pPr>
              <a:defRPr sz="1600"/>
            </a:pPr>
            <a:r>
              <a:rPr dirty="0"/>
              <a:t>High Availability &amp; Load Resilience: Verified via Python Locust concurrency swarming.</a:t>
            </a:r>
          </a:p>
          <a:p>
            <a:pPr>
              <a:defRPr sz="1600"/>
            </a:pPr>
            <a:r>
              <a:rPr dirty="0"/>
              <a:t>Production-Ready Telemetry: Instant visibility into JVM Heap, </a:t>
            </a:r>
            <a:r>
              <a:rPr dirty="0" err="1"/>
              <a:t>HikariCP</a:t>
            </a:r>
            <a:r>
              <a:rPr dirty="0"/>
              <a:t> pools, Feign latencies, and </a:t>
            </a:r>
            <a:r>
              <a:rPr dirty="0" err="1"/>
              <a:t>Logback</a:t>
            </a:r>
            <a:r>
              <a:rPr dirty="0"/>
              <a:t> error rates.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ctures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sTheme" id="{2E8E776A-FFAF-8A41-BEA2-4A534026C1DE}" vid="{4DE200A6-EB49-274F-93DB-82C2571BC27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LecturesTheme</Template>
  <TotalTime>6234</TotalTime>
  <Words>4546</Words>
  <Application>Microsoft Office PowerPoint</Application>
  <PresentationFormat>Widescreen</PresentationFormat>
  <Paragraphs>705</Paragraphs>
  <Slides>72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3" baseType="lpstr">
      <vt:lpstr>LecturesTheme</vt:lpstr>
      <vt:lpstr>Develop microservices with Spring Boot</vt:lpstr>
      <vt:lpstr>Monolithic application</vt:lpstr>
      <vt:lpstr>Build the application through Spring Boot</vt:lpstr>
      <vt:lpstr>1: Initialize the project</vt:lpstr>
      <vt:lpstr>1: Initialize the project</vt:lpstr>
      <vt:lpstr>1: Initialize the project</vt:lpstr>
      <vt:lpstr>2: Implement the application</vt:lpstr>
      <vt:lpstr>3: Result</vt:lpstr>
      <vt:lpstr>Migrate the application to microservices</vt:lpstr>
      <vt:lpstr>Realize User and Job microservices</vt:lpstr>
      <vt:lpstr>Decomposed database</vt:lpstr>
      <vt:lpstr>User service</vt:lpstr>
      <vt:lpstr>Job Service</vt:lpstr>
      <vt:lpstr>Result</vt:lpstr>
      <vt:lpstr>Test the application</vt:lpstr>
      <vt:lpstr>Adding an API Gateway</vt:lpstr>
      <vt:lpstr>Architecture</vt:lpstr>
      <vt:lpstr>Spring Cloud Gateway</vt:lpstr>
      <vt:lpstr>Init a Spring Cloud Gateway project</vt:lpstr>
      <vt:lpstr>Configuring the gateway</vt:lpstr>
      <vt:lpstr>Decentralize microservice configuration</vt:lpstr>
      <vt:lpstr>Maintaining microservices configuration</vt:lpstr>
      <vt:lpstr>Spring Cloud Config</vt:lpstr>
      <vt:lpstr>Upgrade our Openjob system</vt:lpstr>
      <vt:lpstr>Property file repository</vt:lpstr>
      <vt:lpstr>Spring Cloud Config server</vt:lpstr>
      <vt:lpstr>Spring Cloud Config server</vt:lpstr>
      <vt:lpstr>Spring Cloud Config server</vt:lpstr>
      <vt:lpstr>Upgrade microservices and API Gateway</vt:lpstr>
      <vt:lpstr>Update properties at runtime</vt:lpstr>
      <vt:lpstr>Refresh and @RefreshScope</vt:lpstr>
      <vt:lpstr>Running multiple instances</vt:lpstr>
      <vt:lpstr>Running multiple instances</vt:lpstr>
      <vt:lpstr>Load balancing</vt:lpstr>
      <vt:lpstr>Load balancing microservices</vt:lpstr>
      <vt:lpstr>Spring Cloud Netflix</vt:lpstr>
      <vt:lpstr>Upgrade our Openjob system</vt:lpstr>
      <vt:lpstr>Eureka Server</vt:lpstr>
      <vt:lpstr>Eureka Server</vt:lpstr>
      <vt:lpstr>Update services</vt:lpstr>
      <vt:lpstr>Play with Eureka service</vt:lpstr>
      <vt:lpstr>Update the gateway</vt:lpstr>
      <vt:lpstr>Load balance instances</vt:lpstr>
      <vt:lpstr>Client-side load balancing</vt:lpstr>
      <vt:lpstr>Client-side load balancer</vt:lpstr>
      <vt:lpstr>Spring Cloud OpenFeign</vt:lpstr>
      <vt:lpstr>Update Job microservice</vt:lpstr>
      <vt:lpstr>Enable load balancing</vt:lpstr>
      <vt:lpstr>Consistency issues with the databases</vt:lpstr>
      <vt:lpstr>Deploying microservices on Docker</vt:lpstr>
      <vt:lpstr>Create an image</vt:lpstr>
      <vt:lpstr>Run the container</vt:lpstr>
      <vt:lpstr>Dockerize the Mysql database</vt:lpstr>
      <vt:lpstr>Before dockerizing services…</vt:lpstr>
      <vt:lpstr>Regarding remote repository</vt:lpstr>
      <vt:lpstr>Create Images</vt:lpstr>
      <vt:lpstr>Run containers</vt:lpstr>
      <vt:lpstr>Docker compose</vt:lpstr>
      <vt:lpstr>Running docker compose</vt:lpstr>
      <vt:lpstr>Beyond Basic Dockerization - Full-Stack &amp; Observability</vt:lpstr>
      <vt:lpstr>Modern SPA Frontend Re-Architecture (React + Vite + Tailwind)</vt:lpstr>
      <vt:lpstr>Domain Business Intelligence Dashboard (/statistiche)</vt:lpstr>
      <vt:lpstr>Dynamic UX - Drawers, Multi-Criteria Sorting &amp; Live Search</vt:lpstr>
      <vt:lpstr>Frontend Containerization &amp; Nginx Reverse Proxy</vt:lpstr>
      <vt:lpstr>Database Evolution - JPA Rich Text Persistence</vt:lpstr>
      <vt:lpstr>Automated Load Testing &amp; Concurrency Simulation (Locust)</vt:lpstr>
      <vt:lpstr>Locust Execution Modes - Headless CLI vs Web UI</vt:lpstr>
      <vt:lpstr>360° Observability Stack (Prometheus + Grafana)</vt:lpstr>
      <vt:lpstr>OpenJob Infrastructure Monitoring Console (Part 1)</vt:lpstr>
      <vt:lpstr>OpenJob Infrastructure Monitoring Console (Part 2)</vt:lpstr>
      <vt:lpstr>Complete Full-Stack Docker Compose Topology</vt:lpstr>
      <vt:lpstr>Summary &amp; Architectural Achievements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Gianluca Filippone</dc:creator>
  <cp:lastModifiedBy>Guido Maria Di Fiore</cp:lastModifiedBy>
  <cp:revision>365</cp:revision>
  <dcterms:created xsi:type="dcterms:W3CDTF">2023-05-10T09:44:22Z</dcterms:created>
  <dcterms:modified xsi:type="dcterms:W3CDTF">2026-07-22T11:17:28Z</dcterms:modified>
</cp:coreProperties>
</file>